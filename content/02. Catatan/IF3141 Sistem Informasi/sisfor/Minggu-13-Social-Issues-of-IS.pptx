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6858000" type="screen4x3"/>
  <p:notesSz cx="6858000" cy="9144000"/>
  <p:embeddedFontLst>
    <p:embeddedFont>
      <p:font typeface="Lato" panose="020F0502020204030203" pitchFamily="34" charset="0"/>
      <p:regular r:id="rId36"/>
      <p:bold r:id="rId37"/>
      <p:italic r:id="rId38"/>
      <p:boldItalic r:id="rId39"/>
    </p:embeddedFont>
    <p:embeddedFont>
      <p:font typeface="Lato Black" panose="020F0502020204030203" pitchFamily="34" charset="0"/>
      <p:bold r:id="rId40"/>
      <p:italic r:id="rId41"/>
      <p:boldItalic r:id="rId42"/>
    </p:embeddedFont>
    <p:embeddedFont>
      <p:font typeface="Lato Light" panose="020F0502020204030203" pitchFamily="34" charset="0"/>
      <p:regular r:id="rId43"/>
      <p:bold r:id="rId44"/>
      <p:italic r:id="rId45"/>
      <p:boldItalic r:id="rId46"/>
    </p:embeddedFont>
    <p:embeddedFont>
      <p:font typeface="Noto Sans Symbols" panose="020F050202020403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jGhD7KZ747hO5sNk8V6UiPSi4Oa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52A6491-57E9-4E9C-A30A-EEF0796EFAE1}">
  <a:tblStyle styleId="{152A6491-57E9-4E9C-A30A-EEF0796EFAE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60"/>
  </p:normalViewPr>
  <p:slideViewPr>
    <p:cSldViewPr snapToGrid="0">
      <p:cViewPr varScale="1">
        <p:scale>
          <a:sx n="118" d="100"/>
          <a:sy n="118" d="100"/>
        </p:scale>
        <p:origin x="1720" y="2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D"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01" name="Google Shape;10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10" name="Google Shape;11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18" name="Google Shape;11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26" name="Google Shape;12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34" name="Google Shape;13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42" name="Google Shape;14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50" name="Google Shape;15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58" name="Google Shape;15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66" name="Google Shape;16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74" name="Google Shape;174;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82" name="Google Shape;18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90" name="Google Shape;190;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198" name="Google Shape;198;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06" name="Google Shape;20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14" name="Google Shape;214;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23" name="Google Shape;223;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32" name="Google Shape;232;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40" name="Google Shape;240;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48" name="Google Shape;24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56" name="Google Shape;256;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64" name="Google Shape;264;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72" name="Google Shape;272;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80" name="Google Shape;280;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88" name="Google Shape;288;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296" name="Google Shape;296;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304" name="Google Shape;304;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312" name="Google Shape;312;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321" name="Google Shape;321;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329" name="Google Shape;329;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337" name="Google Shape;337;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345" name="Google Shape;345;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400" b="0"/>
          </a:p>
        </p:txBody>
      </p:sp>
      <p:sp>
        <p:nvSpPr>
          <p:cNvPr id="353" name="Google Shape;353;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33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sign">
  <p:cSld name="Design">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Design">
  <p:cSld name="3_Design">
    <p:spTree>
      <p:nvGrpSpPr>
        <p:cNvPr id="1" name="Shape 16"/>
        <p:cNvGrpSpPr/>
        <p:nvPr/>
      </p:nvGrpSpPr>
      <p:grpSpPr>
        <a:xfrm>
          <a:off x="0" y="0"/>
          <a:ext cx="0" cy="0"/>
          <a:chOff x="0" y="0"/>
          <a:chExt cx="0" cy="0"/>
        </a:xfrm>
      </p:grpSpPr>
      <p:sp>
        <p:nvSpPr>
          <p:cNvPr id="17" name="Google Shape;17;p36"/>
          <p:cNvSpPr>
            <a:spLocks noGrp="1"/>
          </p:cNvSpPr>
          <p:nvPr>
            <p:ph type="pic" idx="2"/>
          </p:nvPr>
        </p:nvSpPr>
        <p:spPr>
          <a:xfrm>
            <a:off x="4658500" y="3429001"/>
            <a:ext cx="4485500" cy="3429000"/>
          </a:xfrm>
          <a:prstGeom prst="rect">
            <a:avLst/>
          </a:prstGeom>
          <a:solidFill>
            <a:srgbClr val="F2F2F2"/>
          </a:solidFill>
          <a:ln>
            <a:noFill/>
          </a:ln>
        </p:spPr>
      </p:sp>
      <p:sp>
        <p:nvSpPr>
          <p:cNvPr id="18" name="Google Shape;18;p36"/>
          <p:cNvSpPr>
            <a:spLocks noGrp="1"/>
          </p:cNvSpPr>
          <p:nvPr>
            <p:ph type="pic" idx="3"/>
          </p:nvPr>
        </p:nvSpPr>
        <p:spPr>
          <a:xfrm>
            <a:off x="0" y="3429001"/>
            <a:ext cx="4485500" cy="3429000"/>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3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4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4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4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4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4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4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4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5" name="Google Shape;65;p4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6" name="Google Shape;66;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4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45"/>
          <p:cNvSpPr>
            <a:spLocks noGrp="1"/>
          </p:cNvSpPr>
          <p:nvPr>
            <p:ph type="pic" idx="2"/>
          </p:nvPr>
        </p:nvSpPr>
        <p:spPr>
          <a:xfrm>
            <a:off x="1792288" y="612775"/>
            <a:ext cx="5486400" cy="4114800"/>
          </a:xfrm>
          <a:prstGeom prst="rect">
            <a:avLst/>
          </a:prstGeom>
          <a:noFill/>
          <a:ln>
            <a:noFill/>
          </a:ln>
        </p:spPr>
      </p:sp>
      <p:sp>
        <p:nvSpPr>
          <p:cNvPr id="72" name="Google Shape;72;p4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3" name="Google Shape;73;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4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 name="Google Shape;79;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4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4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 name="Google Shape;85;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D"/>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
          <p:cNvSpPr/>
          <p:nvPr/>
        </p:nvSpPr>
        <p:spPr>
          <a:xfrm>
            <a:off x="0" y="461665"/>
            <a:ext cx="9143999" cy="6096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ato Light"/>
              <a:ea typeface="Lato Light"/>
              <a:cs typeface="Lato Light"/>
              <a:sym typeface="Lato Light"/>
            </a:endParaRPr>
          </a:p>
        </p:txBody>
      </p:sp>
      <p:grpSp>
        <p:nvGrpSpPr>
          <p:cNvPr id="94" name="Google Shape;94;p1"/>
          <p:cNvGrpSpPr/>
          <p:nvPr/>
        </p:nvGrpSpPr>
        <p:grpSpPr>
          <a:xfrm>
            <a:off x="597195" y="1489570"/>
            <a:ext cx="8546804" cy="3139320"/>
            <a:chOff x="597195" y="1417888"/>
            <a:chExt cx="5391623" cy="3139320"/>
          </a:xfrm>
        </p:grpSpPr>
        <p:sp>
          <p:nvSpPr>
            <p:cNvPr id="95" name="Google Shape;95;p1"/>
            <p:cNvSpPr txBox="1"/>
            <p:nvPr/>
          </p:nvSpPr>
          <p:spPr>
            <a:xfrm>
              <a:off x="597195" y="1417888"/>
              <a:ext cx="5391623" cy="22467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D" sz="5400" b="1" i="0" u="none" strike="noStrike" cap="none">
                  <a:solidFill>
                    <a:schemeClr val="lt1"/>
                  </a:solidFill>
                  <a:latin typeface="Lato Black"/>
                  <a:ea typeface="Lato Black"/>
                  <a:cs typeface="Lato Black"/>
                  <a:sym typeface="Lato Black"/>
                </a:rPr>
                <a:t>IF3141</a:t>
              </a:r>
              <a:endParaRPr/>
            </a:p>
            <a:p>
              <a:pPr marL="0" marR="0" lvl="0" indent="0" algn="l" rtl="0">
                <a:spcBef>
                  <a:spcPts val="0"/>
                </a:spcBef>
                <a:spcAft>
                  <a:spcPts val="0"/>
                </a:spcAft>
                <a:buNone/>
              </a:pPr>
              <a:r>
                <a:rPr lang="en-ID" sz="5400" b="1">
                  <a:solidFill>
                    <a:schemeClr val="lt1"/>
                  </a:solidFill>
                  <a:latin typeface="Lato Black"/>
                  <a:ea typeface="Lato Black"/>
                  <a:cs typeface="Lato Black"/>
                  <a:sym typeface="Lato Black"/>
                </a:rPr>
                <a:t>SISTEM INFORMASI</a:t>
              </a:r>
              <a:endParaRPr/>
            </a:p>
            <a:p>
              <a:pPr marL="0" marR="0" lvl="0" indent="0" algn="l" rtl="0">
                <a:spcBef>
                  <a:spcPts val="0"/>
                </a:spcBef>
                <a:spcAft>
                  <a:spcPts val="0"/>
                </a:spcAft>
                <a:buNone/>
              </a:pPr>
              <a:r>
                <a:rPr lang="en-ID" sz="3200" b="1">
                  <a:solidFill>
                    <a:schemeClr val="lt1"/>
                  </a:solidFill>
                  <a:latin typeface="Lato Black"/>
                  <a:ea typeface="Lato Black"/>
                  <a:cs typeface="Lato Black"/>
                  <a:sym typeface="Lato Black"/>
                </a:rPr>
                <a:t>Social Impacts of Information System</a:t>
              </a:r>
              <a:endParaRPr sz="4000" b="1">
                <a:solidFill>
                  <a:schemeClr val="lt1"/>
                </a:solidFill>
                <a:latin typeface="Lato Black"/>
                <a:ea typeface="Lato Black"/>
                <a:cs typeface="Lato Black"/>
                <a:sym typeface="Lato Black"/>
              </a:endParaRPr>
            </a:p>
          </p:txBody>
        </p:sp>
        <p:sp>
          <p:nvSpPr>
            <p:cNvPr id="96" name="Google Shape;96;p1"/>
            <p:cNvSpPr/>
            <p:nvPr/>
          </p:nvSpPr>
          <p:spPr>
            <a:xfrm>
              <a:off x="607242" y="3972433"/>
              <a:ext cx="538157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D" sz="3200">
                  <a:solidFill>
                    <a:srgbClr val="B7CCE4"/>
                  </a:solidFill>
                  <a:latin typeface="Lato"/>
                  <a:ea typeface="Lato"/>
                  <a:cs typeface="Lato"/>
                  <a:sym typeface="Lato"/>
                </a:rPr>
                <a:t>Semester I 2024/2025</a:t>
              </a:r>
              <a:endParaRPr sz="3200" dirty="0">
                <a:solidFill>
                  <a:srgbClr val="B7CCE4"/>
                </a:solidFill>
                <a:latin typeface="Lato"/>
                <a:ea typeface="Lato"/>
                <a:cs typeface="Lato"/>
                <a:sym typeface="Lato"/>
              </a:endParaRPr>
            </a:p>
          </p:txBody>
        </p:sp>
      </p:grpSp>
      <p:sp>
        <p:nvSpPr>
          <p:cNvPr id="97" name="Google Shape;97;p1"/>
          <p:cNvSpPr/>
          <p:nvPr/>
        </p:nvSpPr>
        <p:spPr>
          <a:xfrm>
            <a:off x="597195" y="6217230"/>
            <a:ext cx="3762104" cy="46166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ID" sz="1200">
                <a:solidFill>
                  <a:srgbClr val="7F7F7F"/>
                </a:solidFill>
                <a:latin typeface="Lato"/>
                <a:ea typeface="Lato"/>
                <a:cs typeface="Lato"/>
                <a:sym typeface="Lato"/>
              </a:rPr>
              <a:t>IF3141 </a:t>
            </a:r>
            <a:r>
              <a:rPr lang="en-ID" sz="1600" b="1">
                <a:solidFill>
                  <a:srgbClr val="7F7F7F"/>
                </a:solidFill>
                <a:latin typeface="Lato"/>
                <a:ea typeface="Lato"/>
                <a:cs typeface="Lato"/>
                <a:sym typeface="Lato"/>
              </a:rPr>
              <a:t>|</a:t>
            </a:r>
            <a:r>
              <a:rPr lang="en-ID" sz="1200" b="1">
                <a:solidFill>
                  <a:srgbClr val="7F7F7F"/>
                </a:solidFill>
                <a:latin typeface="Lato"/>
                <a:ea typeface="Lato"/>
                <a:cs typeface="Lato"/>
                <a:sym typeface="Lato"/>
              </a:rPr>
              <a:t> </a:t>
            </a:r>
            <a:r>
              <a:rPr lang="en-ID" sz="1200">
                <a:solidFill>
                  <a:srgbClr val="7F7F7F"/>
                </a:solidFill>
                <a:latin typeface="Lato"/>
                <a:ea typeface="Lato"/>
                <a:cs typeface="Lato"/>
                <a:sym typeface="Lato"/>
              </a:rPr>
              <a:t>TEKNIK INFORMATIKA ITB</a:t>
            </a:r>
            <a:endParaRPr sz="1200">
              <a:solidFill>
                <a:srgbClr val="7F7F7F"/>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04" name="Google Shape;104;p2"/>
          <p:cNvSpPr txBox="1"/>
          <p:nvPr/>
        </p:nvSpPr>
        <p:spPr>
          <a:xfrm>
            <a:off x="0" y="295761"/>
            <a:ext cx="9143999"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200" b="1">
                <a:solidFill>
                  <a:schemeClr val="lt1"/>
                </a:solidFill>
                <a:latin typeface="Lato"/>
                <a:ea typeface="Lato"/>
                <a:cs typeface="Lato"/>
                <a:sym typeface="Lato"/>
              </a:rPr>
              <a:t>Case: Are Cars becoming Big Brother on Wheels?</a:t>
            </a:r>
            <a:endParaRPr/>
          </a:p>
        </p:txBody>
      </p:sp>
      <p:pic>
        <p:nvPicPr>
          <p:cNvPr id="105" name="Google Shape;105;p2"/>
          <p:cNvPicPr preferRelativeResize="0"/>
          <p:nvPr/>
        </p:nvPicPr>
        <p:blipFill rotWithShape="1">
          <a:blip r:embed="rId3">
            <a:alphaModFix/>
          </a:blip>
          <a:srcRect/>
          <a:stretch/>
        </p:blipFill>
        <p:spPr>
          <a:xfrm>
            <a:off x="1857374" y="2978918"/>
            <a:ext cx="6015039" cy="3702785"/>
          </a:xfrm>
          <a:prstGeom prst="rect">
            <a:avLst/>
          </a:prstGeom>
          <a:noFill/>
          <a:ln>
            <a:noFill/>
          </a:ln>
        </p:spPr>
      </p:pic>
      <p:sp>
        <p:nvSpPr>
          <p:cNvPr id="106" name="Google Shape;106;p2"/>
          <p:cNvSpPr/>
          <p:nvPr/>
        </p:nvSpPr>
        <p:spPr>
          <a:xfrm>
            <a:off x="128016" y="1243065"/>
            <a:ext cx="9015984" cy="258532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560"/>
              <a:buFont typeface="Noto Sans Symbols"/>
              <a:buChar char="■"/>
            </a:pPr>
            <a:r>
              <a:rPr lang="en-ID" sz="2400">
                <a:solidFill>
                  <a:srgbClr val="000000"/>
                </a:solidFill>
                <a:latin typeface="Arial"/>
                <a:ea typeface="Arial"/>
                <a:cs typeface="Arial"/>
                <a:sym typeface="Arial"/>
              </a:rPr>
              <a:t>Cars have become sophisticated listening posts on wheels</a:t>
            </a:r>
            <a:endParaRPr/>
          </a:p>
          <a:p>
            <a:pPr marL="800100" marR="0" lvl="1" indent="-342900" algn="l" rtl="0">
              <a:spcBef>
                <a:spcPts val="360"/>
              </a:spcBef>
              <a:spcAft>
                <a:spcPts val="0"/>
              </a:spcAft>
              <a:buClr>
                <a:srgbClr val="CC9900"/>
              </a:buClr>
              <a:buSzPts val="1170"/>
              <a:buFont typeface="Noto Sans Symbols"/>
              <a:buChar char="■"/>
            </a:pPr>
            <a:r>
              <a:rPr lang="en-ID" sz="1800" b="0" i="0" u="none" strike="noStrike" cap="none">
                <a:solidFill>
                  <a:schemeClr val="dk1"/>
                </a:solidFill>
                <a:latin typeface="Calibri"/>
                <a:ea typeface="Calibri"/>
                <a:cs typeface="Calibri"/>
                <a:sym typeface="Calibri"/>
              </a:rPr>
              <a:t>tracking phone calls and texts,</a:t>
            </a:r>
            <a:endParaRPr/>
          </a:p>
          <a:p>
            <a:pPr marL="800100" marR="0" lvl="1" indent="-342900" algn="l" rtl="0">
              <a:spcBef>
                <a:spcPts val="360"/>
              </a:spcBef>
              <a:spcAft>
                <a:spcPts val="0"/>
              </a:spcAft>
              <a:buClr>
                <a:srgbClr val="CC9900"/>
              </a:buClr>
              <a:buSzPts val="1170"/>
              <a:buFont typeface="Noto Sans Symbols"/>
              <a:buChar char="■"/>
            </a:pPr>
            <a:r>
              <a:rPr lang="en-ID" sz="1800" b="0" i="0" u="none" strike="noStrike" cap="none">
                <a:solidFill>
                  <a:schemeClr val="dk1"/>
                </a:solidFill>
                <a:latin typeface="Calibri"/>
                <a:ea typeface="Calibri"/>
                <a:cs typeface="Calibri"/>
                <a:sym typeface="Calibri"/>
              </a:rPr>
              <a:t>recording what radio stations you listen to, </a:t>
            </a:r>
            <a:endParaRPr/>
          </a:p>
          <a:p>
            <a:pPr marL="800100" marR="0" lvl="1" indent="-342900" algn="l" rtl="0">
              <a:spcBef>
                <a:spcPts val="360"/>
              </a:spcBef>
              <a:spcAft>
                <a:spcPts val="0"/>
              </a:spcAft>
              <a:buClr>
                <a:srgbClr val="CC9900"/>
              </a:buClr>
              <a:buSzPts val="1170"/>
              <a:buFont typeface="Noto Sans Symbols"/>
              <a:buChar char="■"/>
            </a:pPr>
            <a:r>
              <a:rPr lang="en-ID" sz="1800" b="0" i="0" u="none" strike="noStrike" cap="none">
                <a:solidFill>
                  <a:schemeClr val="dk1"/>
                </a:solidFill>
                <a:latin typeface="Calibri"/>
                <a:ea typeface="Calibri"/>
                <a:cs typeface="Calibri"/>
                <a:sym typeface="Calibri"/>
              </a:rPr>
              <a:t>monitoring  the speed at which you drive and your braking actions, </a:t>
            </a:r>
            <a:endParaRPr/>
          </a:p>
          <a:p>
            <a:pPr marL="800100" marR="0" lvl="1" indent="-342900" algn="l" rtl="0">
              <a:spcBef>
                <a:spcPts val="360"/>
              </a:spcBef>
              <a:spcAft>
                <a:spcPts val="0"/>
              </a:spcAft>
              <a:buClr>
                <a:srgbClr val="CC9900"/>
              </a:buClr>
              <a:buSzPts val="1170"/>
              <a:buFont typeface="Noto Sans Symbols"/>
              <a:buChar char="■"/>
            </a:pPr>
            <a:r>
              <a:rPr lang="en-ID" sz="1800" b="0" i="0" u="none" strike="noStrike" cap="none">
                <a:solidFill>
                  <a:schemeClr val="dk1"/>
                </a:solidFill>
                <a:latin typeface="Calibri"/>
                <a:ea typeface="Calibri"/>
                <a:cs typeface="Calibri"/>
                <a:sym typeface="Calibri"/>
              </a:rPr>
              <a:t>and even telling you when you are breaking the speed limit, often without your knowledge. </a:t>
            </a:r>
            <a:endParaRPr sz="2800" b="0" i="0" u="none" strike="noStrike" cap="none">
              <a:solidFill>
                <a:schemeClr val="dk1"/>
              </a:solidFill>
              <a:latin typeface="Calibri"/>
              <a:ea typeface="Calibri"/>
              <a:cs typeface="Calibri"/>
              <a:sym typeface="Calibri"/>
            </a:endParaRPr>
          </a:p>
          <a:p>
            <a:pPr marL="342900" marR="0" lvl="0" indent="-227330" algn="l" rtl="0">
              <a:spcBef>
                <a:spcPts val="560"/>
              </a:spcBef>
              <a:spcAft>
                <a:spcPts val="0"/>
              </a:spcAft>
              <a:buClr>
                <a:srgbClr val="CC9900"/>
              </a:buClr>
              <a:buSzPts val="1820"/>
              <a:buFont typeface="Noto Sans Symbols"/>
              <a:buNone/>
            </a:pPr>
            <a:endParaRPr sz="2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13" name="Google Shape;113;p3"/>
          <p:cNvSpPr txBox="1"/>
          <p:nvPr/>
        </p:nvSpPr>
        <p:spPr>
          <a:xfrm>
            <a:off x="0" y="295761"/>
            <a:ext cx="91440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IS are around us especially in Organisation</a:t>
            </a:r>
            <a:endParaRPr sz="3600" b="1">
              <a:solidFill>
                <a:schemeClr val="lt1"/>
              </a:solidFill>
              <a:latin typeface="Lato"/>
              <a:ea typeface="Lato"/>
              <a:cs typeface="Lato"/>
              <a:sym typeface="Lato"/>
            </a:endParaRPr>
          </a:p>
        </p:txBody>
      </p:sp>
      <p:graphicFrame>
        <p:nvGraphicFramePr>
          <p:cNvPr id="114" name="Google Shape;114;p3"/>
          <p:cNvGraphicFramePr/>
          <p:nvPr/>
        </p:nvGraphicFramePr>
        <p:xfrm>
          <a:off x="107505" y="1292612"/>
          <a:ext cx="3000000" cy="3000000"/>
        </p:xfrm>
        <a:graphic>
          <a:graphicData uri="http://schemas.openxmlformats.org/drawingml/2006/table">
            <a:tbl>
              <a:tblPr firstRow="1" bandRow="1">
                <a:noFill/>
                <a:tableStyleId>{152A6491-57E9-4E9C-A30A-EEF0796EFAE1}</a:tableStyleId>
              </a:tblPr>
              <a:tblGrid>
                <a:gridCol w="1152125">
                  <a:extLst>
                    <a:ext uri="{9D8B030D-6E8A-4147-A177-3AD203B41FA5}">
                      <a16:colId xmlns:a16="http://schemas.microsoft.com/office/drawing/2014/main" val="20000"/>
                    </a:ext>
                  </a:extLst>
                </a:gridCol>
                <a:gridCol w="2592300">
                  <a:extLst>
                    <a:ext uri="{9D8B030D-6E8A-4147-A177-3AD203B41FA5}">
                      <a16:colId xmlns:a16="http://schemas.microsoft.com/office/drawing/2014/main" val="20001"/>
                    </a:ext>
                  </a:extLst>
                </a:gridCol>
                <a:gridCol w="1872200">
                  <a:extLst>
                    <a:ext uri="{9D8B030D-6E8A-4147-A177-3AD203B41FA5}">
                      <a16:colId xmlns:a16="http://schemas.microsoft.com/office/drawing/2014/main" val="20002"/>
                    </a:ext>
                  </a:extLst>
                </a:gridCol>
                <a:gridCol w="1728200">
                  <a:extLst>
                    <a:ext uri="{9D8B030D-6E8A-4147-A177-3AD203B41FA5}">
                      <a16:colId xmlns:a16="http://schemas.microsoft.com/office/drawing/2014/main" val="20003"/>
                    </a:ext>
                  </a:extLst>
                </a:gridCol>
                <a:gridCol w="1584175">
                  <a:extLst>
                    <a:ext uri="{9D8B030D-6E8A-4147-A177-3AD203B41FA5}">
                      <a16:colId xmlns:a16="http://schemas.microsoft.com/office/drawing/2014/main" val="20004"/>
                    </a:ext>
                  </a:extLst>
                </a:gridCol>
              </a:tblGrid>
              <a:tr h="370850">
                <a:tc>
                  <a:txBody>
                    <a:bodyPr/>
                    <a:lstStyle/>
                    <a:p>
                      <a:pPr marL="0" marR="0" lvl="0" indent="0" algn="ctr" rtl="0">
                        <a:spcBef>
                          <a:spcPts val="0"/>
                        </a:spcBef>
                        <a:spcAft>
                          <a:spcPts val="0"/>
                        </a:spcAft>
                        <a:buNone/>
                      </a:pPr>
                      <a:r>
                        <a:rPr lang="en-ID" sz="1500" u="none" strike="noStrike" cap="none"/>
                        <a:t>Type of System</a:t>
                      </a:r>
                      <a:endParaRPr/>
                    </a:p>
                  </a:txBody>
                  <a:tcPr marL="91450" marR="91450" marT="45725" marB="45725" anchor="ctr"/>
                </a:tc>
                <a:tc>
                  <a:txBody>
                    <a:bodyPr/>
                    <a:lstStyle/>
                    <a:p>
                      <a:pPr marL="0" marR="0" lvl="0" indent="0" algn="ctr" rtl="0">
                        <a:spcBef>
                          <a:spcPts val="0"/>
                        </a:spcBef>
                        <a:spcAft>
                          <a:spcPts val="0"/>
                        </a:spcAft>
                        <a:buNone/>
                      </a:pPr>
                      <a:r>
                        <a:rPr lang="en-ID" sz="1500" u="none" strike="noStrike" cap="none"/>
                        <a:t>Information Inputs</a:t>
                      </a:r>
                      <a:endParaRPr/>
                    </a:p>
                  </a:txBody>
                  <a:tcPr marL="91450" marR="91450" marT="45725" marB="45725" anchor="ctr"/>
                </a:tc>
                <a:tc>
                  <a:txBody>
                    <a:bodyPr/>
                    <a:lstStyle/>
                    <a:p>
                      <a:pPr marL="0" marR="0" lvl="0" indent="0" algn="ctr" rtl="0">
                        <a:spcBef>
                          <a:spcPts val="0"/>
                        </a:spcBef>
                        <a:spcAft>
                          <a:spcPts val="0"/>
                        </a:spcAft>
                        <a:buNone/>
                      </a:pPr>
                      <a:r>
                        <a:rPr lang="en-ID" sz="1500" u="none" strike="noStrike" cap="none"/>
                        <a:t>Processing</a:t>
                      </a:r>
                      <a:endParaRPr/>
                    </a:p>
                  </a:txBody>
                  <a:tcPr marL="91450" marR="91450" marT="45725" marB="45725" anchor="ctr"/>
                </a:tc>
                <a:tc>
                  <a:txBody>
                    <a:bodyPr/>
                    <a:lstStyle/>
                    <a:p>
                      <a:pPr marL="0" marR="0" lvl="0" indent="0" algn="ctr" rtl="0">
                        <a:spcBef>
                          <a:spcPts val="0"/>
                        </a:spcBef>
                        <a:spcAft>
                          <a:spcPts val="0"/>
                        </a:spcAft>
                        <a:buNone/>
                      </a:pPr>
                      <a:r>
                        <a:rPr lang="en-ID" sz="1500" u="none" strike="noStrike" cap="none"/>
                        <a:t>Information Outputs</a:t>
                      </a:r>
                      <a:endParaRPr/>
                    </a:p>
                  </a:txBody>
                  <a:tcPr marL="91450" marR="91450" marT="45725" marB="45725" anchor="ctr"/>
                </a:tc>
                <a:tc>
                  <a:txBody>
                    <a:bodyPr/>
                    <a:lstStyle/>
                    <a:p>
                      <a:pPr marL="0" marR="0" lvl="0" indent="0" algn="ctr" rtl="0">
                        <a:spcBef>
                          <a:spcPts val="0"/>
                        </a:spcBef>
                        <a:spcAft>
                          <a:spcPts val="0"/>
                        </a:spcAft>
                        <a:buNone/>
                      </a:pPr>
                      <a:r>
                        <a:rPr lang="en-ID" sz="1500" u="none" strike="noStrike" cap="none"/>
                        <a:t>Users</a:t>
                      </a:r>
                      <a:endParaRPr/>
                    </a:p>
                  </a:txBody>
                  <a:tcPr marL="91450" marR="91450" marT="45725" marB="45725" anchor="ctr"/>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ID" sz="1500" u="none" strike="noStrike" cap="none"/>
                        <a:t>ESS</a:t>
                      </a:r>
                      <a:endParaRPr/>
                    </a:p>
                  </a:txBody>
                  <a:tcPr marL="91450" marR="91450" marT="45725" marB="45725"/>
                </a:tc>
                <a:tc>
                  <a:txBody>
                    <a:bodyPr/>
                    <a:lstStyle/>
                    <a:p>
                      <a:pPr marL="0" marR="0" lvl="0" indent="0" algn="l" rtl="0">
                        <a:spcBef>
                          <a:spcPts val="0"/>
                        </a:spcBef>
                        <a:spcAft>
                          <a:spcPts val="0"/>
                        </a:spcAft>
                        <a:buNone/>
                      </a:pPr>
                      <a:r>
                        <a:rPr lang="en-ID" sz="1500" u="none" strike="noStrike" cap="none"/>
                        <a:t>Aggregate data; external; internal</a:t>
                      </a:r>
                      <a:endParaRPr sz="1500"/>
                    </a:p>
                  </a:txBody>
                  <a:tcPr marL="91450" marR="91450" marT="45725" marB="45725"/>
                </a:tc>
                <a:tc>
                  <a:txBody>
                    <a:bodyPr/>
                    <a:lstStyle/>
                    <a:p>
                      <a:pPr marL="0" marR="0" lvl="0" indent="0" algn="l" rtl="0">
                        <a:spcBef>
                          <a:spcPts val="0"/>
                        </a:spcBef>
                        <a:spcAft>
                          <a:spcPts val="0"/>
                        </a:spcAft>
                        <a:buNone/>
                      </a:pPr>
                      <a:r>
                        <a:rPr lang="en-ID" sz="1500"/>
                        <a:t>Graphics; simulations; interactive</a:t>
                      </a:r>
                      <a:endParaRPr/>
                    </a:p>
                  </a:txBody>
                  <a:tcPr marL="91450" marR="91450" marT="45725" marB="45725"/>
                </a:tc>
                <a:tc>
                  <a:txBody>
                    <a:bodyPr/>
                    <a:lstStyle/>
                    <a:p>
                      <a:pPr marL="0" marR="0" lvl="0" indent="0" algn="l" rtl="0">
                        <a:spcBef>
                          <a:spcPts val="0"/>
                        </a:spcBef>
                        <a:spcAft>
                          <a:spcPts val="0"/>
                        </a:spcAft>
                        <a:buNone/>
                      </a:pPr>
                      <a:r>
                        <a:rPr lang="en-ID" sz="1500"/>
                        <a:t>Projections; responses to queries</a:t>
                      </a:r>
                      <a:endParaRPr/>
                    </a:p>
                  </a:txBody>
                  <a:tcPr marL="91450" marR="91450" marT="45725" marB="45725"/>
                </a:tc>
                <a:tc>
                  <a:txBody>
                    <a:bodyPr/>
                    <a:lstStyle/>
                    <a:p>
                      <a:pPr marL="0" marR="0" lvl="0" indent="0" algn="l" rtl="0">
                        <a:spcBef>
                          <a:spcPts val="0"/>
                        </a:spcBef>
                        <a:spcAft>
                          <a:spcPts val="0"/>
                        </a:spcAft>
                        <a:buNone/>
                      </a:pPr>
                      <a:r>
                        <a:rPr lang="en-ID" sz="1500"/>
                        <a:t>Senior managers</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ID" sz="1500"/>
                        <a:t>DSS</a:t>
                      </a:r>
                      <a:endParaRPr/>
                    </a:p>
                  </a:txBody>
                  <a:tcPr marL="91450" marR="91450" marT="45725" marB="45725"/>
                </a:tc>
                <a:tc>
                  <a:txBody>
                    <a:bodyPr/>
                    <a:lstStyle/>
                    <a:p>
                      <a:pPr marL="0" marR="0" lvl="0" indent="0" algn="l" rtl="0">
                        <a:spcBef>
                          <a:spcPts val="0"/>
                        </a:spcBef>
                        <a:spcAft>
                          <a:spcPts val="0"/>
                        </a:spcAft>
                        <a:buNone/>
                      </a:pPr>
                      <a:r>
                        <a:rPr lang="en-ID" sz="1500"/>
                        <a:t>Low-volume data or massive databases optimized for data analysis; analytic models &amp; data analysis tools</a:t>
                      </a:r>
                      <a:endParaRPr sz="1500"/>
                    </a:p>
                  </a:txBody>
                  <a:tcPr marL="91450" marR="91450" marT="45725" marB="45725"/>
                </a:tc>
                <a:tc>
                  <a:txBody>
                    <a:bodyPr/>
                    <a:lstStyle/>
                    <a:p>
                      <a:pPr marL="0" marR="0" lvl="0" indent="0" algn="l" rtl="0">
                        <a:spcBef>
                          <a:spcPts val="0"/>
                        </a:spcBef>
                        <a:spcAft>
                          <a:spcPts val="0"/>
                        </a:spcAft>
                        <a:buNone/>
                      </a:pPr>
                      <a:r>
                        <a:rPr lang="en-ID" sz="1500"/>
                        <a:t>Interactive; simulations; analysis</a:t>
                      </a:r>
                      <a:endParaRPr/>
                    </a:p>
                  </a:txBody>
                  <a:tcPr marL="91450" marR="91450" marT="45725" marB="45725"/>
                </a:tc>
                <a:tc>
                  <a:txBody>
                    <a:bodyPr/>
                    <a:lstStyle/>
                    <a:p>
                      <a:pPr marL="0" marR="0" lvl="0" indent="0" algn="l" rtl="0">
                        <a:spcBef>
                          <a:spcPts val="0"/>
                        </a:spcBef>
                        <a:spcAft>
                          <a:spcPts val="0"/>
                        </a:spcAft>
                        <a:buNone/>
                      </a:pPr>
                      <a:r>
                        <a:rPr lang="en-ID" sz="1500"/>
                        <a:t>Special reports; decision analysis; responses to queries</a:t>
                      </a:r>
                      <a:endParaRPr/>
                    </a:p>
                  </a:txBody>
                  <a:tcPr marL="91450" marR="91450" marT="45725" marB="45725"/>
                </a:tc>
                <a:tc>
                  <a:txBody>
                    <a:bodyPr/>
                    <a:lstStyle/>
                    <a:p>
                      <a:pPr marL="0" marR="0" lvl="0" indent="0" algn="l" rtl="0">
                        <a:spcBef>
                          <a:spcPts val="0"/>
                        </a:spcBef>
                        <a:spcAft>
                          <a:spcPts val="0"/>
                        </a:spcAft>
                        <a:buNone/>
                      </a:pPr>
                      <a:r>
                        <a:rPr lang="en-ID" sz="1500"/>
                        <a:t>Professionals; staff managers</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ID" sz="1500"/>
                        <a:t>MIS</a:t>
                      </a:r>
                      <a:endParaRPr/>
                    </a:p>
                  </a:txBody>
                  <a:tcPr marL="91450" marR="91450" marT="45725" marB="45725"/>
                </a:tc>
                <a:tc>
                  <a:txBody>
                    <a:bodyPr/>
                    <a:lstStyle/>
                    <a:p>
                      <a:pPr marL="0" marR="0" lvl="0" indent="0" algn="l" rtl="0">
                        <a:spcBef>
                          <a:spcPts val="0"/>
                        </a:spcBef>
                        <a:spcAft>
                          <a:spcPts val="0"/>
                        </a:spcAft>
                        <a:buNone/>
                      </a:pPr>
                      <a:r>
                        <a:rPr lang="en-ID" sz="1500"/>
                        <a:t>Summary transaction data; high-volume data; simple models</a:t>
                      </a:r>
                      <a:endParaRPr/>
                    </a:p>
                  </a:txBody>
                  <a:tcPr marL="91450" marR="91450" marT="45725" marB="45725"/>
                </a:tc>
                <a:tc>
                  <a:txBody>
                    <a:bodyPr/>
                    <a:lstStyle/>
                    <a:p>
                      <a:pPr marL="0" marR="0" lvl="0" indent="0" algn="l" rtl="0">
                        <a:spcBef>
                          <a:spcPts val="0"/>
                        </a:spcBef>
                        <a:spcAft>
                          <a:spcPts val="0"/>
                        </a:spcAft>
                        <a:buNone/>
                      </a:pPr>
                      <a:r>
                        <a:rPr lang="en-ID" sz="1500"/>
                        <a:t>Routine reports; simple models; low-level analysis</a:t>
                      </a:r>
                      <a:endParaRPr sz="1500"/>
                    </a:p>
                  </a:txBody>
                  <a:tcPr marL="91450" marR="91450" marT="45725" marB="45725"/>
                </a:tc>
                <a:tc>
                  <a:txBody>
                    <a:bodyPr/>
                    <a:lstStyle/>
                    <a:p>
                      <a:pPr marL="0" marR="0" lvl="0" indent="0" algn="l" rtl="0">
                        <a:spcBef>
                          <a:spcPts val="0"/>
                        </a:spcBef>
                        <a:spcAft>
                          <a:spcPts val="0"/>
                        </a:spcAft>
                        <a:buNone/>
                      </a:pPr>
                      <a:r>
                        <a:rPr lang="en-ID" sz="1500"/>
                        <a:t>Summary &amp; exeptions reports</a:t>
                      </a:r>
                      <a:endParaRPr/>
                    </a:p>
                  </a:txBody>
                  <a:tcPr marL="91450" marR="91450" marT="45725" marB="45725"/>
                </a:tc>
                <a:tc>
                  <a:txBody>
                    <a:bodyPr/>
                    <a:lstStyle/>
                    <a:p>
                      <a:pPr marL="0" marR="0" lvl="0" indent="0" algn="l" rtl="0">
                        <a:spcBef>
                          <a:spcPts val="0"/>
                        </a:spcBef>
                        <a:spcAft>
                          <a:spcPts val="0"/>
                        </a:spcAft>
                        <a:buNone/>
                      </a:pPr>
                      <a:r>
                        <a:rPr lang="en-ID" sz="1500"/>
                        <a:t>Middle managers</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n-ID" sz="1500"/>
                        <a:t>KWS</a:t>
                      </a:r>
                      <a:endParaRPr/>
                    </a:p>
                  </a:txBody>
                  <a:tcPr marL="91450" marR="91450" marT="45725" marB="45725"/>
                </a:tc>
                <a:tc>
                  <a:txBody>
                    <a:bodyPr/>
                    <a:lstStyle/>
                    <a:p>
                      <a:pPr marL="0" marR="0" lvl="0" indent="0" algn="l" rtl="0">
                        <a:spcBef>
                          <a:spcPts val="0"/>
                        </a:spcBef>
                        <a:spcAft>
                          <a:spcPts val="0"/>
                        </a:spcAft>
                        <a:buNone/>
                      </a:pPr>
                      <a:r>
                        <a:rPr lang="en-ID" sz="1500"/>
                        <a:t>Design specifications; knowledge base</a:t>
                      </a:r>
                      <a:endParaRPr/>
                    </a:p>
                  </a:txBody>
                  <a:tcPr marL="91450" marR="91450" marT="45725" marB="45725"/>
                </a:tc>
                <a:tc>
                  <a:txBody>
                    <a:bodyPr/>
                    <a:lstStyle/>
                    <a:p>
                      <a:pPr marL="0" marR="0" lvl="0" indent="0" algn="l" rtl="0">
                        <a:spcBef>
                          <a:spcPts val="0"/>
                        </a:spcBef>
                        <a:spcAft>
                          <a:spcPts val="0"/>
                        </a:spcAft>
                        <a:buNone/>
                      </a:pPr>
                      <a:r>
                        <a:rPr lang="en-ID" sz="1500"/>
                        <a:t>Modeling; simulations</a:t>
                      </a:r>
                      <a:endParaRPr/>
                    </a:p>
                  </a:txBody>
                  <a:tcPr marL="91450" marR="91450" marT="45725" marB="45725"/>
                </a:tc>
                <a:tc>
                  <a:txBody>
                    <a:bodyPr/>
                    <a:lstStyle/>
                    <a:p>
                      <a:pPr marL="0" marR="0" lvl="0" indent="0" algn="l" rtl="0">
                        <a:spcBef>
                          <a:spcPts val="0"/>
                        </a:spcBef>
                        <a:spcAft>
                          <a:spcPts val="0"/>
                        </a:spcAft>
                        <a:buNone/>
                      </a:pPr>
                      <a:r>
                        <a:rPr lang="en-ID" sz="1500"/>
                        <a:t>Models; graphics</a:t>
                      </a:r>
                      <a:endParaRPr/>
                    </a:p>
                  </a:txBody>
                  <a:tcPr marL="91450" marR="91450" marT="45725" marB="45725"/>
                </a:tc>
                <a:tc>
                  <a:txBody>
                    <a:bodyPr/>
                    <a:lstStyle/>
                    <a:p>
                      <a:pPr marL="0" marR="0" lvl="0" indent="0" algn="l" rtl="0">
                        <a:spcBef>
                          <a:spcPts val="0"/>
                        </a:spcBef>
                        <a:spcAft>
                          <a:spcPts val="0"/>
                        </a:spcAft>
                        <a:buNone/>
                      </a:pPr>
                      <a:r>
                        <a:rPr lang="en-ID" sz="1500"/>
                        <a:t>Professionals; technical staff</a:t>
                      </a:r>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None/>
                      </a:pPr>
                      <a:r>
                        <a:rPr lang="en-ID" sz="1500"/>
                        <a:t>Office Systems</a:t>
                      </a:r>
                      <a:endParaRPr/>
                    </a:p>
                  </a:txBody>
                  <a:tcPr marL="91450" marR="91450" marT="45725" marB="45725"/>
                </a:tc>
                <a:tc>
                  <a:txBody>
                    <a:bodyPr/>
                    <a:lstStyle/>
                    <a:p>
                      <a:pPr marL="0" marR="0" lvl="0" indent="0" algn="l" rtl="0">
                        <a:spcBef>
                          <a:spcPts val="0"/>
                        </a:spcBef>
                        <a:spcAft>
                          <a:spcPts val="0"/>
                        </a:spcAft>
                        <a:buNone/>
                      </a:pPr>
                      <a:r>
                        <a:rPr lang="en-ID" sz="1500"/>
                        <a:t>Documents; schedules</a:t>
                      </a:r>
                      <a:endParaRPr/>
                    </a:p>
                  </a:txBody>
                  <a:tcPr marL="91450" marR="91450" marT="45725" marB="45725"/>
                </a:tc>
                <a:tc>
                  <a:txBody>
                    <a:bodyPr/>
                    <a:lstStyle/>
                    <a:p>
                      <a:pPr marL="0" marR="0" lvl="0" indent="0" algn="l" rtl="0">
                        <a:spcBef>
                          <a:spcPts val="0"/>
                        </a:spcBef>
                        <a:spcAft>
                          <a:spcPts val="0"/>
                        </a:spcAft>
                        <a:buNone/>
                      </a:pPr>
                      <a:r>
                        <a:rPr lang="en-ID" sz="1500"/>
                        <a:t>Document management; scheduling; communication</a:t>
                      </a:r>
                      <a:endParaRPr sz="1500"/>
                    </a:p>
                  </a:txBody>
                  <a:tcPr marL="91450" marR="91450" marT="45725" marB="45725"/>
                </a:tc>
                <a:tc>
                  <a:txBody>
                    <a:bodyPr/>
                    <a:lstStyle/>
                    <a:p>
                      <a:pPr marL="0" marR="0" lvl="0" indent="0" algn="l" rtl="0">
                        <a:spcBef>
                          <a:spcPts val="0"/>
                        </a:spcBef>
                        <a:spcAft>
                          <a:spcPts val="0"/>
                        </a:spcAft>
                        <a:buNone/>
                      </a:pPr>
                      <a:r>
                        <a:rPr lang="en-ID" sz="1500"/>
                        <a:t>Documents; schedules; mail</a:t>
                      </a:r>
                      <a:endParaRPr/>
                    </a:p>
                  </a:txBody>
                  <a:tcPr marL="91450" marR="91450" marT="45725" marB="45725"/>
                </a:tc>
                <a:tc>
                  <a:txBody>
                    <a:bodyPr/>
                    <a:lstStyle/>
                    <a:p>
                      <a:pPr marL="0" marR="0" lvl="0" indent="0" algn="l" rtl="0">
                        <a:spcBef>
                          <a:spcPts val="0"/>
                        </a:spcBef>
                        <a:spcAft>
                          <a:spcPts val="0"/>
                        </a:spcAft>
                        <a:buNone/>
                      </a:pPr>
                      <a:r>
                        <a:rPr lang="en-ID" sz="1500"/>
                        <a:t>Clerical workers</a:t>
                      </a:r>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ctr" rtl="0">
                        <a:spcBef>
                          <a:spcPts val="0"/>
                        </a:spcBef>
                        <a:spcAft>
                          <a:spcPts val="0"/>
                        </a:spcAft>
                        <a:buNone/>
                      </a:pPr>
                      <a:r>
                        <a:rPr lang="en-ID" sz="1500"/>
                        <a:t>TPS</a:t>
                      </a:r>
                      <a:endParaRPr/>
                    </a:p>
                  </a:txBody>
                  <a:tcPr marL="91450" marR="91450" marT="45725" marB="45725"/>
                </a:tc>
                <a:tc>
                  <a:txBody>
                    <a:bodyPr/>
                    <a:lstStyle/>
                    <a:p>
                      <a:pPr marL="0" marR="0" lvl="0" indent="0" algn="l" rtl="0">
                        <a:spcBef>
                          <a:spcPts val="0"/>
                        </a:spcBef>
                        <a:spcAft>
                          <a:spcPts val="0"/>
                        </a:spcAft>
                        <a:buNone/>
                      </a:pPr>
                      <a:r>
                        <a:rPr lang="en-ID" sz="1500"/>
                        <a:t>Transactions; events</a:t>
                      </a:r>
                      <a:endParaRPr/>
                    </a:p>
                  </a:txBody>
                  <a:tcPr marL="91450" marR="91450" marT="45725" marB="45725"/>
                </a:tc>
                <a:tc>
                  <a:txBody>
                    <a:bodyPr/>
                    <a:lstStyle/>
                    <a:p>
                      <a:pPr marL="0" marR="0" lvl="0" indent="0" algn="l" rtl="0">
                        <a:spcBef>
                          <a:spcPts val="0"/>
                        </a:spcBef>
                        <a:spcAft>
                          <a:spcPts val="0"/>
                        </a:spcAft>
                        <a:buNone/>
                      </a:pPr>
                      <a:r>
                        <a:rPr lang="en-ID" sz="1500"/>
                        <a:t>Sorting; listing; merging; updating</a:t>
                      </a:r>
                      <a:endParaRPr/>
                    </a:p>
                  </a:txBody>
                  <a:tcPr marL="91450" marR="91450" marT="45725" marB="45725"/>
                </a:tc>
                <a:tc>
                  <a:txBody>
                    <a:bodyPr/>
                    <a:lstStyle/>
                    <a:p>
                      <a:pPr marL="0" marR="0" lvl="0" indent="0" algn="l" rtl="0">
                        <a:spcBef>
                          <a:spcPts val="0"/>
                        </a:spcBef>
                        <a:spcAft>
                          <a:spcPts val="0"/>
                        </a:spcAft>
                        <a:buNone/>
                      </a:pPr>
                      <a:r>
                        <a:rPr lang="en-ID" sz="1500"/>
                        <a:t>Detailed reports; lists; summaries</a:t>
                      </a:r>
                      <a:endParaRPr sz="1500"/>
                    </a:p>
                  </a:txBody>
                  <a:tcPr marL="91450" marR="91450" marT="45725" marB="45725"/>
                </a:tc>
                <a:tc>
                  <a:txBody>
                    <a:bodyPr/>
                    <a:lstStyle/>
                    <a:p>
                      <a:pPr marL="0" marR="0" lvl="0" indent="0" algn="l" rtl="0">
                        <a:spcBef>
                          <a:spcPts val="0"/>
                        </a:spcBef>
                        <a:spcAft>
                          <a:spcPts val="0"/>
                        </a:spcAft>
                        <a:buNone/>
                      </a:pPr>
                      <a:r>
                        <a:rPr lang="en-ID" sz="1500"/>
                        <a:t>Operations personel; supervisors</a:t>
                      </a:r>
                      <a:endParaRPr sz="1500"/>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4"/>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21" name="Google Shape;121;p4"/>
          <p:cNvSpPr txBox="1"/>
          <p:nvPr/>
        </p:nvSpPr>
        <p:spPr>
          <a:xfrm>
            <a:off x="0" y="0"/>
            <a:ext cx="914400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What ethical, social, and political issues are raised by information systems?</a:t>
            </a:r>
            <a:endParaRPr/>
          </a:p>
        </p:txBody>
      </p:sp>
      <p:pic>
        <p:nvPicPr>
          <p:cNvPr id="122" name="Google Shape;122;p4" descr="Chart&#10;&#10;Description automatically generated"/>
          <p:cNvPicPr preferRelativeResize="0"/>
          <p:nvPr/>
        </p:nvPicPr>
        <p:blipFill rotWithShape="1">
          <a:blip r:embed="rId3">
            <a:alphaModFix/>
          </a:blip>
          <a:srcRect/>
          <a:stretch/>
        </p:blipFill>
        <p:spPr>
          <a:xfrm>
            <a:off x="575574" y="1225266"/>
            <a:ext cx="7749275" cy="563273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29" name="Google Shape;129;p5"/>
          <p:cNvSpPr txBox="1"/>
          <p:nvPr/>
        </p:nvSpPr>
        <p:spPr>
          <a:xfrm>
            <a:off x="539080" y="42736"/>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Five Moral Dimensions of The Information Age (1)</a:t>
            </a:r>
            <a:endParaRPr/>
          </a:p>
        </p:txBody>
      </p:sp>
      <p:sp>
        <p:nvSpPr>
          <p:cNvPr id="130" name="Google Shape;130;p5"/>
          <p:cNvSpPr/>
          <p:nvPr/>
        </p:nvSpPr>
        <p:spPr>
          <a:xfrm>
            <a:off x="128016" y="1243065"/>
            <a:ext cx="9015984" cy="5576911"/>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950"/>
              <a:buFont typeface="Noto Sans Symbols"/>
              <a:buChar char="■"/>
            </a:pPr>
            <a:r>
              <a:rPr lang="en-ID" sz="3000">
                <a:solidFill>
                  <a:srgbClr val="000000"/>
                </a:solidFill>
                <a:latin typeface="Arial"/>
                <a:ea typeface="Arial"/>
                <a:cs typeface="Arial"/>
                <a:sym typeface="Arial"/>
              </a:rPr>
              <a:t>Information rights and obligations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What information rights do individuals and organizations possess with respect to themselves? What can they protect? </a:t>
            </a:r>
            <a:endParaRPr/>
          </a:p>
          <a:p>
            <a:pPr marL="342900" marR="0" lvl="0" indent="-342900" algn="l" rtl="0">
              <a:spcBef>
                <a:spcPts val="600"/>
              </a:spcBef>
              <a:spcAft>
                <a:spcPts val="0"/>
              </a:spcAft>
              <a:buClr>
                <a:srgbClr val="CC9900"/>
              </a:buClr>
              <a:buSzPts val="1950"/>
              <a:buFont typeface="Noto Sans Symbols"/>
              <a:buChar char="■"/>
            </a:pPr>
            <a:r>
              <a:rPr lang="en-ID" sz="3000">
                <a:solidFill>
                  <a:srgbClr val="000000"/>
                </a:solidFill>
                <a:latin typeface="Arial"/>
                <a:ea typeface="Arial"/>
                <a:cs typeface="Arial"/>
                <a:sym typeface="Arial"/>
              </a:rPr>
              <a:t>Property rights and obligations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How will traditional intellectual property rights be protected in a digital society in which tracing and accounting for ownership are difficult, and ignoring such property rights is so easy? </a:t>
            </a:r>
            <a:endParaRPr/>
          </a:p>
          <a:p>
            <a:pPr marL="342900" marR="0" lvl="0" indent="-342900" algn="l" rtl="0">
              <a:spcBef>
                <a:spcPts val="600"/>
              </a:spcBef>
              <a:spcAft>
                <a:spcPts val="0"/>
              </a:spcAft>
              <a:buClr>
                <a:srgbClr val="CC9900"/>
              </a:buClr>
              <a:buSzPts val="1950"/>
              <a:buFont typeface="Noto Sans Symbols"/>
              <a:buChar char="■"/>
            </a:pPr>
            <a:r>
              <a:rPr lang="en-ID" sz="3000">
                <a:solidFill>
                  <a:srgbClr val="000000"/>
                </a:solidFill>
                <a:latin typeface="Arial"/>
                <a:ea typeface="Arial"/>
                <a:cs typeface="Arial"/>
                <a:sym typeface="Arial"/>
              </a:rPr>
              <a:t>Accountability and control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Who can and will be held accountable and liable for the harm done to individual and collective information and property rights? </a:t>
            </a: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6"/>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37" name="Google Shape;137;p6"/>
          <p:cNvSpPr txBox="1"/>
          <p:nvPr/>
        </p:nvSpPr>
        <p:spPr>
          <a:xfrm>
            <a:off x="539080" y="42736"/>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Five Moral Dimensions of The Information Age (2)</a:t>
            </a:r>
            <a:endParaRPr/>
          </a:p>
        </p:txBody>
      </p:sp>
      <p:sp>
        <p:nvSpPr>
          <p:cNvPr id="138" name="Google Shape;138;p6"/>
          <p:cNvSpPr/>
          <p:nvPr/>
        </p:nvSpPr>
        <p:spPr>
          <a:xfrm>
            <a:off x="128016" y="1243065"/>
            <a:ext cx="9015984" cy="384105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950"/>
              <a:buFont typeface="Noto Sans Symbols"/>
              <a:buChar char="■"/>
            </a:pPr>
            <a:r>
              <a:rPr lang="en-ID" sz="3000">
                <a:solidFill>
                  <a:srgbClr val="000000"/>
                </a:solidFill>
                <a:latin typeface="Arial"/>
                <a:ea typeface="Arial"/>
                <a:cs typeface="Arial"/>
                <a:sym typeface="Arial"/>
              </a:rPr>
              <a:t>System quality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What standards of data and system quality should we demand to protect individual rights and the safety of society? </a:t>
            </a:r>
            <a:endParaRPr/>
          </a:p>
          <a:p>
            <a:pPr marL="342900" marR="0" lvl="0" indent="-342900" algn="l" rtl="0">
              <a:spcBef>
                <a:spcPts val="600"/>
              </a:spcBef>
              <a:spcAft>
                <a:spcPts val="0"/>
              </a:spcAft>
              <a:buClr>
                <a:srgbClr val="CC9900"/>
              </a:buClr>
              <a:buSzPts val="1950"/>
              <a:buFont typeface="Noto Sans Symbols"/>
              <a:buChar char="■"/>
            </a:pPr>
            <a:r>
              <a:rPr lang="en-ID" sz="3000">
                <a:solidFill>
                  <a:srgbClr val="000000"/>
                </a:solidFill>
                <a:latin typeface="Arial"/>
                <a:ea typeface="Arial"/>
                <a:cs typeface="Arial"/>
                <a:sym typeface="Arial"/>
              </a:rPr>
              <a:t>Quality of life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What values should be preserved in an information- and -knowledge- based society? Which institutions should we protect from violation? Which cultural values and practices does the new information technology support?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7"/>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45" name="Google Shape;145;p7"/>
          <p:cNvSpPr txBox="1"/>
          <p:nvPr/>
        </p:nvSpPr>
        <p:spPr>
          <a:xfrm>
            <a:off x="539080" y="42736"/>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Technology Trends that Raise Ethical Issues</a:t>
            </a:r>
            <a:endParaRPr/>
          </a:p>
        </p:txBody>
      </p:sp>
      <p:pic>
        <p:nvPicPr>
          <p:cNvPr id="146" name="Google Shape;146;p7" descr="Text&#10;&#10;Description automatically generated"/>
          <p:cNvPicPr preferRelativeResize="0"/>
          <p:nvPr/>
        </p:nvPicPr>
        <p:blipFill rotWithShape="1">
          <a:blip r:embed="rId3">
            <a:alphaModFix/>
          </a:blip>
          <a:srcRect/>
          <a:stretch/>
        </p:blipFill>
        <p:spPr>
          <a:xfrm>
            <a:off x="9090" y="1743126"/>
            <a:ext cx="9153091" cy="424333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53" name="Google Shape;153;p8"/>
          <p:cNvSpPr txBox="1"/>
          <p:nvPr/>
        </p:nvSpPr>
        <p:spPr>
          <a:xfrm>
            <a:off x="539079" y="67711"/>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Principles for Conduct to guide Ecthical Decision</a:t>
            </a:r>
            <a:endParaRPr/>
          </a:p>
        </p:txBody>
      </p:sp>
      <p:sp>
        <p:nvSpPr>
          <p:cNvPr id="154" name="Google Shape;154;p8"/>
          <p:cNvSpPr/>
          <p:nvPr/>
        </p:nvSpPr>
        <p:spPr>
          <a:xfrm>
            <a:off x="128016" y="1243065"/>
            <a:ext cx="9015984" cy="590931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950"/>
              <a:buFont typeface="Noto Sans Symbols"/>
              <a:buChar char="■"/>
            </a:pPr>
            <a:r>
              <a:rPr lang="en-ID" sz="3000" b="1">
                <a:solidFill>
                  <a:srgbClr val="000000"/>
                </a:solidFill>
              </a:rPr>
              <a:t>Re</a:t>
            </a:r>
            <a:r>
              <a:rPr lang="en-ID" sz="3000">
                <a:solidFill>
                  <a:srgbClr val="000000"/>
                </a:solidFill>
                <a:latin typeface="Arial"/>
                <a:ea typeface="Arial"/>
                <a:cs typeface="Arial"/>
                <a:sym typeface="Arial"/>
              </a:rPr>
              <a:t>sponsibilities</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A key element of ethical action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Responsibility means that you accept the potential costs, duties, and obligations for the decisions you make. </a:t>
            </a:r>
            <a:endParaRPr sz="2400" b="0" i="0" u="none" strike="noStrike" cap="none">
              <a:solidFill>
                <a:srgbClr val="000000"/>
              </a:solidFill>
              <a:latin typeface="Arial"/>
              <a:ea typeface="Arial"/>
              <a:cs typeface="Arial"/>
              <a:sym typeface="Arial"/>
            </a:endParaRPr>
          </a:p>
          <a:p>
            <a:pPr marL="342900" marR="0" lvl="0" indent="-342900" algn="l" rtl="0">
              <a:spcBef>
                <a:spcPts val="600"/>
              </a:spcBef>
              <a:spcAft>
                <a:spcPts val="0"/>
              </a:spcAft>
              <a:buClr>
                <a:srgbClr val="CC9900"/>
              </a:buClr>
              <a:buSzPts val="1950"/>
              <a:buFont typeface="Noto Sans Symbols"/>
              <a:buChar char="■"/>
            </a:pPr>
            <a:r>
              <a:rPr lang="en-ID" sz="3000" b="1">
                <a:solidFill>
                  <a:srgbClr val="000000"/>
                </a:solidFill>
              </a:rPr>
              <a:t>A</a:t>
            </a:r>
            <a:r>
              <a:rPr lang="en-ID" sz="3000">
                <a:solidFill>
                  <a:srgbClr val="000000"/>
                </a:solidFill>
                <a:latin typeface="Arial"/>
                <a:ea typeface="Arial"/>
                <a:cs typeface="Arial"/>
                <a:sym typeface="Arial"/>
              </a:rPr>
              <a:t>ccountability</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A feature of systems and social institutions</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It means that mechanisms are in place to determine who took action and who is responsible. </a:t>
            </a:r>
            <a:endParaRPr sz="2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CC9900"/>
              </a:buClr>
              <a:buSzPts val="1950"/>
              <a:buFont typeface="Noto Sans Symbols"/>
              <a:buChar char="■"/>
            </a:pPr>
            <a:r>
              <a:rPr lang="en-ID" sz="3000" b="1">
                <a:solidFill>
                  <a:srgbClr val="000000"/>
                </a:solidFill>
              </a:rPr>
              <a:t>L</a:t>
            </a:r>
            <a:r>
              <a:rPr lang="en-ID" sz="3000">
                <a:solidFill>
                  <a:srgbClr val="000000"/>
                </a:solidFill>
                <a:latin typeface="Arial"/>
                <a:ea typeface="Arial"/>
                <a:cs typeface="Arial"/>
                <a:sym typeface="Arial"/>
              </a:rPr>
              <a:t>iability</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Liability is a feature of political systems in which a body of laws is in place that permits individuals to recover the damages done to them by other actors, systems, or organizations. </a:t>
            </a:r>
            <a:endParaRPr/>
          </a:p>
          <a:p>
            <a:pPr marL="342900" marR="0" lvl="0" indent="-219075" algn="l" rtl="0">
              <a:spcBef>
                <a:spcPts val="600"/>
              </a:spcBef>
              <a:spcAft>
                <a:spcPts val="0"/>
              </a:spcAft>
              <a:buClr>
                <a:srgbClr val="CC9900"/>
              </a:buClr>
              <a:buSzPts val="1950"/>
              <a:buFont typeface="Noto Sans Symbols"/>
              <a:buNone/>
            </a:pPr>
            <a:endParaRPr sz="30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9"/>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61" name="Google Shape;161;p9"/>
          <p:cNvSpPr txBox="1"/>
          <p:nvPr/>
        </p:nvSpPr>
        <p:spPr>
          <a:xfrm>
            <a:off x="539079" y="67711"/>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Principles for Conduct to guide Ethical Decision</a:t>
            </a:r>
            <a:endParaRPr/>
          </a:p>
        </p:txBody>
      </p:sp>
      <p:sp>
        <p:nvSpPr>
          <p:cNvPr id="162" name="Google Shape;162;p9"/>
          <p:cNvSpPr/>
          <p:nvPr/>
        </p:nvSpPr>
        <p:spPr>
          <a:xfrm>
            <a:off x="128016" y="1243065"/>
            <a:ext cx="9015984" cy="7423571"/>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950"/>
              <a:buFont typeface="Noto Sans Symbols"/>
              <a:buChar char="■"/>
            </a:pPr>
            <a:r>
              <a:rPr lang="en-ID" sz="3000">
                <a:solidFill>
                  <a:srgbClr val="000000"/>
                </a:solidFill>
                <a:latin typeface="Arial"/>
                <a:ea typeface="Arial"/>
                <a:cs typeface="Arial"/>
                <a:sym typeface="Arial"/>
              </a:rPr>
              <a:t>These basic concepts form the underpinning of an ethical analysis of information systems and those who manage them.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First, information technologies are filtered through social institutions, organizations, and individuals. Whatever information system effects exist are products of institutional, organizational, and individual actions and behaviors.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Second, responsibility for the consequences of technology falls on the institutions, organizations, and individual managers who choose to use the technology. Using information technology in a socially responsible manner means that you can and will be held accountable for the consequences of your actions.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Third, in an ethical, political society, individuals and others can recover damages done to them through a set of laws characterized by due process. </a:t>
            </a:r>
            <a:endParaRPr/>
          </a:p>
          <a:p>
            <a:pPr marL="342900" marR="0" lvl="0" indent="-219075" algn="l" rtl="0">
              <a:spcBef>
                <a:spcPts val="600"/>
              </a:spcBef>
              <a:spcAft>
                <a:spcPts val="0"/>
              </a:spcAft>
              <a:buClr>
                <a:srgbClr val="CC9900"/>
              </a:buClr>
              <a:buSzPts val="1950"/>
              <a:buFont typeface="Noto Sans Symbols"/>
              <a:buNone/>
            </a:pPr>
            <a:endParaRPr sz="300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0"/>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69" name="Google Shape;169;p10"/>
          <p:cNvSpPr txBox="1"/>
          <p:nvPr/>
        </p:nvSpPr>
        <p:spPr>
          <a:xfrm>
            <a:off x="539079" y="67711"/>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Principles for Conduct to guide Ethical Decision</a:t>
            </a:r>
            <a:endParaRPr/>
          </a:p>
        </p:txBody>
      </p:sp>
      <p:sp>
        <p:nvSpPr>
          <p:cNvPr id="170" name="Google Shape;170;p10"/>
          <p:cNvSpPr/>
          <p:nvPr/>
        </p:nvSpPr>
        <p:spPr>
          <a:xfrm>
            <a:off x="128016" y="1243065"/>
            <a:ext cx="9015984" cy="3748719"/>
          </a:xfrm>
          <a:prstGeom prst="rect">
            <a:avLst/>
          </a:prstGeom>
          <a:noFill/>
          <a:ln>
            <a:noFill/>
          </a:ln>
        </p:spPr>
        <p:txBody>
          <a:bodyPr spcFirstLastPara="1" wrap="square" lIns="91425" tIns="45700" rIns="91425" bIns="45700" anchor="t" anchorCtr="0">
            <a:spAutoFit/>
          </a:bodyPr>
          <a:lstStyle/>
          <a:p>
            <a:pPr marL="800100" marR="0" lvl="1" indent="-342900" algn="l" rtl="0">
              <a:spcBef>
                <a:spcPts val="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Third, in an ethical, political society, individuals and others can recover damages done to them through a set of laws characterized by due process. </a:t>
            </a:r>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Due process is a related feature of law-governed societies and is a process in which laws are known and understood, and ability exists to appeal to higher authorities to ensure that the laws are applied correctly. </a:t>
            </a:r>
            <a:endParaRPr/>
          </a:p>
          <a:p>
            <a:pPr marL="1257300" marR="0" lvl="2" indent="-243839"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342900" marR="0" lvl="0" indent="-219075" algn="l" rtl="0">
              <a:spcBef>
                <a:spcPts val="600"/>
              </a:spcBef>
              <a:spcAft>
                <a:spcPts val="0"/>
              </a:spcAft>
              <a:buClr>
                <a:srgbClr val="CC9900"/>
              </a:buClr>
              <a:buSzPts val="1950"/>
              <a:buFont typeface="Noto Sans Symbols"/>
              <a:buNone/>
            </a:pPr>
            <a:endParaRPr sz="300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1"/>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77" name="Google Shape;177;p11"/>
          <p:cNvSpPr txBox="1"/>
          <p:nvPr/>
        </p:nvSpPr>
        <p:spPr>
          <a:xfrm>
            <a:off x="539080" y="264670"/>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Ethical Analysis</a:t>
            </a:r>
            <a:endParaRPr/>
          </a:p>
        </p:txBody>
      </p:sp>
      <p:sp>
        <p:nvSpPr>
          <p:cNvPr id="178" name="Google Shape;178;p11"/>
          <p:cNvSpPr/>
          <p:nvPr/>
        </p:nvSpPr>
        <p:spPr>
          <a:xfrm>
            <a:off x="128016" y="1243065"/>
            <a:ext cx="9015984" cy="5016758"/>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950"/>
              <a:buFont typeface="Noto Sans Symbols"/>
              <a:buChar char="■"/>
            </a:pPr>
            <a:r>
              <a:rPr lang="en-ID" sz="3000">
                <a:solidFill>
                  <a:srgbClr val="000000"/>
                </a:solidFill>
                <a:latin typeface="Arial"/>
                <a:ea typeface="Arial"/>
                <a:cs typeface="Arial"/>
                <a:sym typeface="Arial"/>
              </a:rPr>
              <a:t>How should you analyze when confronted with a situation that present ethical issues?</a:t>
            </a:r>
            <a:endParaRPr/>
          </a:p>
          <a:p>
            <a:pPr marL="914400" marR="0" lvl="1" indent="-457200" algn="l" rtl="0">
              <a:spcBef>
                <a:spcPts val="560"/>
              </a:spcBef>
              <a:spcAft>
                <a:spcPts val="0"/>
              </a:spcAft>
              <a:buClr>
                <a:srgbClr val="CC9900"/>
              </a:buClr>
              <a:buSzPts val="1820"/>
              <a:buFont typeface="Arial"/>
              <a:buAutoNum type="arabicPeriod"/>
            </a:pPr>
            <a:r>
              <a:rPr lang="en-ID" sz="2800" b="0" i="0" u="none" strike="noStrike" cap="none">
                <a:solidFill>
                  <a:srgbClr val="000000"/>
                </a:solidFill>
                <a:latin typeface="Arial"/>
                <a:ea typeface="Arial"/>
                <a:cs typeface="Arial"/>
                <a:sym typeface="Arial"/>
              </a:rPr>
              <a:t>Identify and describe the facts clearly </a:t>
            </a:r>
            <a:endParaRPr/>
          </a:p>
          <a:p>
            <a:pPr marL="914400" marR="0" lvl="1" indent="-457200" algn="l" rtl="0">
              <a:spcBef>
                <a:spcPts val="560"/>
              </a:spcBef>
              <a:spcAft>
                <a:spcPts val="0"/>
              </a:spcAft>
              <a:buClr>
                <a:srgbClr val="CC9900"/>
              </a:buClr>
              <a:buSzPts val="1820"/>
              <a:buFont typeface="Arial"/>
              <a:buAutoNum type="arabicPeriod"/>
            </a:pPr>
            <a:r>
              <a:rPr lang="en-ID" sz="2800" b="0" i="0" u="none" strike="noStrike" cap="none">
                <a:solidFill>
                  <a:srgbClr val="000000"/>
                </a:solidFill>
                <a:latin typeface="Arial"/>
                <a:ea typeface="Arial"/>
                <a:cs typeface="Arial"/>
                <a:sym typeface="Arial"/>
              </a:rPr>
              <a:t>Define the conflict or dilemma and identify the higher-order values involved </a:t>
            </a:r>
            <a:endParaRPr/>
          </a:p>
          <a:p>
            <a:pPr marL="914400" marR="0" lvl="1" indent="-457200" algn="l" rtl="0">
              <a:spcBef>
                <a:spcPts val="560"/>
              </a:spcBef>
              <a:spcAft>
                <a:spcPts val="0"/>
              </a:spcAft>
              <a:buClr>
                <a:srgbClr val="CC9900"/>
              </a:buClr>
              <a:buSzPts val="1820"/>
              <a:buFont typeface="Arial"/>
              <a:buAutoNum type="arabicPeriod"/>
            </a:pPr>
            <a:r>
              <a:rPr lang="en-ID" sz="2800" b="0" i="0" u="none" strike="noStrike" cap="none">
                <a:solidFill>
                  <a:srgbClr val="000000"/>
                </a:solidFill>
                <a:latin typeface="Arial"/>
                <a:ea typeface="Arial"/>
                <a:cs typeface="Arial"/>
                <a:sym typeface="Arial"/>
              </a:rPr>
              <a:t>Identify the stakeholders </a:t>
            </a:r>
            <a:endParaRPr/>
          </a:p>
          <a:p>
            <a:pPr marL="914400" marR="0" lvl="1" indent="-457200" algn="l" rtl="0">
              <a:spcBef>
                <a:spcPts val="560"/>
              </a:spcBef>
              <a:spcAft>
                <a:spcPts val="0"/>
              </a:spcAft>
              <a:buClr>
                <a:srgbClr val="CC9900"/>
              </a:buClr>
              <a:buSzPts val="1820"/>
              <a:buFont typeface="Arial"/>
              <a:buAutoNum type="arabicPeriod"/>
            </a:pPr>
            <a:r>
              <a:rPr lang="en-ID" sz="2800" b="0" i="0" u="none" strike="noStrike" cap="none">
                <a:solidFill>
                  <a:srgbClr val="000000"/>
                </a:solidFill>
                <a:latin typeface="Arial"/>
                <a:ea typeface="Arial"/>
                <a:cs typeface="Arial"/>
                <a:sym typeface="Arial"/>
              </a:rPr>
              <a:t>Identify the options that you can reasonably take </a:t>
            </a:r>
            <a:endParaRPr/>
          </a:p>
          <a:p>
            <a:pPr marL="914400" marR="0" lvl="1" indent="-457200" algn="l" rtl="0">
              <a:spcBef>
                <a:spcPts val="560"/>
              </a:spcBef>
              <a:spcAft>
                <a:spcPts val="0"/>
              </a:spcAft>
              <a:buClr>
                <a:srgbClr val="CC9900"/>
              </a:buClr>
              <a:buSzPts val="1820"/>
              <a:buFont typeface="Arial"/>
              <a:buAutoNum type="arabicPeriod"/>
            </a:pPr>
            <a:r>
              <a:rPr lang="en-ID" sz="2800" b="0" i="0" u="none" strike="noStrike" cap="none">
                <a:solidFill>
                  <a:srgbClr val="000000"/>
                </a:solidFill>
                <a:latin typeface="Arial"/>
                <a:ea typeface="Arial"/>
                <a:cs typeface="Arial"/>
                <a:sym typeface="Arial"/>
              </a:rPr>
              <a:t>Identify the potential consequences of your options </a:t>
            </a:r>
            <a:endParaRPr/>
          </a:p>
          <a:p>
            <a:pPr marL="342900" marR="0" lvl="0" indent="-219075" algn="l" rtl="0">
              <a:spcBef>
                <a:spcPts val="600"/>
              </a:spcBef>
              <a:spcAft>
                <a:spcPts val="0"/>
              </a:spcAft>
              <a:buClr>
                <a:srgbClr val="CC9900"/>
              </a:buClr>
              <a:buSzPts val="1950"/>
              <a:buFont typeface="Noto Sans Symbols"/>
              <a:buNone/>
            </a:pPr>
            <a:endParaRPr sz="300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2"/>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85" name="Google Shape;185;p12"/>
          <p:cNvSpPr txBox="1"/>
          <p:nvPr/>
        </p:nvSpPr>
        <p:spPr>
          <a:xfrm>
            <a:off x="539080" y="264670"/>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Ethical Principles (1)</a:t>
            </a:r>
            <a:endParaRPr/>
          </a:p>
        </p:txBody>
      </p:sp>
      <p:sp>
        <p:nvSpPr>
          <p:cNvPr id="186" name="Google Shape;186;p12"/>
          <p:cNvSpPr/>
          <p:nvPr/>
        </p:nvSpPr>
        <p:spPr>
          <a:xfrm>
            <a:off x="128016" y="1243065"/>
            <a:ext cx="9015984" cy="773750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950"/>
              <a:buFont typeface="Noto Sans Symbols"/>
              <a:buChar char="■"/>
            </a:pPr>
            <a:r>
              <a:rPr lang="en-ID" sz="3000">
                <a:solidFill>
                  <a:srgbClr val="000000"/>
                </a:solidFill>
                <a:latin typeface="Arial"/>
                <a:ea typeface="Arial"/>
                <a:cs typeface="Arial"/>
                <a:sym typeface="Arial"/>
              </a:rPr>
              <a:t>What ethical principles should you use to make a decision?</a:t>
            </a:r>
            <a:endParaRPr/>
          </a:p>
          <a:p>
            <a:pPr marL="800100" marR="0" lvl="1" indent="-342900" algn="l" rtl="0">
              <a:spcBef>
                <a:spcPts val="560"/>
              </a:spcBef>
              <a:spcAft>
                <a:spcPts val="0"/>
              </a:spcAft>
              <a:buClr>
                <a:srgbClr val="CC9900"/>
              </a:buClr>
              <a:buSzPts val="1820"/>
              <a:buFont typeface="Noto Sans Symbols"/>
              <a:buChar char="■"/>
            </a:pPr>
            <a:r>
              <a:rPr lang="en-ID" sz="2800" b="0" i="0" u="none" strike="noStrike" cap="none">
                <a:solidFill>
                  <a:srgbClr val="000000"/>
                </a:solidFill>
                <a:latin typeface="Arial"/>
                <a:ea typeface="Arial"/>
                <a:cs typeface="Arial"/>
                <a:sym typeface="Arial"/>
              </a:rPr>
              <a:t>Do unto others as you would have them do unto you (The Golden Rule)</a:t>
            </a:r>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Putting yourself in the place of others, and thinking of yourself as the object of the decision, can help you think about fairness in decision making. </a:t>
            </a:r>
            <a:endParaRPr/>
          </a:p>
          <a:p>
            <a:pPr marL="800100" marR="0" lvl="1" indent="-342900" algn="l" rtl="0">
              <a:spcBef>
                <a:spcPts val="560"/>
              </a:spcBef>
              <a:spcAft>
                <a:spcPts val="0"/>
              </a:spcAft>
              <a:buClr>
                <a:srgbClr val="CC9900"/>
              </a:buClr>
              <a:buSzPts val="1820"/>
              <a:buFont typeface="Noto Sans Symbols"/>
              <a:buChar char="■"/>
            </a:pPr>
            <a:r>
              <a:rPr lang="en-ID" sz="2800" b="0" i="0" u="none" strike="noStrike" cap="none">
                <a:solidFill>
                  <a:srgbClr val="000000"/>
                </a:solidFill>
                <a:latin typeface="Arial"/>
                <a:ea typeface="Arial"/>
                <a:cs typeface="Arial"/>
                <a:sym typeface="Arial"/>
              </a:rPr>
              <a:t>If an action is not right for everyone to take, it is not right for anyone (Immanuel Kant’s categorical imperative)</a:t>
            </a:r>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Ask yourself, “If everyone did this, could the organization, or society, survive?” </a:t>
            </a:r>
            <a:endParaRPr/>
          </a:p>
          <a:p>
            <a:pPr marL="1257300" marR="0" lvl="2" indent="-243839"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800100" marR="0" lvl="1" indent="-227330" algn="l" rtl="0">
              <a:spcBef>
                <a:spcPts val="560"/>
              </a:spcBef>
              <a:spcAft>
                <a:spcPts val="0"/>
              </a:spcAft>
              <a:buClr>
                <a:srgbClr val="CC9900"/>
              </a:buClr>
              <a:buSzPts val="1820"/>
              <a:buFont typeface="Noto Sans Symbols"/>
              <a:buNone/>
            </a:pPr>
            <a:endParaRPr sz="2800" b="0" i="0" u="none" strike="noStrike" cap="none">
              <a:solidFill>
                <a:srgbClr val="000000"/>
              </a:solidFill>
              <a:latin typeface="Arial"/>
              <a:ea typeface="Arial"/>
              <a:cs typeface="Arial"/>
              <a:sym typeface="Arial"/>
            </a:endParaRPr>
          </a:p>
          <a:p>
            <a:pPr marL="1257300" marR="0" lvl="2" indent="-243839"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1257300" marR="0" lvl="2" indent="-243839"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342900" marR="0" lvl="0" indent="-219075" algn="l" rtl="0">
              <a:spcBef>
                <a:spcPts val="600"/>
              </a:spcBef>
              <a:spcAft>
                <a:spcPts val="0"/>
              </a:spcAft>
              <a:buClr>
                <a:srgbClr val="CC9900"/>
              </a:buClr>
              <a:buSzPts val="1950"/>
              <a:buFont typeface="Noto Sans Symbols"/>
              <a:buNone/>
            </a:pPr>
            <a:endParaRPr sz="300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3"/>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193" name="Google Shape;193;p13"/>
          <p:cNvSpPr txBox="1"/>
          <p:nvPr/>
        </p:nvSpPr>
        <p:spPr>
          <a:xfrm>
            <a:off x="539080" y="289467"/>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Ethical Principles (2)</a:t>
            </a:r>
            <a:endParaRPr/>
          </a:p>
        </p:txBody>
      </p:sp>
      <p:sp>
        <p:nvSpPr>
          <p:cNvPr id="194" name="Google Shape;194;p13"/>
          <p:cNvSpPr/>
          <p:nvPr/>
        </p:nvSpPr>
        <p:spPr>
          <a:xfrm>
            <a:off x="128016" y="1243065"/>
            <a:ext cx="9015984" cy="8032968"/>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950"/>
              <a:buFont typeface="Noto Sans Symbols"/>
              <a:buChar char="■"/>
            </a:pPr>
            <a:r>
              <a:rPr lang="en-ID" sz="3000">
                <a:solidFill>
                  <a:srgbClr val="000000"/>
                </a:solidFill>
                <a:latin typeface="Arial"/>
                <a:ea typeface="Arial"/>
                <a:cs typeface="Arial"/>
                <a:sym typeface="Arial"/>
              </a:rPr>
              <a:t>What ethical principles should you use to make a decision?</a:t>
            </a:r>
            <a:endParaRPr/>
          </a:p>
          <a:p>
            <a:pPr marL="800100" marR="0" lvl="1" indent="-342900" algn="l" rtl="0">
              <a:spcBef>
                <a:spcPts val="560"/>
              </a:spcBef>
              <a:spcAft>
                <a:spcPts val="0"/>
              </a:spcAft>
              <a:buClr>
                <a:srgbClr val="CC9900"/>
              </a:buClr>
              <a:buSzPts val="1820"/>
              <a:buFont typeface="Noto Sans Symbols"/>
              <a:buChar char="■"/>
            </a:pPr>
            <a:r>
              <a:rPr lang="en-ID" sz="2800" b="0" i="0" u="none" strike="noStrike" cap="none">
                <a:solidFill>
                  <a:srgbClr val="000000"/>
                </a:solidFill>
                <a:latin typeface="Arial"/>
                <a:ea typeface="Arial"/>
                <a:cs typeface="Arial"/>
                <a:sym typeface="Arial"/>
              </a:rPr>
              <a:t>If an action cannot be taken repeatedly, it is not right to take at all. </a:t>
            </a:r>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Slippery slope rule: An action may bring about a small change now that is acceptable, but if it is repeated, it would bring unacceptable changes in the long run </a:t>
            </a:r>
            <a:endParaRPr/>
          </a:p>
          <a:p>
            <a:pPr marL="800100" marR="0" lvl="1" indent="-342900" algn="l" rtl="0">
              <a:spcBef>
                <a:spcPts val="560"/>
              </a:spcBef>
              <a:spcAft>
                <a:spcPts val="0"/>
              </a:spcAft>
              <a:buClr>
                <a:srgbClr val="CC9900"/>
              </a:buClr>
              <a:buSzPts val="1820"/>
              <a:buFont typeface="Noto Sans Symbols"/>
              <a:buChar char="■"/>
            </a:pPr>
            <a:r>
              <a:rPr lang="en-ID" sz="2800" b="0" i="0" u="none" strike="noStrike" cap="none">
                <a:solidFill>
                  <a:srgbClr val="000000"/>
                </a:solidFill>
                <a:latin typeface="Arial"/>
                <a:ea typeface="Arial"/>
                <a:cs typeface="Arial"/>
                <a:sym typeface="Arial"/>
              </a:rPr>
              <a:t>Take the action that achieves the higher or greater value (Utilitarian principle). </a:t>
            </a:r>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Prioritize values in a rank order and understand the consequences of various courses of action. </a:t>
            </a:r>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800100" marR="0" lvl="1" indent="-227330" algn="l" rtl="0">
              <a:spcBef>
                <a:spcPts val="560"/>
              </a:spcBef>
              <a:spcAft>
                <a:spcPts val="0"/>
              </a:spcAft>
              <a:buClr>
                <a:srgbClr val="CC9900"/>
              </a:buClr>
              <a:buSzPts val="1820"/>
              <a:buFont typeface="Noto Sans Symbols"/>
              <a:buNone/>
            </a:pPr>
            <a:endParaRPr sz="2800" b="0" i="0" u="none" strike="noStrike" cap="none">
              <a:solidFill>
                <a:srgbClr val="000000"/>
              </a:solidFill>
              <a:latin typeface="Arial"/>
              <a:ea typeface="Arial"/>
              <a:cs typeface="Arial"/>
              <a:sym typeface="Arial"/>
            </a:endParaRPr>
          </a:p>
          <a:p>
            <a:pPr marL="800100" marR="0" lvl="1" indent="-227330" algn="l" rtl="0">
              <a:spcBef>
                <a:spcPts val="560"/>
              </a:spcBef>
              <a:spcAft>
                <a:spcPts val="0"/>
              </a:spcAft>
              <a:buClr>
                <a:srgbClr val="CC9900"/>
              </a:buClr>
              <a:buSzPts val="1820"/>
              <a:buFont typeface="Noto Sans Symbols"/>
              <a:buNone/>
            </a:pPr>
            <a:endParaRPr sz="2800" b="0" i="0" u="none" strike="noStrike" cap="none">
              <a:solidFill>
                <a:srgbClr val="000000"/>
              </a:solidFill>
              <a:latin typeface="Arial"/>
              <a:ea typeface="Arial"/>
              <a:cs typeface="Arial"/>
              <a:sym typeface="Arial"/>
            </a:endParaRPr>
          </a:p>
          <a:p>
            <a:pPr marL="1257300" marR="0" lvl="2" indent="-243839"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1257300" marR="0" lvl="2" indent="-243839"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342900" marR="0" lvl="0" indent="-219075" algn="l" rtl="0">
              <a:spcBef>
                <a:spcPts val="600"/>
              </a:spcBef>
              <a:spcAft>
                <a:spcPts val="0"/>
              </a:spcAft>
              <a:buClr>
                <a:srgbClr val="CC9900"/>
              </a:buClr>
              <a:buSzPts val="1950"/>
              <a:buFont typeface="Noto Sans Symbols"/>
              <a:buNone/>
            </a:pPr>
            <a:endParaRPr sz="300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4"/>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01" name="Google Shape;201;p14"/>
          <p:cNvSpPr txBox="1"/>
          <p:nvPr/>
        </p:nvSpPr>
        <p:spPr>
          <a:xfrm>
            <a:off x="539080" y="289467"/>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Ethical Principles (3)</a:t>
            </a:r>
            <a:endParaRPr/>
          </a:p>
        </p:txBody>
      </p:sp>
      <p:sp>
        <p:nvSpPr>
          <p:cNvPr id="202" name="Google Shape;202;p14"/>
          <p:cNvSpPr/>
          <p:nvPr/>
        </p:nvSpPr>
        <p:spPr>
          <a:xfrm>
            <a:off x="128016" y="1243065"/>
            <a:ext cx="9015984" cy="920251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950"/>
              <a:buFont typeface="Noto Sans Symbols"/>
              <a:buChar char="■"/>
            </a:pPr>
            <a:r>
              <a:rPr lang="en-ID" sz="3000">
                <a:solidFill>
                  <a:srgbClr val="000000"/>
                </a:solidFill>
                <a:latin typeface="Arial"/>
                <a:ea typeface="Arial"/>
                <a:cs typeface="Arial"/>
                <a:sym typeface="Arial"/>
              </a:rPr>
              <a:t>What ethical principles should you use to make a decision?</a:t>
            </a:r>
            <a:endParaRPr/>
          </a:p>
          <a:p>
            <a:pPr marL="800100" marR="0" lvl="1" indent="-342900" algn="l" rtl="0">
              <a:spcBef>
                <a:spcPts val="560"/>
              </a:spcBef>
              <a:spcAft>
                <a:spcPts val="0"/>
              </a:spcAft>
              <a:buClr>
                <a:srgbClr val="CC9900"/>
              </a:buClr>
              <a:buSzPts val="1820"/>
              <a:buFont typeface="Noto Sans Symbols"/>
              <a:buChar char="■"/>
            </a:pPr>
            <a:r>
              <a:rPr lang="en-ID" sz="2800" b="0" i="0" u="none" strike="noStrike" cap="none">
                <a:solidFill>
                  <a:srgbClr val="000000"/>
                </a:solidFill>
                <a:latin typeface="Arial"/>
                <a:ea typeface="Arial"/>
                <a:cs typeface="Arial"/>
                <a:sym typeface="Arial"/>
              </a:rPr>
              <a:t>Take the action that produces the least harm or the least potential cost (risk aversion principle) </a:t>
            </a:r>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Avoid actions that have extremely high failure costs; focus on reducing the probability of accidents occurring </a:t>
            </a:r>
            <a:endParaRPr/>
          </a:p>
          <a:p>
            <a:pPr marL="800100" marR="0" lvl="1" indent="-342900" algn="l" rtl="0">
              <a:spcBef>
                <a:spcPts val="560"/>
              </a:spcBef>
              <a:spcAft>
                <a:spcPts val="0"/>
              </a:spcAft>
              <a:buClr>
                <a:srgbClr val="CC9900"/>
              </a:buClr>
              <a:buSzPts val="1820"/>
              <a:buFont typeface="Noto Sans Symbols"/>
              <a:buChar char="■"/>
            </a:pPr>
            <a:r>
              <a:rPr lang="en-ID" sz="2800" b="0" i="0" u="none" strike="noStrike" cap="none">
                <a:solidFill>
                  <a:srgbClr val="000000"/>
                </a:solidFill>
                <a:latin typeface="Arial"/>
                <a:ea typeface="Arial"/>
                <a:cs typeface="Arial"/>
                <a:sym typeface="Arial"/>
              </a:rPr>
              <a:t>Assume that virtually all tangible and intangible objects are owned by someone else unless there is a specific declaration otherwise (Ethical no-free-lunch rule)</a:t>
            </a:r>
            <a:endParaRPr sz="2400" b="0" i="0" u="none" strike="noStrike" cap="none">
              <a:solidFill>
                <a:srgbClr val="000000"/>
              </a:solidFill>
              <a:latin typeface="Arial"/>
              <a:ea typeface="Arial"/>
              <a:cs typeface="Arial"/>
              <a:sym typeface="Arial"/>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If something someone else has created is useful to you, it has value, and you should assume the creator wants compensation for this work. </a:t>
            </a:r>
            <a:endParaRPr/>
          </a:p>
          <a:p>
            <a:pPr marL="1257300" marR="0" lvl="2" indent="-243839"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1257300" marR="0" lvl="2" indent="-227330" algn="l" rtl="0">
              <a:spcBef>
                <a:spcPts val="560"/>
              </a:spcBef>
              <a:spcAft>
                <a:spcPts val="0"/>
              </a:spcAft>
              <a:buClr>
                <a:srgbClr val="CC9900"/>
              </a:buClr>
              <a:buSzPts val="1820"/>
              <a:buFont typeface="Noto Sans Symbols"/>
              <a:buNone/>
            </a:pPr>
            <a:endParaRPr sz="2800" b="0" i="0" u="none" strike="noStrike" cap="none">
              <a:solidFill>
                <a:srgbClr val="000000"/>
              </a:solidFill>
              <a:latin typeface="Arial"/>
              <a:ea typeface="Arial"/>
              <a:cs typeface="Arial"/>
              <a:sym typeface="Arial"/>
            </a:endParaRPr>
          </a:p>
          <a:p>
            <a:pPr marL="800100" marR="0" lvl="1" indent="-227330" algn="l" rtl="0">
              <a:spcBef>
                <a:spcPts val="560"/>
              </a:spcBef>
              <a:spcAft>
                <a:spcPts val="0"/>
              </a:spcAft>
              <a:buClr>
                <a:srgbClr val="CC9900"/>
              </a:buClr>
              <a:buSzPts val="1820"/>
              <a:buFont typeface="Noto Sans Symbols"/>
              <a:buNone/>
            </a:pPr>
            <a:endParaRPr sz="2800" b="0" i="0" u="none" strike="noStrike" cap="none">
              <a:solidFill>
                <a:srgbClr val="000000"/>
              </a:solidFill>
              <a:latin typeface="Arial"/>
              <a:ea typeface="Arial"/>
              <a:cs typeface="Arial"/>
              <a:sym typeface="Arial"/>
            </a:endParaRPr>
          </a:p>
          <a:p>
            <a:pPr marL="800100" marR="0" lvl="1" indent="-227330" algn="l" rtl="0">
              <a:spcBef>
                <a:spcPts val="560"/>
              </a:spcBef>
              <a:spcAft>
                <a:spcPts val="0"/>
              </a:spcAft>
              <a:buClr>
                <a:srgbClr val="CC9900"/>
              </a:buClr>
              <a:buSzPts val="1820"/>
              <a:buFont typeface="Noto Sans Symbols"/>
              <a:buNone/>
            </a:pPr>
            <a:endParaRPr sz="2800" b="0" i="0" u="none" strike="noStrike" cap="none">
              <a:solidFill>
                <a:srgbClr val="000000"/>
              </a:solidFill>
              <a:latin typeface="Arial"/>
              <a:ea typeface="Arial"/>
              <a:cs typeface="Arial"/>
              <a:sym typeface="Arial"/>
            </a:endParaRPr>
          </a:p>
          <a:p>
            <a:pPr marL="1257300" marR="0" lvl="2" indent="-243839"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1257300" marR="0" lvl="2" indent="-243839"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342900" marR="0" lvl="0" indent="-219075" algn="l" rtl="0">
              <a:spcBef>
                <a:spcPts val="600"/>
              </a:spcBef>
              <a:spcAft>
                <a:spcPts val="0"/>
              </a:spcAft>
              <a:buClr>
                <a:srgbClr val="CC9900"/>
              </a:buClr>
              <a:buSzPts val="1950"/>
              <a:buFont typeface="Noto Sans Symbols"/>
              <a:buNone/>
            </a:pPr>
            <a:endParaRPr sz="300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5"/>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09" name="Google Shape;209;p15"/>
          <p:cNvSpPr txBox="1"/>
          <p:nvPr/>
        </p:nvSpPr>
        <p:spPr>
          <a:xfrm>
            <a:off x="539080" y="289467"/>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Professional Code of Conduct</a:t>
            </a:r>
            <a:endParaRPr/>
          </a:p>
        </p:txBody>
      </p:sp>
      <p:sp>
        <p:nvSpPr>
          <p:cNvPr id="210" name="Google Shape;210;p15"/>
          <p:cNvSpPr/>
          <p:nvPr/>
        </p:nvSpPr>
        <p:spPr>
          <a:xfrm>
            <a:off x="128016" y="1243065"/>
            <a:ext cx="9015984" cy="452431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950"/>
              <a:buFont typeface="Noto Sans Symbols"/>
              <a:buChar char="■"/>
            </a:pPr>
            <a:r>
              <a:rPr lang="en-ID" sz="3000">
                <a:solidFill>
                  <a:srgbClr val="000000"/>
                </a:solidFill>
                <a:latin typeface="Arial"/>
                <a:ea typeface="Arial"/>
                <a:cs typeface="Arial"/>
                <a:sym typeface="Arial"/>
              </a:rPr>
              <a:t>Professisonal codes of conduct are promulgated by associations of professionals</a:t>
            </a:r>
            <a:endParaRPr/>
          </a:p>
          <a:p>
            <a:pPr marL="800100" marR="0" lvl="1" indent="-342900" algn="l" rtl="0">
              <a:spcBef>
                <a:spcPts val="600"/>
              </a:spcBef>
              <a:spcAft>
                <a:spcPts val="0"/>
              </a:spcAft>
              <a:buClr>
                <a:srgbClr val="CC9900"/>
              </a:buClr>
              <a:buSzPts val="1950"/>
              <a:buFont typeface="Noto Sans Symbols"/>
              <a:buChar char="■"/>
            </a:pPr>
            <a:r>
              <a:rPr lang="en-ID" sz="3000" b="0" i="0" u="none" strike="noStrike" cap="none">
                <a:solidFill>
                  <a:srgbClr val="000000"/>
                </a:solidFill>
                <a:latin typeface="Arial"/>
                <a:ea typeface="Arial"/>
                <a:cs typeface="Arial"/>
                <a:sym typeface="Arial"/>
              </a:rPr>
              <a:t>Association of Information Technology Professionals (AITP)</a:t>
            </a:r>
            <a:endParaRPr/>
          </a:p>
          <a:p>
            <a:pPr marL="800100" marR="0" lvl="1" indent="-342900" algn="l" rtl="0">
              <a:spcBef>
                <a:spcPts val="600"/>
              </a:spcBef>
              <a:spcAft>
                <a:spcPts val="0"/>
              </a:spcAft>
              <a:buClr>
                <a:srgbClr val="CC9900"/>
              </a:buClr>
              <a:buSzPts val="1950"/>
              <a:buFont typeface="Noto Sans Symbols"/>
              <a:buChar char="■"/>
            </a:pPr>
            <a:r>
              <a:rPr lang="en-ID" sz="3000" b="0" i="0" u="none" strike="noStrike" cap="none">
                <a:solidFill>
                  <a:srgbClr val="000000"/>
                </a:solidFill>
                <a:latin typeface="Arial"/>
                <a:ea typeface="Arial"/>
                <a:cs typeface="Arial"/>
                <a:sym typeface="Arial"/>
              </a:rPr>
              <a:t>The Association for Computing Machinery (ACM). </a:t>
            </a:r>
            <a:endParaRPr/>
          </a:p>
          <a:p>
            <a:pPr marL="342900" marR="0" lvl="0" indent="-342900" algn="l" rtl="0">
              <a:spcBef>
                <a:spcPts val="600"/>
              </a:spcBef>
              <a:spcAft>
                <a:spcPts val="0"/>
              </a:spcAft>
              <a:buClr>
                <a:srgbClr val="CC9900"/>
              </a:buClr>
              <a:buSzPts val="1950"/>
              <a:buFont typeface="Noto Sans Symbols"/>
              <a:buChar char="■"/>
            </a:pPr>
            <a:r>
              <a:rPr lang="en-ID" sz="3000">
                <a:solidFill>
                  <a:srgbClr val="000000"/>
                </a:solidFill>
                <a:latin typeface="Arial"/>
                <a:ea typeface="Arial"/>
                <a:cs typeface="Arial"/>
                <a:sym typeface="Arial"/>
              </a:rPr>
              <a:t>Codes of ethics are promises by professions to regulate themselves in the general interest of society.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6"/>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17" name="Google Shape;217;p16"/>
          <p:cNvSpPr txBox="1"/>
          <p:nvPr/>
        </p:nvSpPr>
        <p:spPr>
          <a:xfrm>
            <a:off x="539080" y="88903"/>
            <a:ext cx="8065840" cy="175432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Information Rights: Privacy And Freedom In The Internet Age </a:t>
            </a:r>
            <a:endParaRPr/>
          </a:p>
          <a:p>
            <a:pPr marL="0" marR="0" lvl="0" indent="0" algn="ctr" rtl="0">
              <a:spcBef>
                <a:spcPts val="0"/>
              </a:spcBef>
              <a:spcAft>
                <a:spcPts val="0"/>
              </a:spcAft>
              <a:buNone/>
            </a:pPr>
            <a:r>
              <a:rPr lang="en-ID" sz="3600" b="1">
                <a:solidFill>
                  <a:schemeClr val="lt1"/>
                </a:solidFill>
                <a:latin typeface="Lato"/>
                <a:ea typeface="Lato"/>
                <a:cs typeface="Lato"/>
                <a:sym typeface="Lato"/>
              </a:rPr>
              <a:t> </a:t>
            </a:r>
            <a:endParaRPr/>
          </a:p>
        </p:txBody>
      </p:sp>
      <p:sp>
        <p:nvSpPr>
          <p:cNvPr id="218" name="Google Shape;218;p16"/>
          <p:cNvSpPr/>
          <p:nvPr/>
        </p:nvSpPr>
        <p:spPr>
          <a:xfrm>
            <a:off x="128016" y="1243065"/>
            <a:ext cx="9015984" cy="138499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Privacy is the claim of individuals to be left alone, free from surveillance or interference from other individuals or organizations, including the state. </a:t>
            </a:r>
            <a:endParaRPr/>
          </a:p>
        </p:txBody>
      </p:sp>
      <p:pic>
        <p:nvPicPr>
          <p:cNvPr id="219" name="Google Shape;219;p16"/>
          <p:cNvPicPr preferRelativeResize="0"/>
          <p:nvPr/>
        </p:nvPicPr>
        <p:blipFill rotWithShape="1">
          <a:blip r:embed="rId3">
            <a:alphaModFix/>
          </a:blip>
          <a:srcRect/>
          <a:stretch/>
        </p:blipFill>
        <p:spPr>
          <a:xfrm>
            <a:off x="1528761" y="2557245"/>
            <a:ext cx="6353175" cy="430075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26" name="Google Shape;226;p17"/>
          <p:cNvSpPr txBox="1"/>
          <p:nvPr/>
        </p:nvSpPr>
        <p:spPr>
          <a:xfrm>
            <a:off x="539080" y="88903"/>
            <a:ext cx="8065840" cy="175432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Information Rights: Privacy And Freedom In The Internet Age </a:t>
            </a:r>
            <a:endParaRPr/>
          </a:p>
          <a:p>
            <a:pPr marL="0" marR="0" lvl="0" indent="0" algn="ctr" rtl="0">
              <a:spcBef>
                <a:spcPts val="0"/>
              </a:spcBef>
              <a:spcAft>
                <a:spcPts val="0"/>
              </a:spcAft>
              <a:buNone/>
            </a:pPr>
            <a:r>
              <a:rPr lang="en-ID" sz="3600" b="1">
                <a:solidFill>
                  <a:schemeClr val="lt1"/>
                </a:solidFill>
                <a:latin typeface="Lato"/>
                <a:ea typeface="Lato"/>
                <a:cs typeface="Lato"/>
                <a:sym typeface="Lato"/>
              </a:rPr>
              <a:t> </a:t>
            </a:r>
            <a:endParaRPr/>
          </a:p>
        </p:txBody>
      </p:sp>
      <p:sp>
        <p:nvSpPr>
          <p:cNvPr id="227" name="Google Shape;227;p17"/>
          <p:cNvSpPr/>
          <p:nvPr/>
        </p:nvSpPr>
        <p:spPr>
          <a:xfrm>
            <a:off x="128016" y="1243065"/>
            <a:ext cx="9015984" cy="147117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Most American and European privacy law is based on a regime called Fair Information Practices (FIP)</a:t>
            </a:r>
            <a:endParaRPr/>
          </a:p>
          <a:p>
            <a:pPr marL="342900" marR="0" lvl="0" indent="-227330" algn="l" rtl="0">
              <a:spcBef>
                <a:spcPts val="560"/>
              </a:spcBef>
              <a:spcAft>
                <a:spcPts val="0"/>
              </a:spcAft>
              <a:buClr>
                <a:srgbClr val="CC9900"/>
              </a:buClr>
              <a:buSzPts val="1820"/>
              <a:buFont typeface="Noto Sans Symbols"/>
              <a:buNone/>
            </a:pPr>
            <a:endParaRPr sz="2800">
              <a:solidFill>
                <a:srgbClr val="000000"/>
              </a:solidFill>
              <a:latin typeface="Arial"/>
              <a:ea typeface="Arial"/>
              <a:cs typeface="Arial"/>
              <a:sym typeface="Arial"/>
            </a:endParaRPr>
          </a:p>
        </p:txBody>
      </p:sp>
      <p:pic>
        <p:nvPicPr>
          <p:cNvPr id="228" name="Google Shape;228;p17" descr="Graphical user interface, text, application&#10;&#10;Description automatically generated"/>
          <p:cNvPicPr preferRelativeResize="0"/>
          <p:nvPr/>
        </p:nvPicPr>
        <p:blipFill rotWithShape="1">
          <a:blip r:embed="rId3">
            <a:alphaModFix/>
          </a:blip>
          <a:srcRect/>
          <a:stretch/>
        </p:blipFill>
        <p:spPr>
          <a:xfrm>
            <a:off x="356108" y="2374897"/>
            <a:ext cx="8559800" cy="4394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8"/>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35" name="Google Shape;235;p18"/>
          <p:cNvSpPr txBox="1"/>
          <p:nvPr/>
        </p:nvSpPr>
        <p:spPr>
          <a:xfrm>
            <a:off x="539080" y="88903"/>
            <a:ext cx="8065840" cy="175432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Information Rights: Privacy And Freedom In The Internet Age </a:t>
            </a:r>
            <a:endParaRPr/>
          </a:p>
          <a:p>
            <a:pPr marL="0" marR="0" lvl="0" indent="0" algn="ctr" rtl="0">
              <a:spcBef>
                <a:spcPts val="0"/>
              </a:spcBef>
              <a:spcAft>
                <a:spcPts val="0"/>
              </a:spcAft>
              <a:buNone/>
            </a:pPr>
            <a:r>
              <a:rPr lang="en-ID" sz="3600" b="1">
                <a:solidFill>
                  <a:schemeClr val="lt1"/>
                </a:solidFill>
                <a:latin typeface="Lato"/>
                <a:ea typeface="Lato"/>
                <a:cs typeface="Lato"/>
                <a:sym typeface="Lato"/>
              </a:rPr>
              <a:t> </a:t>
            </a:r>
            <a:endParaRPr/>
          </a:p>
        </p:txBody>
      </p:sp>
      <p:sp>
        <p:nvSpPr>
          <p:cNvPr id="236" name="Google Shape;236;p18"/>
          <p:cNvSpPr/>
          <p:nvPr/>
        </p:nvSpPr>
        <p:spPr>
          <a:xfrm>
            <a:off x="128016" y="1100190"/>
            <a:ext cx="9015984" cy="649408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The European Commission implemented the EU General Data Protection Regulation (GDPR) (2018)</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It applies to all firms and organizations that collect, store, or process personal information of EU citizens, and these protections apply worldwide regardless of where the processing takes place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It strengthen the rights of citizens to their own personal information and to strengthen oversight of firms to ensure they implement these individual rights.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It protects a wide variety of PII: basic identity information (i.e name, address, ID numbers); web data (i.e. location, IP address, cookie data, RFID tags); health and genetic data; mobile phone number; driver’s license and passport number; biometric and facial data; racial and ethnic data; political opinions; and sexual orientation. </a:t>
            </a:r>
            <a:endParaRPr/>
          </a:p>
          <a:p>
            <a:pPr marL="342900" marR="0" lvl="0" indent="-227330" algn="l" rtl="0">
              <a:spcBef>
                <a:spcPts val="560"/>
              </a:spcBef>
              <a:spcAft>
                <a:spcPts val="0"/>
              </a:spcAft>
              <a:buClr>
                <a:srgbClr val="CC9900"/>
              </a:buClr>
              <a:buSzPts val="1820"/>
              <a:buFont typeface="Noto Sans Symbols"/>
              <a:buNone/>
            </a:pPr>
            <a:endParaRPr sz="280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9"/>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43" name="Google Shape;243;p19"/>
          <p:cNvSpPr txBox="1"/>
          <p:nvPr/>
        </p:nvSpPr>
        <p:spPr>
          <a:xfrm>
            <a:off x="539080" y="289467"/>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Property Rights: Intellectual Property </a:t>
            </a:r>
            <a:endParaRPr/>
          </a:p>
        </p:txBody>
      </p:sp>
      <p:sp>
        <p:nvSpPr>
          <p:cNvPr id="244" name="Google Shape;244;p19"/>
          <p:cNvSpPr/>
          <p:nvPr/>
        </p:nvSpPr>
        <p:spPr>
          <a:xfrm>
            <a:off x="128016" y="1100190"/>
            <a:ext cx="9015984" cy="5743111"/>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chemeClr val="dk1"/>
                </a:solidFill>
                <a:latin typeface="Calibri"/>
                <a:ea typeface="Calibri"/>
                <a:cs typeface="Calibri"/>
                <a:sym typeface="Calibri"/>
              </a:rPr>
              <a:t>Intellectual property is defined as tangible and intangible products of the mind created by individuals or corporations. </a:t>
            </a:r>
            <a:endParaRPr/>
          </a:p>
          <a:p>
            <a:pPr marL="342900" marR="0" lvl="0" indent="-342900" algn="l" rtl="0">
              <a:spcBef>
                <a:spcPts val="56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Copyright</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A statutory grant that protects creators of intellectual property from having their work copied by others for any purpose during the life of the author plus an additional certain years after the author’s death</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The drawback to copyright protection is that the underlying ideas behind a work are not protected, only their manifestation in a work. A competitor can use your software, understand how it works, and build new software that follows the same concepts without infringing on a copyright.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0"/>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51" name="Google Shape;251;p20"/>
          <p:cNvSpPr txBox="1"/>
          <p:nvPr/>
        </p:nvSpPr>
        <p:spPr>
          <a:xfrm>
            <a:off x="539080" y="289467"/>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Property Rights: Intellectual Property </a:t>
            </a:r>
            <a:endParaRPr/>
          </a:p>
        </p:txBody>
      </p:sp>
      <p:sp>
        <p:nvSpPr>
          <p:cNvPr id="252" name="Google Shape;252;p20"/>
          <p:cNvSpPr/>
          <p:nvPr/>
        </p:nvSpPr>
        <p:spPr>
          <a:xfrm>
            <a:off x="128016" y="1107505"/>
            <a:ext cx="9015984" cy="680186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Patents</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An exclusive monopoly on the ideas behind an invention for certain years. It is to ensure that inventors of new machines, devices, or methods receive the full financial and other rewards of their labour and yet make widespread use of the invention possible by providing detailed diagrams for those wishing to use the idea under license from the patent’s owner, based on originality, novelty, and invention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The strength of patent protection is that it grants a monopoly on the underlying concepts and ideas of software. The difficulty is passing stringent criteria of nonobviousness (the work must reflect some special understanding and contribution), originality, and novelty as well as years of waiting to receive protection. </a:t>
            </a:r>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1"/>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59" name="Google Shape;259;p21"/>
          <p:cNvSpPr txBox="1"/>
          <p:nvPr/>
        </p:nvSpPr>
        <p:spPr>
          <a:xfrm>
            <a:off x="539080" y="289467"/>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Property Rights: Intellectual Property </a:t>
            </a:r>
            <a:endParaRPr/>
          </a:p>
        </p:txBody>
      </p:sp>
      <p:sp>
        <p:nvSpPr>
          <p:cNvPr id="260" name="Google Shape;260;p21"/>
          <p:cNvSpPr/>
          <p:nvPr/>
        </p:nvSpPr>
        <p:spPr>
          <a:xfrm>
            <a:off x="128016" y="1107505"/>
            <a:ext cx="9015984" cy="510293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Trademarks</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The marks, symbols, and images used to distinguish products in the marketplace. </a:t>
            </a:r>
            <a:endParaRPr/>
          </a:p>
          <a:p>
            <a:pPr marL="342900" marR="0" lvl="0" indent="-342900" algn="l" rtl="0">
              <a:spcBef>
                <a:spcPts val="56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Trade Secrets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Any intellectual work product—a formula, device, pattern, or compilation of data— used for a business purpose can be classified as a trade secret, provided it is not based on information in the public domain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Trade secret laws grant a monopoly on the ideas behind a work product, but it can be a very tenuous monopoly. </a:t>
            </a:r>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2"/>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67" name="Google Shape;267;p22"/>
          <p:cNvSpPr txBox="1"/>
          <p:nvPr/>
        </p:nvSpPr>
        <p:spPr>
          <a:xfrm>
            <a:off x="539080" y="289467"/>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Property Rights: Intellectual Property </a:t>
            </a:r>
            <a:endParaRPr/>
          </a:p>
        </p:txBody>
      </p:sp>
      <p:sp>
        <p:nvSpPr>
          <p:cNvPr id="268" name="Google Shape;268;p22"/>
          <p:cNvSpPr/>
          <p:nvPr/>
        </p:nvSpPr>
        <p:spPr>
          <a:xfrm>
            <a:off x="128016" y="1225265"/>
            <a:ext cx="9015984" cy="229601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Challenges to Intellectual Property Rights</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Digital media -&gt; Ease of replication</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The proliferation of digital networks, including the internet </a:t>
            </a:r>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3"/>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75" name="Google Shape;275;p23"/>
          <p:cNvSpPr txBox="1"/>
          <p:nvPr/>
        </p:nvSpPr>
        <p:spPr>
          <a:xfrm>
            <a:off x="539080" y="24936"/>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Accountability and Control: Liability Problems</a:t>
            </a:r>
            <a:endParaRPr sz="3600" b="1">
              <a:solidFill>
                <a:schemeClr val="lt1"/>
              </a:solidFill>
              <a:latin typeface="Lato"/>
              <a:ea typeface="Lato"/>
              <a:cs typeface="Lato"/>
              <a:sym typeface="Lato"/>
            </a:endParaRPr>
          </a:p>
        </p:txBody>
      </p:sp>
      <p:sp>
        <p:nvSpPr>
          <p:cNvPr id="276" name="Google Shape;276;p23"/>
          <p:cNvSpPr/>
          <p:nvPr/>
        </p:nvSpPr>
        <p:spPr>
          <a:xfrm>
            <a:off x="128016" y="1225265"/>
            <a:ext cx="9015984" cy="491826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chemeClr val="dk1"/>
                </a:solidFill>
                <a:latin typeface="Calibri"/>
                <a:ea typeface="Calibri"/>
                <a:cs typeface="Calibri"/>
                <a:sym typeface="Calibri"/>
              </a:rPr>
              <a:t>Who is liable for any economic or personal harm caused to individuals or businesses whose personal and business data is stolen from firms with whom they interact, often on a daily basis? </a:t>
            </a:r>
            <a:endParaRPr sz="2400">
              <a:solidFill>
                <a:srgbClr val="000000"/>
              </a:solidFill>
              <a:latin typeface="Arial"/>
              <a:ea typeface="Arial"/>
              <a:cs typeface="Arial"/>
              <a:sym typeface="Arial"/>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2018 Under Armour disclosed that hackers had breached its fitness app (MyFitnessPal) and had stolen data from over 150 million user accounts. The data included email addresses, passwords, and usernames, along with other information not disclosed. The firm’s stock took a hit of 2% following the announcement and likely caused MyFitnessPal users to lose confidence in the app.</a:t>
            </a:r>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4"/>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83" name="Google Shape;283;p24"/>
          <p:cNvSpPr txBox="1"/>
          <p:nvPr/>
        </p:nvSpPr>
        <p:spPr>
          <a:xfrm>
            <a:off x="539080" y="132305"/>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System Quality: Data Quality and System Errors</a:t>
            </a:r>
            <a:endParaRPr sz="3600" b="1">
              <a:solidFill>
                <a:schemeClr val="lt1"/>
              </a:solidFill>
              <a:latin typeface="Lato"/>
              <a:ea typeface="Lato"/>
              <a:cs typeface="Lato"/>
              <a:sym typeface="Lato"/>
            </a:endParaRPr>
          </a:p>
        </p:txBody>
      </p:sp>
      <p:sp>
        <p:nvSpPr>
          <p:cNvPr id="284" name="Google Shape;284;p24"/>
          <p:cNvSpPr/>
          <p:nvPr/>
        </p:nvSpPr>
        <p:spPr>
          <a:xfrm>
            <a:off x="128016" y="1225265"/>
            <a:ext cx="9015984" cy="619862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What is an acceptable, technologically feasible level of system quality? When to stop testing is ok?</a:t>
            </a:r>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Google Cloud experienced an outage that took down entire platforms like Snapchat, Spotify, Pokemon GO. </a:t>
            </a:r>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Amazon Web Services (AWS) experienced an outage that took down Amazon’s own Alexa, and several enterprise services such as Atlassian, Slack, and Twilio.</a:t>
            </a:r>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Microsoft’s Azure service had an outage that effected its storage and networking service in Northern Europe.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The gray area is that some system errors are foreseeable and correctable only at great expense, expense so great that pursuing this level of perfection is not feasible economically—no one could afford the product. </a:t>
            </a:r>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5"/>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91" name="Google Shape;291;p25"/>
          <p:cNvSpPr txBox="1"/>
          <p:nvPr/>
        </p:nvSpPr>
        <p:spPr>
          <a:xfrm>
            <a:off x="539080" y="24936"/>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Quality of Life: Equity, Access, and Boundaries</a:t>
            </a:r>
            <a:endParaRPr sz="3600" b="1">
              <a:solidFill>
                <a:schemeClr val="lt1"/>
              </a:solidFill>
              <a:latin typeface="Lato"/>
              <a:ea typeface="Lato"/>
              <a:cs typeface="Lato"/>
              <a:sym typeface="Lato"/>
            </a:endParaRPr>
          </a:p>
        </p:txBody>
      </p:sp>
      <p:sp>
        <p:nvSpPr>
          <p:cNvPr id="292" name="Google Shape;292;p25"/>
          <p:cNvSpPr/>
          <p:nvPr/>
        </p:nvSpPr>
        <p:spPr>
          <a:xfrm>
            <a:off x="128016" y="1225265"/>
            <a:ext cx="9015984" cy="3724096"/>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Computers and information technologies potentially can destroy valuable elements of our culture and society even while they bring us benefits. </a:t>
            </a:r>
            <a:endParaRPr/>
          </a:p>
          <a:p>
            <a:pPr marL="342900" marR="0" lvl="0" indent="-342900" algn="l" rtl="0">
              <a:spcBef>
                <a:spcPts val="56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If there is a balance of good and bad consequences of using information systems, whom do we hold responsible for the bad consequences </a:t>
            </a:r>
            <a:endParaRPr/>
          </a:p>
          <a:p>
            <a:pPr marL="342900" marR="0" lvl="0" indent="-227330" algn="l" rtl="0">
              <a:spcBef>
                <a:spcPts val="560"/>
              </a:spcBef>
              <a:spcAft>
                <a:spcPts val="0"/>
              </a:spcAft>
              <a:buClr>
                <a:srgbClr val="CC9900"/>
              </a:buClr>
              <a:buSzPts val="1820"/>
              <a:buFont typeface="Noto Sans Symbols"/>
              <a:buNone/>
            </a:pPr>
            <a:endParaRPr sz="2800">
              <a:solidFill>
                <a:srgbClr val="000000"/>
              </a:solidFill>
              <a:latin typeface="Arial"/>
              <a:ea typeface="Arial"/>
              <a:cs typeface="Arial"/>
              <a:sym typeface="Arial"/>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6"/>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299" name="Google Shape;299;p26"/>
          <p:cNvSpPr txBox="1"/>
          <p:nvPr/>
        </p:nvSpPr>
        <p:spPr>
          <a:xfrm>
            <a:off x="539080" y="24936"/>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Quality of Life: Equity, Access, and Boundaries</a:t>
            </a:r>
            <a:endParaRPr sz="3600" b="1">
              <a:solidFill>
                <a:schemeClr val="lt1"/>
              </a:solidFill>
              <a:latin typeface="Lato"/>
              <a:ea typeface="Lato"/>
              <a:cs typeface="Lato"/>
              <a:sym typeface="Lato"/>
            </a:endParaRPr>
          </a:p>
        </p:txBody>
      </p:sp>
      <p:sp>
        <p:nvSpPr>
          <p:cNvPr id="300" name="Google Shape;300;p26"/>
          <p:cNvSpPr/>
          <p:nvPr/>
        </p:nvSpPr>
        <p:spPr>
          <a:xfrm>
            <a:off x="128016" y="1225265"/>
            <a:ext cx="9015984" cy="5164491"/>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Big Tech: Concentrating Economic and Political Power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Amazon: Half of retail e-commerce</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Google: 87 percent of online search</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Netflix: 75 % of video streamers</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Microsoft: 90% of PCs using WIndows</a:t>
            </a:r>
            <a:endParaRPr sz="2400" b="0" i="0" u="none" strike="noStrike" cap="none">
              <a:solidFill>
                <a:srgbClr val="000000"/>
              </a:solidFill>
              <a:latin typeface="Arial"/>
              <a:ea typeface="Arial"/>
              <a:cs typeface="Arial"/>
              <a:sym typeface="Arial"/>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 .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Critics point out that consumer welfare is harmed in other ways than price, namely, by preventing new, innovative companies from market access, or surviving long enough to prosper as independent firms. </a:t>
            </a:r>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27"/>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07" name="Google Shape;307;p27"/>
          <p:cNvSpPr txBox="1"/>
          <p:nvPr/>
        </p:nvSpPr>
        <p:spPr>
          <a:xfrm>
            <a:off x="539080" y="24936"/>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Quality of Life: Equity, Access, and Boundaries</a:t>
            </a:r>
            <a:endParaRPr sz="3600" b="1">
              <a:solidFill>
                <a:schemeClr val="lt1"/>
              </a:solidFill>
              <a:latin typeface="Lato"/>
              <a:ea typeface="Lato"/>
              <a:cs typeface="Lato"/>
              <a:sym typeface="Lato"/>
            </a:endParaRPr>
          </a:p>
        </p:txBody>
      </p:sp>
      <p:sp>
        <p:nvSpPr>
          <p:cNvPr id="308" name="Google Shape;308;p27"/>
          <p:cNvSpPr/>
          <p:nvPr/>
        </p:nvSpPr>
        <p:spPr>
          <a:xfrm>
            <a:off x="128016" y="1225265"/>
            <a:ext cx="9015984" cy="6124754"/>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Rapidity of Change: Reduced Response Time to Competition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Information systems have helped to create much more efficient national and international markets.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Today’s rapid-moving global marketplace has reduced the normal social buffers that permitted businesses many years to adjust to competition.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Time-based competition has an ugly side; the business you work for may not have enough time to respond to global competitors and may be wiped out in a year along with your job.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We stand the risk of developing a just-in-time society with just-in-time jobs and just-in-time workplaces, families, and vacations. One impact of Uber and on-demand services firms is to create just-in-time jobs with no benefits/insurance for employees. </a:t>
            </a:r>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8"/>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15" name="Google Shape;315;p28"/>
          <p:cNvSpPr txBox="1"/>
          <p:nvPr/>
        </p:nvSpPr>
        <p:spPr>
          <a:xfrm>
            <a:off x="539080" y="24936"/>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Quality of Life: Equity, Access, and Boundaries</a:t>
            </a:r>
            <a:endParaRPr sz="3600" b="1">
              <a:solidFill>
                <a:schemeClr val="lt1"/>
              </a:solidFill>
              <a:latin typeface="Lato"/>
              <a:ea typeface="Lato"/>
              <a:cs typeface="Lato"/>
              <a:sym typeface="Lato"/>
            </a:endParaRPr>
          </a:p>
        </p:txBody>
      </p:sp>
      <p:sp>
        <p:nvSpPr>
          <p:cNvPr id="316" name="Google Shape;316;p28"/>
          <p:cNvSpPr/>
          <p:nvPr/>
        </p:nvSpPr>
        <p:spPr>
          <a:xfrm>
            <a:off x="128016" y="1225265"/>
            <a:ext cx="9015984" cy="2813078"/>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Maintaining Boundaries: Family, Work, and Leisure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The traditional boundaries that separate work from family and just plain leisure have been weakened. </a:t>
            </a:r>
            <a:endParaRPr/>
          </a:p>
          <a:p>
            <a:pPr marL="800100" marR="0" lvl="1" indent="-227330" algn="l" rtl="0">
              <a:spcBef>
                <a:spcPts val="560"/>
              </a:spcBef>
              <a:spcAft>
                <a:spcPts val="0"/>
              </a:spcAft>
              <a:buClr>
                <a:srgbClr val="CC9900"/>
              </a:buClr>
              <a:buSzPts val="1820"/>
              <a:buFont typeface="Noto Sans Symbols"/>
              <a:buNone/>
            </a:pPr>
            <a:endParaRPr sz="2800" b="0" i="0" u="none" strike="noStrike" cap="none">
              <a:solidFill>
                <a:srgbClr val="000000"/>
              </a:solidFill>
              <a:latin typeface="Arial"/>
              <a:ea typeface="Arial"/>
              <a:cs typeface="Arial"/>
              <a:sym typeface="Arial"/>
            </a:endParaRPr>
          </a:p>
          <a:p>
            <a:pPr marL="342900" marR="0" lvl="0" indent="-227330" algn="l" rtl="0">
              <a:spcBef>
                <a:spcPts val="560"/>
              </a:spcBef>
              <a:spcAft>
                <a:spcPts val="0"/>
              </a:spcAft>
              <a:buClr>
                <a:srgbClr val="CC9900"/>
              </a:buClr>
              <a:buSzPts val="1820"/>
              <a:buFont typeface="Noto Sans Symbols"/>
              <a:buNone/>
            </a:pPr>
            <a:endParaRPr sz="2800">
              <a:solidFill>
                <a:srgbClr val="000000"/>
              </a:solidFill>
              <a:latin typeface="Arial"/>
              <a:ea typeface="Arial"/>
              <a:cs typeface="Arial"/>
              <a:sym typeface="Arial"/>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p:txBody>
      </p:sp>
      <p:pic>
        <p:nvPicPr>
          <p:cNvPr id="317" name="Google Shape;317;p28" descr="A person and a baby using a computer&#10;&#10;Description automatically generated with medium confidence"/>
          <p:cNvPicPr preferRelativeResize="0"/>
          <p:nvPr/>
        </p:nvPicPr>
        <p:blipFill rotWithShape="1">
          <a:blip r:embed="rId3">
            <a:alphaModFix/>
          </a:blip>
          <a:srcRect/>
          <a:stretch/>
        </p:blipFill>
        <p:spPr>
          <a:xfrm>
            <a:off x="1914525" y="2821831"/>
            <a:ext cx="5005387" cy="332814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9"/>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24" name="Google Shape;324;p29"/>
          <p:cNvSpPr txBox="1"/>
          <p:nvPr/>
        </p:nvSpPr>
        <p:spPr>
          <a:xfrm>
            <a:off x="539080" y="24936"/>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Quality of Life: Equity, Access, and Boundaries</a:t>
            </a:r>
            <a:endParaRPr sz="3600" b="1">
              <a:solidFill>
                <a:schemeClr val="lt1"/>
              </a:solidFill>
              <a:latin typeface="Lato"/>
              <a:ea typeface="Lato"/>
              <a:cs typeface="Lato"/>
              <a:sym typeface="Lato"/>
            </a:endParaRPr>
          </a:p>
        </p:txBody>
      </p:sp>
      <p:sp>
        <p:nvSpPr>
          <p:cNvPr id="325" name="Google Shape;325;p29"/>
          <p:cNvSpPr/>
          <p:nvPr/>
        </p:nvSpPr>
        <p:spPr>
          <a:xfrm>
            <a:off x="128016" y="1225265"/>
            <a:ext cx="9015984" cy="436427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Dependence and Vulnerability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Today, our businesses, governments, schools, and private associations are incredibly dependent on information systems</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Therefore, highly vulnerable if these systems fail.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Think of what would happen if the nation’s electric power grid shut down, with no backup structure to make up for the loss of the system?</a:t>
            </a:r>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a:p>
            <a:pPr marL="342900" marR="0" lvl="0" indent="-227330" algn="l" rtl="0">
              <a:spcBef>
                <a:spcPts val="560"/>
              </a:spcBef>
              <a:spcAft>
                <a:spcPts val="0"/>
              </a:spcAft>
              <a:buClr>
                <a:srgbClr val="CC9900"/>
              </a:buClr>
              <a:buSzPts val="1820"/>
              <a:buFont typeface="Noto Sans Symbols"/>
              <a:buNone/>
            </a:pPr>
            <a:endParaRPr sz="2800">
              <a:solidFill>
                <a:srgbClr val="000000"/>
              </a:solidFill>
              <a:latin typeface="Arial"/>
              <a:ea typeface="Arial"/>
              <a:cs typeface="Arial"/>
              <a:sym typeface="Arial"/>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0"/>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32" name="Google Shape;332;p30"/>
          <p:cNvSpPr txBox="1"/>
          <p:nvPr/>
        </p:nvSpPr>
        <p:spPr>
          <a:xfrm>
            <a:off x="539080" y="24936"/>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Quality of Life: Equity, Access, and Boundaries</a:t>
            </a:r>
            <a:endParaRPr sz="3600" b="1">
              <a:solidFill>
                <a:schemeClr val="lt1"/>
              </a:solidFill>
              <a:latin typeface="Lato"/>
              <a:ea typeface="Lato"/>
              <a:cs typeface="Lato"/>
              <a:sym typeface="Lato"/>
            </a:endParaRPr>
          </a:p>
        </p:txBody>
      </p:sp>
      <p:sp>
        <p:nvSpPr>
          <p:cNvPr id="333" name="Google Shape;333;p30"/>
          <p:cNvSpPr/>
          <p:nvPr/>
        </p:nvSpPr>
        <p:spPr>
          <a:xfrm>
            <a:off x="128016" y="1225265"/>
            <a:ext cx="9015984" cy="6875728"/>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Computer Crime and Abuse </a:t>
            </a:r>
            <a:endParaRPr/>
          </a:p>
          <a:p>
            <a:pPr marL="800100" marR="0" lvl="1" indent="-342900" algn="l" rtl="0">
              <a:spcBef>
                <a:spcPts val="560"/>
              </a:spcBef>
              <a:spcAft>
                <a:spcPts val="0"/>
              </a:spcAft>
              <a:buClr>
                <a:srgbClr val="CC9900"/>
              </a:buClr>
              <a:buSzPts val="1820"/>
              <a:buFont typeface="Noto Sans Symbols"/>
              <a:buChar char="■"/>
            </a:pPr>
            <a:r>
              <a:rPr lang="en-ID" sz="2800" b="0" i="0" u="none" strike="noStrike" cap="none">
                <a:solidFill>
                  <a:srgbClr val="000000"/>
                </a:solidFill>
                <a:latin typeface="Arial"/>
                <a:ea typeface="Arial"/>
                <a:cs typeface="Arial"/>
                <a:sym typeface="Arial"/>
              </a:rPr>
              <a:t>Computer Crime</a:t>
            </a:r>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The commission of illegal acts by using a computer or against a computer system. </a:t>
            </a:r>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Malware, phishing, network interruption, spyware, and denial of service attacks. </a:t>
            </a:r>
            <a:endParaRPr/>
          </a:p>
          <a:p>
            <a:pPr marL="800100" marR="0" lvl="1" indent="-342900" algn="l" rtl="0">
              <a:spcBef>
                <a:spcPts val="560"/>
              </a:spcBef>
              <a:spcAft>
                <a:spcPts val="0"/>
              </a:spcAft>
              <a:buClr>
                <a:srgbClr val="CC9900"/>
              </a:buClr>
              <a:buSzPts val="1820"/>
              <a:buFont typeface="Noto Sans Symbols"/>
              <a:buChar char="■"/>
            </a:pPr>
            <a:r>
              <a:rPr lang="en-ID" sz="2800" b="0" i="0" u="none" strike="noStrike" cap="none">
                <a:solidFill>
                  <a:srgbClr val="000000"/>
                </a:solidFill>
                <a:latin typeface="Arial"/>
                <a:ea typeface="Arial"/>
                <a:cs typeface="Arial"/>
                <a:sym typeface="Arial"/>
              </a:rPr>
              <a:t>Computer Abuse</a:t>
            </a:r>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The commission of acts involving a computer that may not be illegal but are considered unethical </a:t>
            </a:r>
            <a:endParaRPr/>
          </a:p>
          <a:p>
            <a:pPr marL="1257300" marR="0" lvl="2"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Spamming </a:t>
            </a:r>
            <a:endParaRPr/>
          </a:p>
          <a:p>
            <a:pPr marL="1257300" marR="0" lvl="2" indent="-243839" algn="l" rtl="0">
              <a:spcBef>
                <a:spcPts val="480"/>
              </a:spcBef>
              <a:spcAft>
                <a:spcPts val="0"/>
              </a:spcAft>
              <a:buClr>
                <a:srgbClr val="CC9900"/>
              </a:buClr>
              <a:buSzPts val="1560"/>
              <a:buFont typeface="Noto Sans Symbols"/>
              <a:buNone/>
            </a:pPr>
            <a:endParaRPr sz="2400" b="0" i="0" u="none" strike="noStrike" cap="none">
              <a:solidFill>
                <a:schemeClr val="dk1"/>
              </a:solidFill>
              <a:latin typeface="Calibri"/>
              <a:ea typeface="Calibri"/>
              <a:cs typeface="Calibri"/>
              <a:sym typeface="Calibri"/>
            </a:endParaRPr>
          </a:p>
          <a:p>
            <a:pPr marL="1257300" marR="0" lvl="2" indent="-227330" algn="l" rtl="0">
              <a:spcBef>
                <a:spcPts val="560"/>
              </a:spcBef>
              <a:spcAft>
                <a:spcPts val="0"/>
              </a:spcAft>
              <a:buClr>
                <a:srgbClr val="CC9900"/>
              </a:buClr>
              <a:buSzPts val="1820"/>
              <a:buFont typeface="Noto Sans Symbols"/>
              <a:buNone/>
            </a:pPr>
            <a:endParaRPr sz="2800" b="0" i="0" u="none" strike="noStrike" cap="none">
              <a:solidFill>
                <a:srgbClr val="000000"/>
              </a:solidFill>
              <a:latin typeface="Arial"/>
              <a:ea typeface="Arial"/>
              <a:cs typeface="Arial"/>
              <a:sym typeface="Arial"/>
            </a:endParaRPr>
          </a:p>
          <a:p>
            <a:pPr marL="800100" marR="0" lvl="1" indent="-227330" algn="l" rtl="0">
              <a:spcBef>
                <a:spcPts val="560"/>
              </a:spcBef>
              <a:spcAft>
                <a:spcPts val="0"/>
              </a:spcAft>
              <a:buClr>
                <a:srgbClr val="CC9900"/>
              </a:buClr>
              <a:buSzPts val="1820"/>
              <a:buFont typeface="Noto Sans Symbols"/>
              <a:buNone/>
            </a:pPr>
            <a:endParaRPr sz="2800" b="0" i="0" u="none" strike="noStrike" cap="none">
              <a:solidFill>
                <a:srgbClr val="000000"/>
              </a:solidFill>
              <a:latin typeface="Arial"/>
              <a:ea typeface="Arial"/>
              <a:cs typeface="Arial"/>
              <a:sym typeface="Arial"/>
            </a:endParaRPr>
          </a:p>
          <a:p>
            <a:pPr marL="342900" marR="0" lvl="0" indent="-227330" algn="l" rtl="0">
              <a:spcBef>
                <a:spcPts val="560"/>
              </a:spcBef>
              <a:spcAft>
                <a:spcPts val="0"/>
              </a:spcAft>
              <a:buClr>
                <a:srgbClr val="CC9900"/>
              </a:buClr>
              <a:buSzPts val="1820"/>
              <a:buFont typeface="Noto Sans Symbols"/>
              <a:buNone/>
            </a:pPr>
            <a:endParaRPr sz="2800">
              <a:solidFill>
                <a:srgbClr val="000000"/>
              </a:solidFill>
              <a:latin typeface="Arial"/>
              <a:ea typeface="Arial"/>
              <a:cs typeface="Arial"/>
              <a:sym typeface="Arial"/>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1"/>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40" name="Google Shape;340;p31"/>
          <p:cNvSpPr txBox="1"/>
          <p:nvPr/>
        </p:nvSpPr>
        <p:spPr>
          <a:xfrm>
            <a:off x="539080" y="24936"/>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Quality of Life: Equity, Access, and Boundaries</a:t>
            </a:r>
            <a:endParaRPr sz="3600" b="1">
              <a:solidFill>
                <a:schemeClr val="lt1"/>
              </a:solidFill>
              <a:latin typeface="Lato"/>
              <a:ea typeface="Lato"/>
              <a:cs typeface="Lato"/>
              <a:sym typeface="Lato"/>
            </a:endParaRPr>
          </a:p>
        </p:txBody>
      </p:sp>
      <p:sp>
        <p:nvSpPr>
          <p:cNvPr id="341" name="Google Shape;341;p31"/>
          <p:cNvSpPr/>
          <p:nvPr/>
        </p:nvSpPr>
        <p:spPr>
          <a:xfrm>
            <a:off x="128016" y="1225265"/>
            <a:ext cx="9015984" cy="449969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Employment: Trickle-Down Technology and Reengineering Job Loss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Arial"/>
                <a:ea typeface="Arial"/>
                <a:cs typeface="Arial"/>
                <a:sym typeface="Arial"/>
              </a:rPr>
              <a:t>R</a:t>
            </a:r>
            <a:r>
              <a:rPr lang="en-ID" sz="2400" b="0" i="0" u="none" strike="noStrike" cap="none">
                <a:solidFill>
                  <a:schemeClr val="dk1"/>
                </a:solidFill>
                <a:latin typeface="Calibri"/>
                <a:ea typeface="Calibri"/>
                <a:cs typeface="Calibri"/>
                <a:sym typeface="Calibri"/>
              </a:rPr>
              <a:t>edesigning business processes has caused millions of mid-level factory managers and clerical workers to lose their jobs.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But new technologies also created as many or more new jobs than they destroyed </a:t>
            </a:r>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chemeClr val="dk1"/>
              </a:solidFill>
              <a:latin typeface="Calibri"/>
              <a:ea typeface="Calibri"/>
              <a:cs typeface="Calibri"/>
              <a:sym typeface="Calibri"/>
            </a:endParaRPr>
          </a:p>
          <a:p>
            <a:pPr marL="800100" marR="0" lvl="1" indent="-227330" algn="l" rtl="0">
              <a:spcBef>
                <a:spcPts val="560"/>
              </a:spcBef>
              <a:spcAft>
                <a:spcPts val="0"/>
              </a:spcAft>
              <a:buClr>
                <a:srgbClr val="CC9900"/>
              </a:buClr>
              <a:buSzPts val="1820"/>
              <a:buFont typeface="Noto Sans Symbols"/>
              <a:buNone/>
            </a:pPr>
            <a:endParaRPr sz="2800" b="0" i="0" u="none" strike="noStrike" cap="none">
              <a:solidFill>
                <a:srgbClr val="000000"/>
              </a:solidFill>
              <a:latin typeface="Arial"/>
              <a:ea typeface="Arial"/>
              <a:cs typeface="Arial"/>
              <a:sym typeface="Arial"/>
            </a:endParaRPr>
          </a:p>
          <a:p>
            <a:pPr marL="342900" marR="0" lvl="0" indent="-227330" algn="l" rtl="0">
              <a:spcBef>
                <a:spcPts val="560"/>
              </a:spcBef>
              <a:spcAft>
                <a:spcPts val="0"/>
              </a:spcAft>
              <a:buClr>
                <a:srgbClr val="CC9900"/>
              </a:buClr>
              <a:buSzPts val="1820"/>
              <a:buFont typeface="Noto Sans Symbols"/>
              <a:buNone/>
            </a:pPr>
            <a:endParaRPr sz="2800">
              <a:solidFill>
                <a:srgbClr val="000000"/>
              </a:solidFill>
              <a:latin typeface="Arial"/>
              <a:ea typeface="Arial"/>
              <a:cs typeface="Arial"/>
              <a:sym typeface="Arial"/>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2"/>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48" name="Google Shape;348;p32"/>
          <p:cNvSpPr txBox="1"/>
          <p:nvPr/>
        </p:nvSpPr>
        <p:spPr>
          <a:xfrm>
            <a:off x="539080" y="24936"/>
            <a:ext cx="806584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Quality of Life: Equity, Access, and Boundaries</a:t>
            </a:r>
            <a:endParaRPr sz="3600" b="1">
              <a:solidFill>
                <a:schemeClr val="lt1"/>
              </a:solidFill>
              <a:latin typeface="Lato"/>
              <a:ea typeface="Lato"/>
              <a:cs typeface="Lato"/>
              <a:sym typeface="Lato"/>
            </a:endParaRPr>
          </a:p>
        </p:txBody>
      </p:sp>
      <p:sp>
        <p:nvSpPr>
          <p:cNvPr id="349" name="Google Shape;349;p32"/>
          <p:cNvSpPr/>
          <p:nvPr/>
        </p:nvSpPr>
        <p:spPr>
          <a:xfrm>
            <a:off x="128016" y="1225265"/>
            <a:ext cx="9015984" cy="368716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C9900"/>
              </a:buClr>
              <a:buSzPts val="1820"/>
              <a:buFont typeface="Noto Sans Symbols"/>
              <a:buChar char="■"/>
            </a:pPr>
            <a:r>
              <a:rPr lang="en-ID" sz="2800">
                <a:solidFill>
                  <a:srgbClr val="000000"/>
                </a:solidFill>
                <a:latin typeface="Arial"/>
                <a:ea typeface="Arial"/>
                <a:cs typeface="Arial"/>
                <a:sym typeface="Arial"/>
              </a:rPr>
              <a:t>Equity and Access: Increasing Racial and Social Class Cleavages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chemeClr val="dk1"/>
                </a:solidFill>
                <a:latin typeface="Calibri"/>
                <a:ea typeface="Calibri"/>
                <a:cs typeface="Calibri"/>
                <a:sym typeface="Calibri"/>
              </a:rPr>
              <a:t>Does everyone have an equal opportunity to participate in the digital age? </a:t>
            </a:r>
            <a:endParaRPr/>
          </a:p>
          <a:p>
            <a:pPr marL="800100" marR="0" lvl="1" indent="-342900" algn="l" rtl="0">
              <a:spcBef>
                <a:spcPts val="480"/>
              </a:spcBef>
              <a:spcAft>
                <a:spcPts val="0"/>
              </a:spcAft>
              <a:buClr>
                <a:srgbClr val="CC9900"/>
              </a:buClr>
              <a:buSzPts val="1560"/>
              <a:buFont typeface="Noto Sans Symbols"/>
              <a:buChar char="■"/>
            </a:pPr>
            <a:r>
              <a:rPr lang="en-ID" sz="2400" b="0" i="0" u="none" strike="noStrike" cap="none">
                <a:solidFill>
                  <a:srgbClr val="000000"/>
                </a:solidFill>
                <a:latin typeface="Calibri"/>
                <a:ea typeface="Calibri"/>
                <a:cs typeface="Calibri"/>
                <a:sym typeface="Calibri"/>
              </a:rPr>
              <a:t>Digital divide</a:t>
            </a:r>
            <a:endParaRPr/>
          </a:p>
          <a:p>
            <a:pPr marL="800100" marR="0" lvl="1" indent="-227330" algn="l" rtl="0">
              <a:spcBef>
                <a:spcPts val="560"/>
              </a:spcBef>
              <a:spcAft>
                <a:spcPts val="0"/>
              </a:spcAft>
              <a:buClr>
                <a:srgbClr val="CC9900"/>
              </a:buClr>
              <a:buSzPts val="1820"/>
              <a:buFont typeface="Noto Sans Symbols"/>
              <a:buNone/>
            </a:pPr>
            <a:endParaRPr sz="2800" b="0" i="0" u="none" strike="noStrike" cap="none">
              <a:solidFill>
                <a:srgbClr val="000000"/>
              </a:solidFill>
              <a:latin typeface="Arial"/>
              <a:ea typeface="Arial"/>
              <a:cs typeface="Arial"/>
              <a:sym typeface="Arial"/>
            </a:endParaRPr>
          </a:p>
          <a:p>
            <a:pPr marL="342900" marR="0" lvl="0" indent="-227330" algn="l" rtl="0">
              <a:spcBef>
                <a:spcPts val="560"/>
              </a:spcBef>
              <a:spcAft>
                <a:spcPts val="0"/>
              </a:spcAft>
              <a:buClr>
                <a:srgbClr val="CC9900"/>
              </a:buClr>
              <a:buSzPts val="1820"/>
              <a:buFont typeface="Noto Sans Symbols"/>
              <a:buNone/>
            </a:pPr>
            <a:endParaRPr sz="2800">
              <a:solidFill>
                <a:srgbClr val="000000"/>
              </a:solidFill>
              <a:latin typeface="Arial"/>
              <a:ea typeface="Arial"/>
              <a:cs typeface="Arial"/>
              <a:sym typeface="Arial"/>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3"/>
          <p:cNvSpPr/>
          <p:nvPr/>
        </p:nvSpPr>
        <p:spPr>
          <a:xfrm>
            <a:off x="0" y="0"/>
            <a:ext cx="9144000" cy="122526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ato Light"/>
              <a:ea typeface="Lato Light"/>
              <a:cs typeface="Lato Light"/>
              <a:sym typeface="Lato Light"/>
            </a:endParaRPr>
          </a:p>
        </p:txBody>
      </p:sp>
      <p:sp>
        <p:nvSpPr>
          <p:cNvPr id="356" name="Google Shape;356;p33"/>
          <p:cNvSpPr txBox="1"/>
          <p:nvPr/>
        </p:nvSpPr>
        <p:spPr>
          <a:xfrm>
            <a:off x="539080" y="24936"/>
            <a:ext cx="806584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D" sz="3600" b="1">
                <a:solidFill>
                  <a:schemeClr val="lt1"/>
                </a:solidFill>
                <a:latin typeface="Lato"/>
                <a:ea typeface="Lato"/>
                <a:cs typeface="Lato"/>
                <a:sym typeface="Lato"/>
              </a:rPr>
              <a:t>Reference</a:t>
            </a:r>
            <a:endParaRPr sz="3600" b="1">
              <a:solidFill>
                <a:schemeClr val="lt1"/>
              </a:solidFill>
              <a:latin typeface="Lato"/>
              <a:ea typeface="Lato"/>
              <a:cs typeface="Lato"/>
              <a:sym typeface="Lato"/>
            </a:endParaRPr>
          </a:p>
        </p:txBody>
      </p:sp>
      <p:sp>
        <p:nvSpPr>
          <p:cNvPr id="357" name="Google Shape;357;p33"/>
          <p:cNvSpPr/>
          <p:nvPr/>
        </p:nvSpPr>
        <p:spPr>
          <a:xfrm>
            <a:off x="128016" y="1225265"/>
            <a:ext cx="9015984" cy="2733056"/>
          </a:xfrm>
          <a:prstGeom prst="rect">
            <a:avLst/>
          </a:prstGeom>
          <a:noFill/>
          <a:ln>
            <a:noFill/>
          </a:ln>
        </p:spPr>
        <p:txBody>
          <a:bodyPr spcFirstLastPara="1" wrap="square" lIns="91425" tIns="45700" rIns="91425" bIns="45700" anchor="t" anchorCtr="0">
            <a:spAutoFit/>
          </a:bodyPr>
          <a:lstStyle/>
          <a:p>
            <a:pPr marL="800100" marR="0" lvl="1" indent="-342900" algn="l" rtl="0">
              <a:spcBef>
                <a:spcPts val="0"/>
              </a:spcBef>
              <a:spcAft>
                <a:spcPts val="0"/>
              </a:spcAft>
              <a:buClr>
                <a:srgbClr val="CC9900"/>
              </a:buClr>
              <a:buSzPts val="1170"/>
              <a:buFont typeface="Noto Sans Symbols"/>
              <a:buChar char="■"/>
            </a:pPr>
            <a:r>
              <a:rPr lang="en-ID" sz="1800" b="0" i="0" u="none" strike="noStrike" cap="none">
                <a:solidFill>
                  <a:schemeClr val="dk1"/>
                </a:solidFill>
                <a:latin typeface="Calibri"/>
                <a:ea typeface="Calibri"/>
                <a:cs typeface="Calibri"/>
                <a:sym typeface="Calibri"/>
              </a:rPr>
              <a:t>Essentials of Management Information Systems, 14Ed</a:t>
            </a:r>
            <a:br>
              <a:rPr lang="en-ID" sz="1800" b="0" i="0" u="none" strike="noStrike" cap="none">
                <a:solidFill>
                  <a:schemeClr val="dk1"/>
                </a:solidFill>
                <a:latin typeface="Calibri"/>
                <a:ea typeface="Calibri"/>
                <a:cs typeface="Calibri"/>
                <a:sym typeface="Calibri"/>
              </a:rPr>
            </a:br>
            <a:r>
              <a:rPr lang="en-ID" sz="1800" b="0" i="0" u="none" strike="noStrike" cap="none">
                <a:solidFill>
                  <a:schemeClr val="dk1"/>
                </a:solidFill>
                <a:latin typeface="Calibri"/>
                <a:ea typeface="Calibri"/>
                <a:cs typeface="Calibri"/>
                <a:sym typeface="Calibri"/>
              </a:rPr>
              <a:t>Kenneth C. Laudon , Jane P. Laudon </a:t>
            </a:r>
            <a:br>
              <a:rPr lang="en-ID" sz="1800" b="0" i="0" u="none" strike="noStrike" cap="none">
                <a:solidFill>
                  <a:schemeClr val="dk1"/>
                </a:solidFill>
                <a:latin typeface="Calibri"/>
                <a:ea typeface="Calibri"/>
                <a:cs typeface="Calibri"/>
                <a:sym typeface="Calibri"/>
              </a:rPr>
            </a:br>
            <a:r>
              <a:rPr lang="en-ID" sz="1800" b="0" i="0" u="none" strike="noStrike" cap="none">
                <a:solidFill>
                  <a:schemeClr val="dk1"/>
                </a:solidFill>
                <a:latin typeface="Calibri"/>
                <a:ea typeface="Calibri"/>
                <a:cs typeface="Calibri"/>
                <a:sym typeface="Calibri"/>
              </a:rPr>
              <a:t>2021, Pearson</a:t>
            </a:r>
            <a:endParaRPr/>
          </a:p>
          <a:p>
            <a:pPr marL="457200" marR="0" lvl="1" indent="0" algn="l" rtl="0">
              <a:spcBef>
                <a:spcPts val="360"/>
              </a:spcBef>
              <a:spcAft>
                <a:spcPts val="0"/>
              </a:spcAft>
              <a:buNone/>
            </a:pPr>
            <a:r>
              <a:rPr lang="en-ID" sz="1800" b="0" i="0" u="none" strike="noStrike" cap="none">
                <a:solidFill>
                  <a:schemeClr val="dk1"/>
                </a:solidFill>
                <a:latin typeface="Calibri"/>
                <a:ea typeface="Calibri"/>
                <a:cs typeface="Calibri"/>
                <a:sym typeface="Calibri"/>
              </a:rPr>
              <a:t> </a:t>
            </a:r>
            <a:endParaRPr sz="2800" b="0" i="0" u="none" strike="noStrike" cap="none">
              <a:solidFill>
                <a:schemeClr val="dk1"/>
              </a:solidFill>
              <a:latin typeface="Calibri"/>
              <a:ea typeface="Calibri"/>
              <a:cs typeface="Calibri"/>
              <a:sym typeface="Calibri"/>
            </a:endParaRPr>
          </a:p>
          <a:p>
            <a:pPr marL="800100" marR="0" lvl="1" indent="-227330" algn="l" rtl="0">
              <a:spcBef>
                <a:spcPts val="560"/>
              </a:spcBef>
              <a:spcAft>
                <a:spcPts val="0"/>
              </a:spcAft>
              <a:buClr>
                <a:srgbClr val="CC9900"/>
              </a:buClr>
              <a:buSzPts val="1820"/>
              <a:buFont typeface="Noto Sans Symbols"/>
              <a:buNone/>
            </a:pPr>
            <a:endParaRPr sz="2800" b="0" i="0" u="none" strike="noStrike" cap="none">
              <a:solidFill>
                <a:srgbClr val="000000"/>
              </a:solidFill>
              <a:latin typeface="Arial"/>
              <a:ea typeface="Arial"/>
              <a:cs typeface="Arial"/>
              <a:sym typeface="Arial"/>
            </a:endParaRPr>
          </a:p>
          <a:p>
            <a:pPr marL="342900" marR="0" lvl="0" indent="-227330" algn="l" rtl="0">
              <a:spcBef>
                <a:spcPts val="560"/>
              </a:spcBef>
              <a:spcAft>
                <a:spcPts val="0"/>
              </a:spcAft>
              <a:buClr>
                <a:srgbClr val="CC9900"/>
              </a:buClr>
              <a:buSzPts val="1820"/>
              <a:buFont typeface="Noto Sans Symbols"/>
              <a:buNone/>
            </a:pPr>
            <a:endParaRPr sz="2800">
              <a:solidFill>
                <a:srgbClr val="000000"/>
              </a:solidFill>
              <a:latin typeface="Arial"/>
              <a:ea typeface="Arial"/>
              <a:cs typeface="Arial"/>
              <a:sym typeface="Arial"/>
            </a:endParaRPr>
          </a:p>
          <a:p>
            <a:pPr marL="800100" marR="0" lvl="1" indent="-243840" algn="l" rtl="0">
              <a:spcBef>
                <a:spcPts val="480"/>
              </a:spcBef>
              <a:spcAft>
                <a:spcPts val="0"/>
              </a:spcAft>
              <a:buClr>
                <a:srgbClr val="CC9900"/>
              </a:buClr>
              <a:buSzPts val="1560"/>
              <a:buFont typeface="Noto Sans Symbols"/>
              <a:buNone/>
            </a:pPr>
            <a:endParaRPr sz="2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2497</Words>
  <Application>Microsoft Macintosh PowerPoint</Application>
  <PresentationFormat>On-screen Show (4:3)</PresentationFormat>
  <Paragraphs>246</Paragraphs>
  <Slides>33</Slides>
  <Notes>33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Lato Light</vt:lpstr>
      <vt:lpstr>Lato Black</vt:lpstr>
      <vt:lpstr>Calibri</vt:lpstr>
      <vt:lpstr>Noto Sans Symbols</vt:lpstr>
      <vt:lpstr>Lato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 G</dc:creator>
  <cp:lastModifiedBy>Ir. Windy Gambetta, M.B.A.</cp:lastModifiedBy>
  <cp:revision>1</cp:revision>
  <dcterms:created xsi:type="dcterms:W3CDTF">2016-08-24T04:55:45Z</dcterms:created>
  <dcterms:modified xsi:type="dcterms:W3CDTF">2025-05-20T23:56:43Z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2025-05-20T23:56:42Z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84d6d00c-5b0f-473e-91c2-27050b95f9fd</vt:lpwstr>
  </property>
  <property fmtid="{D5CDD505-2E9C-101B-9397-08002B2CF9AE}" pid="8" name="MSIP_Label_38b525e5-f3da-4501-8f1e-526b6769fc56_ContentBits">
    <vt:lpwstr>0</vt:lpwstr>
  </property>
  <property fmtid="{D5CDD505-2E9C-101B-9397-08002B2CF9AE}" pid="9" name="MSIP_Label_38b525e5-f3da-4501-8f1e-526b6769fc56_Tag">
    <vt:lpwstr>50, 3, 0, 1</vt:lpwstr>
  </property>
</Properties>
</file>