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31"/>
  </p:notesMasterIdLst>
  <p:sldIdLst>
    <p:sldId id="256" r:id="rId2"/>
    <p:sldId id="705" r:id="rId3"/>
    <p:sldId id="665" r:id="rId4"/>
    <p:sldId id="706" r:id="rId5"/>
    <p:sldId id="709" r:id="rId6"/>
    <p:sldId id="711" r:id="rId7"/>
    <p:sldId id="772" r:id="rId8"/>
    <p:sldId id="773" r:id="rId9"/>
    <p:sldId id="774" r:id="rId10"/>
    <p:sldId id="778" r:id="rId11"/>
    <p:sldId id="261" r:id="rId12"/>
    <p:sldId id="293" r:id="rId13"/>
    <p:sldId id="294" r:id="rId14"/>
    <p:sldId id="337" r:id="rId15"/>
    <p:sldId id="263" r:id="rId16"/>
    <p:sldId id="331" r:id="rId17"/>
    <p:sldId id="264" r:id="rId18"/>
    <p:sldId id="329" r:id="rId19"/>
    <p:sldId id="330" r:id="rId20"/>
    <p:sldId id="265" r:id="rId21"/>
    <p:sldId id="332" r:id="rId22"/>
    <p:sldId id="267" r:id="rId23"/>
    <p:sldId id="338" r:id="rId24"/>
    <p:sldId id="336" r:id="rId25"/>
    <p:sldId id="333" r:id="rId26"/>
    <p:sldId id="328" r:id="rId27"/>
    <p:sldId id="777" r:id="rId28"/>
    <p:sldId id="776" r:id="rId29"/>
    <p:sldId id="66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7"/>
    <p:restoredTop sz="95658"/>
  </p:normalViewPr>
  <p:slideViewPr>
    <p:cSldViewPr snapToGrid="0" snapToObjects="1">
      <p:cViewPr varScale="1">
        <p:scale>
          <a:sx n="115" d="100"/>
          <a:sy n="115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7FF1-76BA-0343-A81F-165B65A21C0C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DDD7-C09C-3C45-8887-F762E18E90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70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C699807C-661A-2B71-CB17-53C0EF04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8052CA7C-E7FF-DA07-80B4-5078CEE4A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25937"/>
            <a:ext cx="5486400" cy="4098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>
            <a:extLst>
              <a:ext uri="{FF2B5EF4-FFF2-40B4-BE49-F238E27FC236}">
                <a16:creationId xmlns:a16="http://schemas.microsoft.com/office/drawing/2014/main" id="{3C6B1FB5-C4FC-EC76-8380-A19AB776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82625"/>
            <a:ext cx="6072188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09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3AF629EB-43E0-E7CD-1DCF-2C96839D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92A63C74-B700-EE8B-63DD-7E59534BD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25937"/>
            <a:ext cx="5486400" cy="4098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>
            <a:extLst>
              <a:ext uri="{FF2B5EF4-FFF2-40B4-BE49-F238E27FC236}">
                <a16:creationId xmlns:a16="http://schemas.microsoft.com/office/drawing/2014/main" id="{3F290464-A54D-671C-8207-9A4FA4F57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82625"/>
            <a:ext cx="6072188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031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F148D76-B262-4D3D-AB4C-D62D9F76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2D46F432-9174-E23B-50ED-1DA80D365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25937"/>
            <a:ext cx="5486400" cy="4098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>
            <a:extLst>
              <a:ext uri="{FF2B5EF4-FFF2-40B4-BE49-F238E27FC236}">
                <a16:creationId xmlns:a16="http://schemas.microsoft.com/office/drawing/2014/main" id="{D2CF7D6B-B718-9C36-F587-2FBA3C82F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82625"/>
            <a:ext cx="6072188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8862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AB2775F6-5CDF-32B2-D841-69B12148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4451E51D-0830-9E20-8B4E-32A106A39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25937"/>
            <a:ext cx="5486400" cy="4098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>
            <a:extLst>
              <a:ext uri="{FF2B5EF4-FFF2-40B4-BE49-F238E27FC236}">
                <a16:creationId xmlns:a16="http://schemas.microsoft.com/office/drawing/2014/main" id="{3530BE79-C040-6298-0D39-4669A07A3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82625"/>
            <a:ext cx="6072188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201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>
            <a:extLst>
              <a:ext uri="{FF2B5EF4-FFF2-40B4-BE49-F238E27FC236}">
                <a16:creationId xmlns:a16="http://schemas.microsoft.com/office/drawing/2014/main" id="{B468159D-8C8E-9743-A100-2FC0CAFE84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>
            <a:extLst>
              <a:ext uri="{FF2B5EF4-FFF2-40B4-BE49-F238E27FC236}">
                <a16:creationId xmlns:a16="http://schemas.microsoft.com/office/drawing/2014/main" id="{8BD2029B-04FE-184F-9597-9A11AD666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id-ID" altLang="en-US">
              <a:solidFill>
                <a:srgbClr val="000000"/>
              </a:solidFill>
            </a:endParaRP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7591270F-61C8-764A-BBF2-2B06E6E50E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1pPr>
            <a:lvl2pPr marL="742950" indent="-28575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2pPr>
            <a:lvl3pPr marL="11430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3pPr>
            <a:lvl4pPr marL="16002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4pPr>
            <a:lvl5pPr marL="20574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5pPr>
            <a:lvl6pPr marL="25146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6pPr>
            <a:lvl7pPr marL="29718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7pPr>
            <a:lvl8pPr marL="34290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8pPr>
            <a:lvl9pPr marL="38862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DF29740-8B50-BB4E-A763-12D297BAD8DC}" type="slidenum">
              <a:rPr lang="en-US" altLang="en-US" sz="1800">
                <a:latin typeface="Calibri" panose="020F0502020204030204" pitchFamily="34" charset="0"/>
                <a:ea typeface="Helvetica" pitchFamily="2" charset="0"/>
                <a:cs typeface="Arial" panose="020B0604020202020204" pitchFamily="34" charset="0"/>
                <a:sym typeface="Calibri" panose="020F050202020403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26</a:t>
            </a:fld>
            <a:endParaRPr lang="en-US" altLang="en-US" sz="1800">
              <a:latin typeface="Calibri" panose="020F0502020204030204" pitchFamily="34" charset="0"/>
              <a:ea typeface="Helvetica" pitchFamily="2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469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2D4F-380D-5D75-83EC-E99A8CAC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>
            <a:extLst>
              <a:ext uri="{FF2B5EF4-FFF2-40B4-BE49-F238E27FC236}">
                <a16:creationId xmlns:a16="http://schemas.microsoft.com/office/drawing/2014/main" id="{5CA5DA7A-C0ED-F941-12E9-6F6468211D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>
            <a:extLst>
              <a:ext uri="{FF2B5EF4-FFF2-40B4-BE49-F238E27FC236}">
                <a16:creationId xmlns:a16="http://schemas.microsoft.com/office/drawing/2014/main" id="{8162B8F2-BF00-8BB6-C41B-64E30BD5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id-ID" altLang="en-US">
              <a:solidFill>
                <a:srgbClr val="000000"/>
              </a:solidFill>
            </a:endParaRP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E138F5CC-DA7B-A9C6-E7CE-EA0421FA55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1pPr>
            <a:lvl2pPr marL="742950" indent="-28575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2pPr>
            <a:lvl3pPr marL="11430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3pPr>
            <a:lvl4pPr marL="16002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4pPr>
            <a:lvl5pPr marL="2057400" indent="-228600">
              <a:lnSpc>
                <a:spcPct val="118000"/>
              </a:lnSpc>
              <a:spcBef>
                <a:spcPct val="30000"/>
              </a:spcBef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5pPr>
            <a:lvl6pPr marL="25146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6pPr>
            <a:lvl7pPr marL="29718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7pPr>
            <a:lvl8pPr marL="34290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8pPr>
            <a:lvl9pPr marL="3886200" indent="-228600" defTabSz="457200" eaLnBrk="0" fontAlgn="base" hangingPunct="0">
              <a:lnSpc>
                <a:spcPct val="118000"/>
              </a:lnSpc>
              <a:spcBef>
                <a:spcPct val="3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fld id="{DDF29740-8B50-BB4E-A763-12D297BAD8DC}" type="slidenum">
              <a:rPr lang="en-US" altLang="en-US" sz="1800">
                <a:latin typeface="Calibri" panose="020F0502020204030204" pitchFamily="34" charset="0"/>
                <a:ea typeface="Helvetica" pitchFamily="2" charset="0"/>
                <a:cs typeface="Arial" panose="020B0604020202020204" pitchFamily="34" charset="0"/>
                <a:sym typeface="Calibri" panose="020F050202020403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t>27</a:t>
            </a:fld>
            <a:endParaRPr lang="en-US" altLang="en-US" sz="1800">
              <a:latin typeface="Calibri" panose="020F0502020204030204" pitchFamily="34" charset="0"/>
              <a:ea typeface="Helvetica" pitchFamily="2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99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2CA7679-762B-99A7-AB03-F9872485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34505BF7-0450-5713-206C-628C71AD0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25937"/>
            <a:ext cx="5486400" cy="4098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>
            <a:extLst>
              <a:ext uri="{FF2B5EF4-FFF2-40B4-BE49-F238E27FC236}">
                <a16:creationId xmlns:a16="http://schemas.microsoft.com/office/drawing/2014/main" id="{43489A65-1DAD-DD8C-F8DF-718EB8E7D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82625"/>
            <a:ext cx="6072188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904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1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0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1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6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5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3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4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55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10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249954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A9D943-3439-0347-BE6E-4B6B9FC2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09600" y="6356351"/>
            <a:ext cx="2844800" cy="366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2ABCB54-2747-5547-A355-5CFF6DD2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4165600" y="6356351"/>
            <a:ext cx="3860800" cy="366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F14863-66F3-5C4C-978A-6D67F19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1" y="6455833"/>
            <a:ext cx="2844800" cy="3661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C2AB2-9C1D-ED41-8976-0D8F73BE41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207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11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11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200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  <p:sldLayoutId id="2147483715" r:id="rId12"/>
    <p:sldLayoutId id="214748371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1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 spc="8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 spc="8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 spc="8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8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8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15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A8FDA66-67B4-4DBE-8354-C26F91ADB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0 w 12191999"/>
              <a:gd name="connsiteY0" fmla="*/ 0 h 6857999"/>
              <a:gd name="connsiteX1" fmla="*/ 12191999 w 12191999"/>
              <a:gd name="connsiteY1" fmla="*/ 0 h 6857999"/>
              <a:gd name="connsiteX2" fmla="*/ 12191999 w 12191999"/>
              <a:gd name="connsiteY2" fmla="*/ 6857999 h 6857999"/>
              <a:gd name="connsiteX3" fmla="*/ 0 w 12191999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0D442-A791-1B47-BE83-BC7B7144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536" y="5695313"/>
            <a:ext cx="5421681" cy="152400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School of Electrical Engineering and Informatics, ITB</a:t>
            </a:r>
          </a:p>
          <a:p>
            <a:pPr algn="l">
              <a:lnSpc>
                <a:spcPct val="115000"/>
              </a:lnSpc>
            </a:pPr>
            <a:endParaRPr lang="en-US" kern="1200" dirty="0">
              <a:solidFill>
                <a:schemeClr val="tx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3D purple chromosome design">
            <a:extLst>
              <a:ext uri="{FF2B5EF4-FFF2-40B4-BE49-F238E27FC236}">
                <a16:creationId xmlns:a16="http://schemas.microsoft.com/office/drawing/2014/main" id="{6686729C-39D4-CCCC-92F1-26CDB711F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" r="1804"/>
          <a:stretch/>
        </p:blipFill>
        <p:spPr>
          <a:xfrm>
            <a:off x="6913107" y="1530350"/>
            <a:ext cx="4455435" cy="45656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ABA9EB3-3D2D-37EA-E4B6-21EA35935126}"/>
              </a:ext>
            </a:extLst>
          </p:cNvPr>
          <p:cNvSpPr txBox="1">
            <a:spLocks/>
          </p:cNvSpPr>
          <p:nvPr/>
        </p:nvSpPr>
        <p:spPr>
          <a:xfrm>
            <a:off x="6543676" y="6211856"/>
            <a:ext cx="5741096" cy="513567"/>
          </a:xfrm>
          <a:prstGeom prst="rect">
            <a:avLst/>
          </a:prstGeom>
        </p:spPr>
        <p:txBody>
          <a:bodyPr lIns="109728" tIns="109728" rIns="109728" bIns="9144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</a:pPr>
            <a:r>
              <a:rPr lang="en-US" sz="1900" dirty="0"/>
              <a:t>Semester 2 2024-2025</a:t>
            </a:r>
          </a:p>
          <a:p>
            <a:pPr algn="l">
              <a:lnSpc>
                <a:spcPct val="115000"/>
              </a:lnSpc>
            </a:pPr>
            <a:endParaRPr lang="en-US" sz="1900" dirty="0"/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515FB295-B0AD-6CBE-150D-52ECC811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40732" y="-7844"/>
            <a:ext cx="4751267" cy="10809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252FB90-4371-3F54-A717-3F48B7A97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928" y="1222276"/>
            <a:ext cx="9198864" cy="228600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IF3141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Informasi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E70FED-268B-1E20-06AD-893B63E866BD}"/>
              </a:ext>
            </a:extLst>
          </p:cNvPr>
          <p:cNvSpPr txBox="1">
            <a:spLocks/>
          </p:cNvSpPr>
          <p:nvPr/>
        </p:nvSpPr>
        <p:spPr>
          <a:xfrm>
            <a:off x="215360" y="3651313"/>
            <a:ext cx="9198864" cy="13705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spc="1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err="1"/>
              <a:t>Minggu</a:t>
            </a:r>
            <a:r>
              <a:rPr lang="en-US" sz="3600" dirty="0"/>
              <a:t> 14</a:t>
            </a:r>
            <a:br>
              <a:rPr lang="en-US" sz="3600" dirty="0"/>
            </a:br>
            <a:r>
              <a:rPr lang="en-US" sz="3600" dirty="0" err="1"/>
              <a:t>Risiko</a:t>
            </a:r>
            <a:r>
              <a:rPr lang="en-US" sz="3600" dirty="0"/>
              <a:t> SI</a:t>
            </a:r>
          </a:p>
        </p:txBody>
      </p:sp>
    </p:spTree>
    <p:extLst>
      <p:ext uri="{BB962C8B-B14F-4D97-AF65-F5344CB8AC3E}">
        <p14:creationId xmlns:p14="http://schemas.microsoft.com/office/powerpoint/2010/main" val="369657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F660F546-19B4-6A10-7DA7-BC1DDEF54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>
            <a:extLst>
              <a:ext uri="{FF2B5EF4-FFF2-40B4-BE49-F238E27FC236}">
                <a16:creationId xmlns:a16="http://schemas.microsoft.com/office/drawing/2014/main" id="{4695EA2A-0309-22F8-DABB-0413D4CF3A16}"/>
              </a:ext>
            </a:extLst>
          </p:cNvPr>
          <p:cNvSpPr txBox="1"/>
          <p:nvPr/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400"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400"/>
              </a:pPr>
              <a:t>2</a:t>
            </a:fld>
            <a:endParaRPr/>
          </a:p>
        </p:txBody>
      </p:sp>
      <p:pic>
        <p:nvPicPr>
          <p:cNvPr id="154" name="Google Shape;154;p8" descr="obr43559_0103">
            <a:extLst>
              <a:ext uri="{FF2B5EF4-FFF2-40B4-BE49-F238E27FC236}">
                <a16:creationId xmlns:a16="http://schemas.microsoft.com/office/drawing/2014/main" id="{331FAD4F-8450-994D-9E81-4C591FFDD6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0092" y="1698173"/>
            <a:ext cx="6024562" cy="3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0B805824-441A-B036-0824-4D21430EC489}"/>
              </a:ext>
            </a:extLst>
          </p:cNvPr>
          <p:cNvSpPr txBox="1"/>
          <p:nvPr/>
        </p:nvSpPr>
        <p:spPr>
          <a:xfrm>
            <a:off x="1508126" y="17462"/>
            <a:ext cx="9159875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PERAN DASAR SISTEM INFORMASI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34DB1-4908-ED00-9E42-16F33CD07702}"/>
              </a:ext>
            </a:extLst>
          </p:cNvPr>
          <p:cNvSpPr txBox="1"/>
          <p:nvPr/>
        </p:nvSpPr>
        <p:spPr>
          <a:xfrm>
            <a:off x="7634761" y="4636609"/>
            <a:ext cx="3202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Para </a:t>
            </a:r>
            <a:r>
              <a:rPr lang="en-US" dirty="0" err="1"/>
              <a:t>Pelaksana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Mengolah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operasi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26AFD-F8FA-8EAD-ECAB-C26712361010}"/>
              </a:ext>
            </a:extLst>
          </p:cNvPr>
          <p:cNvSpPr txBox="1"/>
          <p:nvPr/>
        </p:nvSpPr>
        <p:spPr>
          <a:xfrm>
            <a:off x="6736928" y="3582924"/>
            <a:ext cx="5347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menengah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Mengolah</a:t>
            </a:r>
            <a:r>
              <a:rPr lang="en-US" dirty="0"/>
              <a:t> </a:t>
            </a:r>
            <a:r>
              <a:rPr lang="en-US" dirty="0" err="1"/>
              <a:t>pelaporan</a:t>
            </a:r>
            <a:r>
              <a:rPr lang="en-US" dirty="0"/>
              <a:t>,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keputusan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AC718-2316-2EE3-28D9-3332DFA53CAD}"/>
              </a:ext>
            </a:extLst>
          </p:cNvPr>
          <p:cNvSpPr txBox="1"/>
          <p:nvPr/>
        </p:nvSpPr>
        <p:spPr>
          <a:xfrm>
            <a:off x="5739797" y="2497527"/>
            <a:ext cx="4203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Puncak</a:t>
            </a:r>
            <a:endParaRPr lang="en-US" dirty="0"/>
          </a:p>
          <a:p>
            <a:r>
              <a:rPr lang="en-US" dirty="0"/>
              <a:t>- Analisa </a:t>
            </a:r>
            <a:r>
              <a:rPr lang="en-US" dirty="0" err="1"/>
              <a:t>bisnis</a:t>
            </a:r>
            <a:r>
              <a:rPr lang="en-US" dirty="0"/>
              <a:t> agar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berkompetisi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C9FD1-89C2-7F0D-7A7D-8AEEEC79B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073" y="1459685"/>
            <a:ext cx="2130316" cy="502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2363D-89BC-2339-FD00-B11F8A9F79E7}"/>
              </a:ext>
            </a:extLst>
          </p:cNvPr>
          <p:cNvSpPr txBox="1"/>
          <p:nvPr/>
        </p:nvSpPr>
        <p:spPr>
          <a:xfrm>
            <a:off x="4011904" y="5931351"/>
            <a:ext cx="1337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Fungsional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D90147-AC5F-95DE-90C3-D40F133E34A2}"/>
              </a:ext>
            </a:extLst>
          </p:cNvPr>
          <p:cNvCxnSpPr/>
          <p:nvPr/>
        </p:nvCxnSpPr>
        <p:spPr>
          <a:xfrm>
            <a:off x="2718485" y="5820032"/>
            <a:ext cx="39240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2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5D2-6645-B50A-D061-634BCE4A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047200"/>
            <a:ext cx="11360800" cy="763600"/>
          </a:xfrm>
        </p:spPr>
        <p:txBody>
          <a:bodyPr>
            <a:normAutofit fontScale="90000"/>
          </a:bodyPr>
          <a:lstStyle/>
          <a:p>
            <a:pPr algn="ctr"/>
            <a:r>
              <a:rPr lang="en-AU" b="1" dirty="0" err="1"/>
              <a:t>Risiko</a:t>
            </a:r>
            <a:r>
              <a:rPr lang="en-AU" b="1" dirty="0"/>
              <a:t> </a:t>
            </a:r>
            <a:r>
              <a:rPr lang="en-AU" b="1" dirty="0" err="1"/>
              <a:t>dalam</a:t>
            </a:r>
            <a:r>
              <a:rPr lang="en-AU" b="1" dirty="0"/>
              <a:t> </a:t>
            </a:r>
            <a:r>
              <a:rPr lang="en-AU" b="1" dirty="0" err="1"/>
              <a:t>Sistem</a:t>
            </a:r>
            <a:r>
              <a:rPr lang="en-AU" b="1" dirty="0"/>
              <a:t> </a:t>
            </a:r>
            <a:r>
              <a:rPr lang="en-AU" b="1" dirty="0" err="1"/>
              <a:t>Informasi</a:t>
            </a:r>
            <a:br>
              <a:rPr lang="en-AU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8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6FF00-2073-0590-ED8F-FB188A86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B25B5-0285-5A60-7BA8-4F27636E9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Risiko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adalah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efek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ID" sz="2800" b="0" i="0" u="sng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ketidakpastian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tentang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suatu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keadaan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akan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u="sng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terjadi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nantinya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(</a:t>
            </a:r>
            <a:r>
              <a:rPr lang="en-ID" sz="2800" b="0" i="1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future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),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apabila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terjadi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u="sng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bisa</a:t>
            </a:r>
            <a:r>
              <a:rPr lang="en-ID" sz="2800" b="0" i="0" u="sng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u="sng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menimbulk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an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suatu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kerugian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(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Risiko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negatif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) 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atau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peluang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(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Risiko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Helvetica" panose="020B0604020202020204" pitchFamily="34" charset="0"/>
              </a:rPr>
              <a:t>positif</a:t>
            </a:r>
            <a:r>
              <a:rPr lang="en-ID" sz="2800" dirty="0">
                <a:solidFill>
                  <a:schemeClr val="tx1"/>
                </a:solidFill>
                <a:latin typeface="Helvetica" panose="020B0604020202020204" pitchFamily="34" charset="0"/>
              </a:rPr>
              <a:t>)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ID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Risiko</a:t>
            </a:r>
            <a:r>
              <a:rPr lang="en-ID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D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perlu</a:t>
            </a:r>
            <a:r>
              <a:rPr lang="en-ID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D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ditangani</a:t>
            </a:r>
            <a:r>
              <a:rPr lang="en-ID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agar </a:t>
            </a:r>
            <a:r>
              <a:rPr lang="en-ID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kerugian</a:t>
            </a:r>
            <a:r>
              <a:rPr lang="en-ID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D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menjadi</a:t>
            </a:r>
            <a:r>
              <a:rPr lang="en-ID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minimal</a:t>
            </a:r>
          </a:p>
          <a:p>
            <a:pPr>
              <a:lnSpc>
                <a:spcPct val="150000"/>
              </a:lnSpc>
              <a:defRPr/>
            </a:pPr>
            <a:r>
              <a:rPr lang="en-ID" sz="2800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Apa </a:t>
            </a:r>
            <a:r>
              <a:rPr lang="en-ID" sz="2800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perbedaan</a:t>
            </a:r>
            <a:r>
              <a:rPr lang="en-ID" sz="2800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D" sz="2800" b="1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Risiko</a:t>
            </a:r>
            <a:r>
              <a:rPr lang="en-ID" sz="2800" b="1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ID" sz="2800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dan </a:t>
            </a:r>
            <a:r>
              <a:rPr lang="en-ID" sz="2800" b="1" kern="0" dirty="0" err="1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Konsekwensi</a:t>
            </a:r>
            <a:r>
              <a:rPr lang="en-ID" sz="2800" b="1" kern="0" dirty="0">
                <a:solidFill>
                  <a:schemeClr val="tx1"/>
                </a:solidFill>
                <a:latin typeface="Helvetica" panose="020B0604020202020204" pitchFamily="34" charset="0"/>
                <a:ea typeface="Calibri"/>
                <a:cs typeface="Calibri"/>
                <a:sym typeface="Calibri"/>
              </a:rPr>
              <a:t>?</a:t>
            </a:r>
            <a:endParaRPr lang="en-SG" sz="2800" b="1" kern="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CDC61D8B-B54B-3E34-4ECE-07852B497BDA}"/>
              </a:ext>
            </a:extLst>
          </p:cNvPr>
          <p:cNvSpPr txBox="1"/>
          <p:nvPr/>
        </p:nvSpPr>
        <p:spPr>
          <a:xfrm>
            <a:off x="1508126" y="17462"/>
            <a:ext cx="9159875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RISIKO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303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2325-5BEB-4418-D420-2DAF8021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35B74-102A-8EB3-370C-8611B0F4A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AU" b="1" dirty="0" err="1"/>
              <a:t>Risiko</a:t>
            </a:r>
            <a:r>
              <a:rPr lang="en-AU" b="1" dirty="0"/>
              <a:t> Teknis</a:t>
            </a:r>
            <a:r>
              <a:rPr lang="en-AU" dirty="0"/>
              <a:t>: bug, </a:t>
            </a:r>
            <a:r>
              <a:rPr lang="en-AU" dirty="0" err="1"/>
              <a:t>integrasi</a:t>
            </a:r>
            <a:r>
              <a:rPr lang="en-AU" dirty="0"/>
              <a:t> </a:t>
            </a:r>
            <a:r>
              <a:rPr lang="en-AU" dirty="0" err="1"/>
              <a:t>gagal</a:t>
            </a:r>
            <a:r>
              <a:rPr lang="en-AU" dirty="0"/>
              <a:t>, </a:t>
            </a:r>
            <a:r>
              <a:rPr lang="en-AU" dirty="0" err="1"/>
              <a:t>teknologi</a:t>
            </a:r>
            <a:r>
              <a:rPr lang="en-AU" dirty="0"/>
              <a:t> </a:t>
            </a:r>
            <a:r>
              <a:rPr lang="en-AU" dirty="0" err="1"/>
              <a:t>usang</a:t>
            </a:r>
            <a:r>
              <a:rPr lang="en-AU" dirty="0"/>
              <a:t>.</a:t>
            </a:r>
          </a:p>
          <a:p>
            <a:pPr>
              <a:buFont typeface="+mj-lt"/>
              <a:buAutoNum type="arabicPeriod"/>
            </a:pPr>
            <a:r>
              <a:rPr lang="en-AU" b="1" dirty="0" err="1"/>
              <a:t>Risiko</a:t>
            </a:r>
            <a:r>
              <a:rPr lang="en-AU" b="1" dirty="0"/>
              <a:t> </a:t>
            </a:r>
            <a:r>
              <a:rPr lang="en-AU" b="1" dirty="0" err="1"/>
              <a:t>Organisasi</a:t>
            </a:r>
            <a:r>
              <a:rPr lang="en-AU" dirty="0"/>
              <a:t>: </a:t>
            </a:r>
            <a:r>
              <a:rPr lang="en-AU" dirty="0" err="1"/>
              <a:t>tidak</a:t>
            </a:r>
            <a:r>
              <a:rPr lang="en-AU" dirty="0"/>
              <a:t> </a:t>
            </a:r>
            <a:r>
              <a:rPr lang="en-AU" dirty="0" err="1"/>
              <a:t>sesuai</a:t>
            </a:r>
            <a:r>
              <a:rPr lang="en-AU" dirty="0"/>
              <a:t> </a:t>
            </a:r>
            <a:r>
              <a:rPr lang="en-AU" dirty="0" err="1"/>
              <a:t>kebutuhan</a:t>
            </a:r>
            <a:r>
              <a:rPr lang="en-AU" dirty="0"/>
              <a:t>, </a:t>
            </a:r>
            <a:r>
              <a:rPr lang="en-AU" dirty="0" err="1"/>
              <a:t>resistensi</a:t>
            </a:r>
            <a:r>
              <a:rPr lang="en-AU" dirty="0"/>
              <a:t> </a:t>
            </a:r>
            <a:r>
              <a:rPr lang="en-AU" dirty="0" err="1"/>
              <a:t>pengguna</a:t>
            </a:r>
            <a:r>
              <a:rPr lang="en-AU" dirty="0"/>
              <a:t>.</a:t>
            </a:r>
          </a:p>
          <a:p>
            <a:pPr>
              <a:buFont typeface="+mj-lt"/>
              <a:buAutoNum type="arabicPeriod"/>
            </a:pPr>
            <a:r>
              <a:rPr lang="en-AU" b="1" dirty="0" err="1"/>
              <a:t>Risiko</a:t>
            </a:r>
            <a:r>
              <a:rPr lang="en-AU" b="1" dirty="0"/>
              <a:t> </a:t>
            </a:r>
            <a:r>
              <a:rPr lang="en-AU" b="1" dirty="0" err="1"/>
              <a:t>Keamanan</a:t>
            </a:r>
            <a:r>
              <a:rPr lang="en-AU" dirty="0"/>
              <a:t>: </a:t>
            </a:r>
            <a:r>
              <a:rPr lang="en-AU" dirty="0" err="1"/>
              <a:t>serangan</a:t>
            </a:r>
            <a:r>
              <a:rPr lang="en-AU" dirty="0"/>
              <a:t> </a:t>
            </a:r>
            <a:r>
              <a:rPr lang="en-AU" dirty="0" err="1"/>
              <a:t>siber</a:t>
            </a:r>
            <a:r>
              <a:rPr lang="en-AU" dirty="0"/>
              <a:t>, </a:t>
            </a:r>
            <a:r>
              <a:rPr lang="en-AU" dirty="0" err="1"/>
              <a:t>kebocoran</a:t>
            </a:r>
            <a:r>
              <a:rPr lang="en-AU" dirty="0"/>
              <a:t> data.</a:t>
            </a:r>
          </a:p>
          <a:p>
            <a:pPr>
              <a:buFont typeface="+mj-lt"/>
              <a:buAutoNum type="arabicPeriod"/>
            </a:pPr>
            <a:r>
              <a:rPr lang="en-AU" b="1" dirty="0" err="1"/>
              <a:t>Risiko</a:t>
            </a:r>
            <a:r>
              <a:rPr lang="en-AU" b="1" dirty="0"/>
              <a:t> Proyek</a:t>
            </a:r>
            <a:r>
              <a:rPr lang="en-AU" dirty="0"/>
              <a:t>: </a:t>
            </a:r>
            <a:r>
              <a:rPr lang="en-AU" dirty="0" err="1"/>
              <a:t>keterlambatan</a:t>
            </a:r>
            <a:r>
              <a:rPr lang="en-AU" dirty="0"/>
              <a:t>, </a:t>
            </a:r>
            <a:r>
              <a:rPr lang="en-AU" dirty="0" err="1"/>
              <a:t>pembengkakan</a:t>
            </a:r>
            <a:r>
              <a:rPr lang="en-AU" dirty="0"/>
              <a:t> </a:t>
            </a:r>
            <a:r>
              <a:rPr lang="en-AU" dirty="0" err="1"/>
              <a:t>biaya</a:t>
            </a:r>
            <a:r>
              <a:rPr lang="en-AU" dirty="0"/>
              <a:t>, scope creep.</a:t>
            </a:r>
          </a:p>
          <a:p>
            <a:pPr>
              <a:buFont typeface="+mj-lt"/>
              <a:buAutoNum type="arabicPeriod"/>
            </a:pPr>
            <a:r>
              <a:rPr lang="en-AU" b="1" dirty="0" err="1"/>
              <a:t>Risiko</a:t>
            </a:r>
            <a:r>
              <a:rPr lang="en-AU" b="1" dirty="0"/>
              <a:t> Legal dan </a:t>
            </a:r>
            <a:r>
              <a:rPr lang="en-AU" b="1" dirty="0" err="1"/>
              <a:t>Regulasi</a:t>
            </a:r>
            <a:r>
              <a:rPr lang="en-AU" dirty="0"/>
              <a:t>: </a:t>
            </a:r>
            <a:r>
              <a:rPr lang="en-AU" dirty="0" err="1"/>
              <a:t>pelanggaran</a:t>
            </a:r>
            <a:r>
              <a:rPr lang="en-AU" dirty="0"/>
              <a:t> UU </a:t>
            </a:r>
            <a:r>
              <a:rPr lang="en-AU" dirty="0" err="1"/>
              <a:t>Perlindungan</a:t>
            </a:r>
            <a:r>
              <a:rPr lang="en-AU" dirty="0"/>
              <a:t> Data, </a:t>
            </a:r>
            <a:r>
              <a:rPr lang="en-AU" dirty="0" err="1"/>
              <a:t>tidak</a:t>
            </a:r>
            <a:r>
              <a:rPr lang="en-AU" dirty="0"/>
              <a:t> </a:t>
            </a:r>
            <a:r>
              <a:rPr lang="en-AU" dirty="0" err="1"/>
              <a:t>sesuai</a:t>
            </a:r>
            <a:r>
              <a:rPr lang="en-AU" dirty="0"/>
              <a:t> </a:t>
            </a:r>
            <a:r>
              <a:rPr lang="en-AU" dirty="0" err="1"/>
              <a:t>regulasi</a:t>
            </a:r>
            <a:r>
              <a:rPr lang="en-AU" dirty="0"/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55;p8">
            <a:extLst>
              <a:ext uri="{FF2B5EF4-FFF2-40B4-BE49-F238E27FC236}">
                <a16:creationId xmlns:a16="http://schemas.microsoft.com/office/drawing/2014/main" id="{076B7532-56D2-83CE-5CC2-768EFF3010B2}"/>
              </a:ext>
            </a:extLst>
          </p:cNvPr>
          <p:cNvSpPr txBox="1"/>
          <p:nvPr/>
        </p:nvSpPr>
        <p:spPr>
          <a:xfrm>
            <a:off x="1508126" y="17462"/>
            <a:ext cx="9159875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JENIS RISIKO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82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7F52-ABAE-1E34-C2B6-E4E94AB7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5CE353-EB77-4C9E-4F39-757C2F5AD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584" y="2538599"/>
            <a:ext cx="5296832" cy="4144488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28F8B3-685D-9387-B9AE-D41EB08E7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Identifikasi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Risiko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pada </a:t>
            </a:r>
            <a:r>
              <a:rPr lang="en-US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tiap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tahapan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SDLC!</a:t>
            </a:r>
            <a:endParaRPr lang="en-SG" sz="2800" b="1" kern="0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Google Shape;155;p8">
            <a:extLst>
              <a:ext uri="{FF2B5EF4-FFF2-40B4-BE49-F238E27FC236}">
                <a16:creationId xmlns:a16="http://schemas.microsoft.com/office/drawing/2014/main" id="{F55028F6-0797-EE0D-E9E9-3FF5E1712EAF}"/>
              </a:ext>
            </a:extLst>
          </p:cNvPr>
          <p:cNvSpPr txBox="1"/>
          <p:nvPr/>
        </p:nvSpPr>
        <p:spPr>
          <a:xfrm>
            <a:off x="1508126" y="17462"/>
            <a:ext cx="9159875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RISIKO pada </a:t>
            </a:r>
            <a:r>
              <a:rPr lang="en-US" sz="3200" dirty="0" err="1">
                <a:latin typeface="Arial"/>
                <a:ea typeface="Arial"/>
                <a:cs typeface="Arial"/>
                <a:sym typeface="Arial"/>
              </a:rPr>
              <a:t>Tahapan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SDLC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78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B4E357B9-2A44-73E2-85EC-809CBDFE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F7B76300-3396-658B-9B3F-2CCBCF83EC9D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</a:t>
            </a:r>
            <a:endParaRPr b="1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E5C1CD0-419C-43E0-CA73-CCEEA85D009E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ID" dirty="0">
                <a:solidFill>
                  <a:schemeClr val="tx1"/>
                </a:solidFill>
                <a:latin typeface="Helvetica" panose="020B0604020202020204" pitchFamily="34" charset="0"/>
              </a:rPr>
              <a:t>Proses </a:t>
            </a:r>
            <a:r>
              <a:rPr lang="en-ID" sz="2800" b="1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identifikasi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en-ID" sz="2800" b="1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analisis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, dan </a:t>
            </a:r>
            <a:r>
              <a:rPr lang="en-ID" sz="2800" b="1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upaya</a:t>
            </a:r>
            <a:r>
              <a:rPr lang="en-ID" sz="2800" b="1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1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mitigasi</a:t>
            </a:r>
            <a:r>
              <a:rPr lang="en-ID" sz="2800" b="1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(</a:t>
            </a:r>
            <a:r>
              <a:rPr lang="en-ID" sz="2800" b="1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penanganan</a:t>
            </a:r>
            <a:r>
              <a:rPr lang="en-ID" sz="2800" b="1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)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risiko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tidak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dapat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diterima</a:t>
            </a:r>
            <a:r>
              <a:rPr lang="en-ID" sz="2800" b="0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Identifikasi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Risiko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saja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mungkin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terjadi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Analisis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Berapa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sering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berapa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dampaknya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terjadi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Penganan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Risiko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Mitigasi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Bagaimana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risiko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ditangani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dihindari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diminimalkan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ditransfer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26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D2B85AC3-EB74-CE71-DF6E-DD3FBB0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1D0BC25A-A986-22ED-F5F3-85646967EB72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</a:t>
            </a:r>
            <a:endParaRPr b="1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2F76BD-9DBE-B86D-4FE2-D07B04303B08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Contoh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: Pada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tahap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implementasi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(deployment) 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Identifikasi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: Salah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satu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risikonya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adalah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Kegagalan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Sistem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Baru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</a:rPr>
              <a:t>Analisis</a:t>
            </a:r>
            <a:r>
              <a:rPr lang="en-US" dirty="0">
                <a:solidFill>
                  <a:schemeClr val="tx1"/>
                </a:solidFill>
              </a:rPr>
              <a:t>: Sering </a:t>
            </a:r>
            <a:r>
              <a:rPr lang="en-US" dirty="0" err="1">
                <a:solidFill>
                  <a:schemeClr val="tx1"/>
                </a:solidFill>
              </a:rPr>
              <a:t>terjadi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berdampak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besar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bisnis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berhenti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</a:rPr>
              <a:t>Mitigasi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Sistem</a:t>
            </a:r>
            <a:r>
              <a:rPr lang="en-US" dirty="0">
                <a:solidFill>
                  <a:schemeClr val="tx1"/>
                </a:solidFill>
              </a:rPr>
              <a:t> lama </a:t>
            </a:r>
            <a:r>
              <a:rPr lang="en-US" dirty="0" err="1">
                <a:solidFill>
                  <a:schemeClr val="tx1"/>
                </a:solidFill>
              </a:rPr>
              <a:t>tetap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jalan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selama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beberapa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waktu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untk</a:t>
            </a:r>
            <a:r>
              <a:rPr lang="en-US" dirty="0">
                <a:solidFill>
                  <a:schemeClr val="tx1"/>
                </a:solidFill>
              </a:rPr>
              <a:t> backup</a:t>
            </a:r>
          </a:p>
        </p:txBody>
      </p:sp>
    </p:spTree>
    <p:extLst>
      <p:ext uri="{BB962C8B-B14F-4D97-AF65-F5344CB8AC3E}">
        <p14:creationId xmlns:p14="http://schemas.microsoft.com/office/powerpoint/2010/main" val="3467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44CEE229-52AF-9A1D-7B1F-DD4A99BE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DC1CA3A8-0A64-F658-272B-8C741569458B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8F407-89F5-D225-9059-C21B3B013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96" y="1662193"/>
            <a:ext cx="10754756" cy="10828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A883F-71B3-202F-64D6-1D28564A5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686" y="3246766"/>
            <a:ext cx="3936789" cy="14001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5CF3C-981A-6E8F-93F2-F95DDFCF2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36" y="5285325"/>
            <a:ext cx="8598528" cy="1400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69F2CA-0909-83AE-BC85-B858AC53B830}"/>
              </a:ext>
            </a:extLst>
          </p:cNvPr>
          <p:cNvSpPr txBox="1"/>
          <p:nvPr/>
        </p:nvSpPr>
        <p:spPr>
          <a:xfrm>
            <a:off x="85344" y="206044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ED06C-7145-7940-65D7-05C6EBBD8143}"/>
              </a:ext>
            </a:extLst>
          </p:cNvPr>
          <p:cNvSpPr txBox="1"/>
          <p:nvPr/>
        </p:nvSpPr>
        <p:spPr>
          <a:xfrm>
            <a:off x="3157728" y="402336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A61DBB-E858-1E43-DF1A-36E04D532DCB}"/>
              </a:ext>
            </a:extLst>
          </p:cNvPr>
          <p:cNvSpPr txBox="1"/>
          <p:nvPr/>
        </p:nvSpPr>
        <p:spPr>
          <a:xfrm>
            <a:off x="1219200" y="604723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59699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89A4-A506-DE48-127F-1BFE2FBF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93803-64B1-0840-22D8-33C0E34E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Identifikasi</a:t>
            </a:r>
            <a:r>
              <a:rPr lang="en-US" dirty="0"/>
              <a:t> </a:t>
            </a:r>
            <a:r>
              <a:rPr lang="en-US" dirty="0" err="1"/>
              <a:t>Risiko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0CBA9-9852-8255-C3F0-EDF94A707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82E8-ABC2-CB1A-5051-EB9DE90B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41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B7CF30DC-6788-7542-9A27-4D0C83DD5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174967"/>
              </p:ext>
            </p:extLst>
          </p:nvPr>
        </p:nvGraphicFramePr>
        <p:xfrm>
          <a:off x="-5504" y="1160462"/>
          <a:ext cx="12192001" cy="522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981">
                  <a:extLst>
                    <a:ext uri="{9D8B030D-6E8A-4147-A177-3AD203B41FA5}">
                      <a16:colId xmlns:a16="http://schemas.microsoft.com/office/drawing/2014/main" val="3867216516"/>
                    </a:ext>
                  </a:extLst>
                </a:gridCol>
                <a:gridCol w="2106117">
                  <a:extLst>
                    <a:ext uri="{9D8B030D-6E8A-4147-A177-3AD203B41FA5}">
                      <a16:colId xmlns:a16="http://schemas.microsoft.com/office/drawing/2014/main" val="51100163"/>
                    </a:ext>
                  </a:extLst>
                </a:gridCol>
                <a:gridCol w="8535903">
                  <a:extLst>
                    <a:ext uri="{9D8B030D-6E8A-4147-A177-3AD203B41FA5}">
                      <a16:colId xmlns:a16="http://schemas.microsoft.com/office/drawing/2014/main" val="2942313146"/>
                    </a:ext>
                  </a:extLst>
                </a:gridCol>
              </a:tblGrid>
              <a:tr h="22918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Kategori</a:t>
                      </a:r>
                      <a:endParaRPr lang="en-US" sz="24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Sub-</a:t>
                      </a:r>
                      <a:r>
                        <a:rPr lang="en-US" sz="2400" b="1" dirty="0" err="1"/>
                        <a:t>Kategori</a:t>
                      </a:r>
                      <a:endParaRPr lang="en-US" sz="24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Deskripsi</a:t>
                      </a:r>
                      <a:endParaRPr lang="en-US" sz="2400" b="1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3077872682"/>
                  </a:ext>
                </a:extLst>
              </a:tr>
              <a:tr h="371406">
                <a:tc>
                  <a:txBody>
                    <a:bodyPr/>
                    <a:lstStyle/>
                    <a:p>
                      <a:r>
                        <a:rPr lang="en-US" sz="2400" b="1" dirty="0"/>
                        <a:t>Nature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Lingkungan</a:t>
                      </a:r>
                      <a:endParaRPr lang="en-US" sz="24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Lingkungan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hidup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hayati</a:t>
                      </a:r>
                      <a:r>
                        <a:rPr lang="en-US" sz="2400" dirty="0"/>
                        <a:t>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&gt; </a:t>
                      </a:r>
                      <a:r>
                        <a:rPr lang="en-US" sz="2400" dirty="0" err="1"/>
                        <a:t>daya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dukung</a:t>
                      </a:r>
                      <a:r>
                        <a:rPr lang="en-US" sz="2400" dirty="0"/>
                        <a:t> &amp; </a:t>
                      </a:r>
                      <a:r>
                        <a:rPr lang="en-US" sz="2400" dirty="0" err="1"/>
                        <a:t>tampung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lingkungan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kualitas</a:t>
                      </a:r>
                      <a:r>
                        <a:rPr lang="en-US" sz="2400" dirty="0"/>
                        <a:t> air-</a:t>
                      </a:r>
                      <a:r>
                        <a:rPr lang="en-US" sz="2400" dirty="0" err="1"/>
                        <a:t>tanah</a:t>
                      </a:r>
                      <a:r>
                        <a:rPr lang="en-US" sz="2400" dirty="0"/>
                        <a:t>-</a:t>
                      </a:r>
                      <a:r>
                        <a:rPr lang="en-US" sz="2400" dirty="0" err="1"/>
                        <a:t>udara</a:t>
                      </a:r>
                      <a:r>
                        <a:rPr lang="en-US" sz="2400" dirty="0"/>
                        <a:t>; flora-fauna; </a:t>
                      </a:r>
                      <a:r>
                        <a:rPr lang="en-US" sz="2400" dirty="0" err="1"/>
                        <a:t>keanekaragaman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hayati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bencana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alam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dll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3514073887"/>
                  </a:ext>
                </a:extLst>
              </a:tr>
              <a:tr h="371406">
                <a:tc rowSpan="3">
                  <a:txBody>
                    <a:bodyPr/>
                    <a:lstStyle/>
                    <a:p>
                      <a:r>
                        <a:rPr lang="en-US" sz="2400" b="1" dirty="0"/>
                        <a:t>Structure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SDM (</a:t>
                      </a:r>
                      <a:r>
                        <a:rPr lang="en-US" sz="2400" dirty="0" err="1"/>
                        <a:t>Pengguna</a:t>
                      </a:r>
                      <a:r>
                        <a:rPr lang="en-US" sz="2400" dirty="0"/>
                        <a:t>)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Kualitas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sumber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manusia</a:t>
                      </a:r>
                      <a:r>
                        <a:rPr lang="en-US" sz="2400" dirty="0"/>
                        <a:t>:</a:t>
                      </a:r>
                    </a:p>
                    <a:p>
                      <a:r>
                        <a:rPr lang="en-US" sz="2400" dirty="0"/>
                        <a:t>&gt; </a:t>
                      </a:r>
                      <a:r>
                        <a:rPr lang="en-US" sz="2400" dirty="0" err="1"/>
                        <a:t>tingkat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pendidikan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tingkat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kesehatan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pendapatan</a:t>
                      </a:r>
                      <a:r>
                        <a:rPr lang="en-US" sz="2400" dirty="0"/>
                        <a:t> per </a:t>
                      </a:r>
                      <a:r>
                        <a:rPr lang="en-US" sz="2400" dirty="0" err="1"/>
                        <a:t>kapita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produktivitas</a:t>
                      </a:r>
                      <a:r>
                        <a:rPr lang="en-US" sz="2400" dirty="0"/>
                        <a:t>/PDRB; </a:t>
                      </a:r>
                      <a:r>
                        <a:rPr lang="en-US" sz="2400" dirty="0" err="1"/>
                        <a:t>dll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909232050"/>
                  </a:ext>
                </a:extLst>
              </a:tr>
              <a:tr h="3714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SDM (</a:t>
                      </a:r>
                      <a:r>
                        <a:rPr lang="en-US" sz="2400" dirty="0" err="1"/>
                        <a:t>Pengembang</a:t>
                      </a:r>
                      <a:r>
                        <a:rPr lang="en-US" sz="2400" dirty="0"/>
                        <a:t>)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Kualitas</a:t>
                      </a:r>
                      <a:r>
                        <a:rPr lang="en-US" sz="2400" dirty="0"/>
                        <a:t> dan </a:t>
                      </a:r>
                      <a:r>
                        <a:rPr lang="en-US" sz="2400" dirty="0" err="1"/>
                        <a:t>kapasitas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sumber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daya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manusia</a:t>
                      </a:r>
                      <a:r>
                        <a:rPr lang="en-US" sz="2400" dirty="0"/>
                        <a:t> TI </a:t>
                      </a:r>
                      <a:r>
                        <a:rPr lang="en-US" sz="2400" dirty="0" err="1"/>
                        <a:t>organisasi</a:t>
                      </a:r>
                      <a:endParaRPr lang="en-US" sz="2400" dirty="0"/>
                    </a:p>
                    <a:p>
                      <a:r>
                        <a:rPr lang="en-US" sz="2400" dirty="0"/>
                        <a:t>&gt; Tingkat </a:t>
                      </a:r>
                      <a:r>
                        <a:rPr lang="en-US" sz="2400" dirty="0" err="1"/>
                        <a:t>pendidikan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kompetensi</a:t>
                      </a:r>
                      <a:r>
                        <a:rPr lang="en-US" sz="2400" dirty="0"/>
                        <a:t> &amp; </a:t>
                      </a:r>
                      <a:r>
                        <a:rPr lang="en-US" sz="2400" dirty="0" err="1"/>
                        <a:t>keahlian</a:t>
                      </a:r>
                      <a:r>
                        <a:rPr lang="en-US" sz="2400" dirty="0"/>
                        <a:t>; </a:t>
                      </a:r>
                      <a:r>
                        <a:rPr lang="en-US" sz="2400" dirty="0" err="1"/>
                        <a:t>dll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038744553"/>
                  </a:ext>
                </a:extLst>
              </a:tr>
              <a:tr h="229189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Keuangan</a:t>
                      </a:r>
                      <a:endParaRPr lang="en-US" sz="24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Keuangan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perusahan</a:t>
                      </a:r>
                      <a:endParaRPr lang="en-US" sz="24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817898925"/>
                  </a:ext>
                </a:extLst>
              </a:tr>
            </a:tbl>
          </a:graphicData>
        </a:graphic>
      </p:graphicFrame>
      <p:sp>
        <p:nvSpPr>
          <p:cNvPr id="7" name="Google Shape;155;p8">
            <a:extLst>
              <a:ext uri="{FF2B5EF4-FFF2-40B4-BE49-F238E27FC236}">
                <a16:creationId xmlns:a16="http://schemas.microsoft.com/office/drawing/2014/main" id="{B0CD858B-4872-01F9-DE37-934BD927746A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IDENTIFIKASI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81030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B7CF30DC-6788-7542-9A27-4D0C83DD5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5937"/>
              </p:ext>
            </p:extLst>
          </p:nvPr>
        </p:nvGraphicFramePr>
        <p:xfrm>
          <a:off x="5504" y="1256939"/>
          <a:ext cx="12011443" cy="559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952">
                  <a:extLst>
                    <a:ext uri="{9D8B030D-6E8A-4147-A177-3AD203B41FA5}">
                      <a16:colId xmlns:a16="http://schemas.microsoft.com/office/drawing/2014/main" val="3867216516"/>
                    </a:ext>
                  </a:extLst>
                </a:gridCol>
                <a:gridCol w="1732824">
                  <a:extLst>
                    <a:ext uri="{9D8B030D-6E8A-4147-A177-3AD203B41FA5}">
                      <a16:colId xmlns:a16="http://schemas.microsoft.com/office/drawing/2014/main" val="51100163"/>
                    </a:ext>
                  </a:extLst>
                </a:gridCol>
                <a:gridCol w="8540667">
                  <a:extLst>
                    <a:ext uri="{9D8B030D-6E8A-4147-A177-3AD203B41FA5}">
                      <a16:colId xmlns:a16="http://schemas.microsoft.com/office/drawing/2014/main" val="2942313146"/>
                    </a:ext>
                  </a:extLst>
                </a:gridCol>
              </a:tblGrid>
              <a:tr h="22918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Kategori</a:t>
                      </a:r>
                      <a:endParaRPr lang="en-US" sz="18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Sub-</a:t>
                      </a:r>
                      <a:r>
                        <a:rPr lang="en-US" sz="1800" b="1" dirty="0" err="1"/>
                        <a:t>Kategori</a:t>
                      </a:r>
                      <a:endParaRPr lang="en-US" sz="18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Deskripsi</a:t>
                      </a:r>
                      <a:endParaRPr lang="en-US" sz="1800" b="1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3077872682"/>
                  </a:ext>
                </a:extLst>
              </a:tr>
              <a:tr h="475975">
                <a:tc rowSpan="3">
                  <a:txBody>
                    <a:bodyPr/>
                    <a:lstStyle/>
                    <a:p>
                      <a:r>
                        <a:rPr lang="en-US" sz="1800" b="1" dirty="0" err="1"/>
                        <a:t>Infrastruktur</a:t>
                      </a:r>
                      <a:endParaRPr lang="en-US" sz="18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Infrastruktur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Fisik</a:t>
                      </a:r>
                      <a:endParaRPr lang="en-US" sz="18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Infrastruktur</a:t>
                      </a:r>
                      <a:r>
                        <a:rPr lang="en-US" sz="1800" dirty="0"/>
                        <a:t> yang </a:t>
                      </a:r>
                      <a:r>
                        <a:rPr lang="en-US" sz="1800" dirty="0" err="1"/>
                        <a:t>berfungsi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untuk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mendorong</a:t>
                      </a:r>
                      <a:r>
                        <a:rPr lang="en-US" sz="1800" dirty="0"/>
                        <a:t> pada </a:t>
                      </a:r>
                      <a:r>
                        <a:rPr lang="en-US" sz="1800" dirty="0" err="1"/>
                        <a:t>kegiatan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sosial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budaya</a:t>
                      </a:r>
                      <a:r>
                        <a:rPr lang="en-US" sz="1800" dirty="0"/>
                        <a:t> dan </a:t>
                      </a:r>
                      <a:r>
                        <a:rPr lang="en-US" sz="1800" dirty="0" err="1"/>
                        <a:t>ekonomi</a:t>
                      </a:r>
                      <a:r>
                        <a:rPr lang="en-US" sz="1800" dirty="0"/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Jalan; </a:t>
                      </a:r>
                      <a:r>
                        <a:rPr lang="en-US" sz="1800" dirty="0" err="1"/>
                        <a:t>jembatan</a:t>
                      </a:r>
                      <a:r>
                        <a:rPr lang="en-US" sz="1800" dirty="0"/>
                        <a:t>; pasar; </a:t>
                      </a:r>
                      <a:r>
                        <a:rPr lang="en-US" sz="1800" dirty="0" err="1"/>
                        <a:t>gedung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pemerintahan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waduk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sekolah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rumah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sakit</a:t>
                      </a:r>
                      <a:r>
                        <a:rPr lang="en-US" sz="1800" dirty="0"/>
                        <a:t>, JPO, Pedestrian; </a:t>
                      </a:r>
                      <a:r>
                        <a:rPr lang="en-US" sz="1800" dirty="0" err="1"/>
                        <a:t>alun-alun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taman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rumah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ibadah</a:t>
                      </a:r>
                      <a:r>
                        <a:rPr lang="en-US" sz="1800" dirty="0"/>
                        <a:t>; RTH; </a:t>
                      </a:r>
                      <a:r>
                        <a:rPr lang="en-US" sz="1800" dirty="0" err="1"/>
                        <a:t>panti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jompo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piatu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dll</a:t>
                      </a:r>
                      <a:r>
                        <a:rPr lang="en-US" sz="1800" dirty="0"/>
                        <a:t>.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431430185"/>
                  </a:ext>
                </a:extLst>
              </a:tr>
              <a:tr h="371406">
                <a:tc vMerge="1">
                  <a:txBody>
                    <a:bodyPr/>
                    <a:lstStyle/>
                    <a:p>
                      <a:endParaRPr lang="en-US" sz="1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Infrastrutkur</a:t>
                      </a:r>
                      <a:r>
                        <a:rPr lang="en-US" sz="1800" dirty="0"/>
                        <a:t> Digital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Infrastruktur</a:t>
                      </a:r>
                      <a:r>
                        <a:rPr lang="en-US" sz="1800" dirty="0"/>
                        <a:t> yang </a:t>
                      </a:r>
                      <a:r>
                        <a:rPr lang="en-US" sz="1800" dirty="0" err="1"/>
                        <a:t>berbasis</a:t>
                      </a:r>
                      <a:r>
                        <a:rPr lang="en-US" sz="1800" dirty="0"/>
                        <a:t> TIK:</a:t>
                      </a:r>
                    </a:p>
                    <a:p>
                      <a:r>
                        <a:rPr lang="en-US" sz="1800" dirty="0"/>
                        <a:t>&gt; FO; tower/BTS; Wi-Fi; </a:t>
                      </a:r>
                      <a:r>
                        <a:rPr lang="en-US" sz="1800" dirty="0" err="1"/>
                        <a:t>dll</a:t>
                      </a:r>
                      <a:r>
                        <a:rPr lang="en-US" sz="1800" dirty="0"/>
                        <a:t>. 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2121587700"/>
                  </a:ext>
                </a:extLst>
              </a:tr>
              <a:tr h="513623">
                <a:tc vMerge="1">
                  <a:txBody>
                    <a:bodyPr/>
                    <a:lstStyle/>
                    <a:p>
                      <a:endParaRPr lang="en-US" sz="1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Teknologi</a:t>
                      </a:r>
                      <a:endParaRPr lang="en-US" sz="18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Segala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sesuatu</a:t>
                      </a:r>
                      <a:r>
                        <a:rPr lang="en-US" sz="1800" dirty="0"/>
                        <a:t> yang </a:t>
                      </a:r>
                      <a:r>
                        <a:rPr lang="en-US" sz="1800" dirty="0" err="1"/>
                        <a:t>dapat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mempercepat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mempermudah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layanan</a:t>
                      </a:r>
                      <a:r>
                        <a:rPr lang="en-US" sz="1800" dirty="0"/>
                        <a:t> dan </a:t>
                      </a:r>
                      <a:r>
                        <a:rPr lang="en-US" sz="1800" dirty="0" err="1"/>
                        <a:t>prosedur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operasi</a:t>
                      </a:r>
                      <a:r>
                        <a:rPr lang="en-US" sz="1800" dirty="0"/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</a:t>
                      </a:r>
                      <a:r>
                        <a:rPr lang="en-US" sz="1800" dirty="0" err="1"/>
                        <a:t>Perangkat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lunak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aplikasi</a:t>
                      </a:r>
                      <a:r>
                        <a:rPr lang="en-US" sz="1800" dirty="0"/>
                        <a:t>;, </a:t>
                      </a:r>
                      <a:r>
                        <a:rPr lang="en-US" sz="1800" dirty="0" err="1"/>
                        <a:t>sistem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informasi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dll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</a:t>
                      </a:r>
                      <a:r>
                        <a:rPr lang="en-US" sz="1800" dirty="0" err="1"/>
                        <a:t>Peralatan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teknologi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Komputer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ponsel</a:t>
                      </a:r>
                      <a:r>
                        <a:rPr lang="en-US" sz="1800" dirty="0"/>
                        <a:t>, sensor, CCTV, drone, </a:t>
                      </a:r>
                      <a:r>
                        <a:rPr lang="en-US" sz="1800" dirty="0" err="1"/>
                        <a:t>satelit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pesawat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terbang</a:t>
                      </a:r>
                      <a:r>
                        <a:rPr lang="en-US" sz="1800" dirty="0"/>
                        <a:t>, robot, </a:t>
                      </a:r>
                      <a:r>
                        <a:rPr lang="en-US" sz="1800" dirty="0" err="1"/>
                        <a:t>mesin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dll</a:t>
                      </a:r>
                      <a:endParaRPr lang="en-US" sz="18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2118394586"/>
                  </a:ext>
                </a:extLst>
              </a:tr>
              <a:tr h="401429">
                <a:tc rowSpan="3">
                  <a:txBody>
                    <a:bodyPr/>
                    <a:lstStyle/>
                    <a:p>
                      <a:r>
                        <a:rPr lang="en-US" sz="1800" b="1" dirty="0" err="1"/>
                        <a:t>Suprastruktur</a:t>
                      </a:r>
                      <a:endParaRPr lang="en-US" sz="18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Hukum</a:t>
                      </a:r>
                      <a:endParaRPr lang="en-US" sz="18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Hukum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positif</a:t>
                      </a:r>
                      <a:r>
                        <a:rPr lang="en-US" sz="1800" dirty="0"/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</a:t>
                      </a:r>
                      <a:r>
                        <a:rPr lang="en-US" sz="1800" dirty="0" err="1"/>
                        <a:t>Undang-Undang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Peraturan</a:t>
                      </a:r>
                      <a:r>
                        <a:rPr lang="en-US" sz="1800" dirty="0"/>
                        <a:t> Daerah, </a:t>
                      </a:r>
                      <a:r>
                        <a:rPr lang="en-US" sz="1800" dirty="0" err="1"/>
                        <a:t>Peraturan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Kepala</a:t>
                      </a:r>
                      <a:r>
                        <a:rPr lang="en-US" sz="1800" dirty="0"/>
                        <a:t> Daerah, </a:t>
                      </a:r>
                      <a:r>
                        <a:rPr lang="en-US" sz="1800" dirty="0" err="1"/>
                        <a:t>dll</a:t>
                      </a:r>
                      <a:endParaRPr lang="en-US" sz="18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116194558"/>
                  </a:ext>
                </a:extLst>
              </a:tr>
              <a:tr h="371406">
                <a:tc vMerge="1">
                  <a:txBody>
                    <a:bodyPr/>
                    <a:lstStyle/>
                    <a:p>
                      <a:endParaRPr lang="en-US" sz="1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Politik</a:t>
                      </a:r>
                      <a:endParaRPr lang="en-US" sz="18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kebijakan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publik</a:t>
                      </a:r>
                      <a:r>
                        <a:rPr lang="en-US" sz="1800" dirty="0"/>
                        <a:t>, dan </a:t>
                      </a:r>
                      <a:r>
                        <a:rPr lang="en-US" sz="1800" dirty="0" err="1"/>
                        <a:t>aspek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politik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lainnya</a:t>
                      </a:r>
                      <a:r>
                        <a:rPr lang="en-US" sz="18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</a:t>
                      </a:r>
                      <a:r>
                        <a:rPr lang="en-US" sz="1800" dirty="0" err="1"/>
                        <a:t>Kebijakan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pemilihan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kepala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daerah</a:t>
                      </a:r>
                      <a:r>
                        <a:rPr lang="en-US" sz="1800" dirty="0"/>
                        <a:t>; </a:t>
                      </a:r>
                      <a:r>
                        <a:rPr lang="en-US" sz="1800" dirty="0" err="1"/>
                        <a:t>dll</a:t>
                      </a:r>
                      <a:endParaRPr lang="en-US" sz="18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518315081"/>
                  </a:ext>
                </a:extLst>
              </a:tr>
              <a:tr h="229189">
                <a:tc vMerge="1">
                  <a:txBody>
                    <a:bodyPr/>
                    <a:lstStyle/>
                    <a:p>
                      <a:endParaRPr lang="en-US" sz="1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Kelembagaan</a:t>
                      </a:r>
                      <a:endParaRPr lang="en-US" sz="18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Organisasi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pemerintah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daerah</a:t>
                      </a:r>
                      <a:r>
                        <a:rPr lang="en-US" sz="1800" dirty="0"/>
                        <a:t> dan </a:t>
                      </a:r>
                      <a:r>
                        <a:rPr lang="en-US" sz="1800" dirty="0" err="1"/>
                        <a:t>organisasi</a:t>
                      </a:r>
                      <a:r>
                        <a:rPr lang="en-US" sz="1800" dirty="0"/>
                        <a:t> yang </a:t>
                      </a:r>
                      <a:r>
                        <a:rPr lang="en-US" sz="1800" dirty="0" err="1"/>
                        <a:t>ada</a:t>
                      </a:r>
                      <a:r>
                        <a:rPr lang="en-US" sz="1800" dirty="0"/>
                        <a:t> di </a:t>
                      </a:r>
                      <a:r>
                        <a:rPr lang="en-US" sz="1800" dirty="0" err="1"/>
                        <a:t>masyarakat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&gt; OPD, LSM, </a:t>
                      </a:r>
                      <a:r>
                        <a:rPr lang="en-US" sz="1800" dirty="0" err="1"/>
                        <a:t>dll</a:t>
                      </a:r>
                      <a:endParaRPr lang="en-US" sz="18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364601659"/>
                  </a:ext>
                </a:extLst>
              </a:tr>
            </a:tbl>
          </a:graphicData>
        </a:graphic>
      </p:graphicFrame>
      <p:sp>
        <p:nvSpPr>
          <p:cNvPr id="7" name="Google Shape;155;p8">
            <a:extLst>
              <a:ext uri="{FF2B5EF4-FFF2-40B4-BE49-F238E27FC236}">
                <a16:creationId xmlns:a16="http://schemas.microsoft.com/office/drawing/2014/main" id="{B5381E5D-E94A-8EDD-860C-5B58D3C4BDDD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IDENTIFIKASI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3321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B7CF30DC-6788-7542-9A27-4D0C83DD57F0}"/>
              </a:ext>
            </a:extLst>
          </p:cNvPr>
          <p:cNvGraphicFramePr>
            <a:graphicFrameLocks noGrp="1"/>
          </p:cNvGraphicFramePr>
          <p:nvPr/>
        </p:nvGraphicFramePr>
        <p:xfrm>
          <a:off x="246743" y="1256939"/>
          <a:ext cx="11770204" cy="180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6357">
                  <a:extLst>
                    <a:ext uri="{9D8B030D-6E8A-4147-A177-3AD203B41FA5}">
                      <a16:colId xmlns:a16="http://schemas.microsoft.com/office/drawing/2014/main" val="3867216516"/>
                    </a:ext>
                  </a:extLst>
                </a:gridCol>
                <a:gridCol w="1904712">
                  <a:extLst>
                    <a:ext uri="{9D8B030D-6E8A-4147-A177-3AD203B41FA5}">
                      <a16:colId xmlns:a16="http://schemas.microsoft.com/office/drawing/2014/main" val="51100163"/>
                    </a:ext>
                  </a:extLst>
                </a:gridCol>
                <a:gridCol w="8369135">
                  <a:extLst>
                    <a:ext uri="{9D8B030D-6E8A-4147-A177-3AD203B41FA5}">
                      <a16:colId xmlns:a16="http://schemas.microsoft.com/office/drawing/2014/main" val="2942313146"/>
                    </a:ext>
                  </a:extLst>
                </a:gridCol>
              </a:tblGrid>
              <a:tr h="22918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Kategori</a:t>
                      </a:r>
                      <a:endParaRPr lang="en-US" sz="2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Sub-</a:t>
                      </a:r>
                      <a:r>
                        <a:rPr lang="en-US" sz="2000" b="1" dirty="0" err="1"/>
                        <a:t>Kategori</a:t>
                      </a:r>
                      <a:endParaRPr lang="en-US" sz="2000" b="1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Deskripsi</a:t>
                      </a:r>
                      <a:endParaRPr lang="en-US" sz="2000" b="1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3077872682"/>
                  </a:ext>
                </a:extLst>
              </a:tr>
              <a:tr h="371406">
                <a:tc rowSpan="2">
                  <a:txBody>
                    <a:bodyPr/>
                    <a:lstStyle/>
                    <a:p>
                      <a:r>
                        <a:rPr lang="en-US" sz="2000" b="1" dirty="0"/>
                        <a:t>Culture</a:t>
                      </a:r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Sosial</a:t>
                      </a:r>
                      <a:endParaRPr lang="en-US" sz="20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Tatanan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sosial</a:t>
                      </a:r>
                      <a:r>
                        <a:rPr lang="en-US" sz="2000" dirty="0"/>
                        <a:t> yang </a:t>
                      </a:r>
                      <a:r>
                        <a:rPr lang="en-US" sz="2000" dirty="0" err="1"/>
                        <a:t>ada</a:t>
                      </a:r>
                      <a:r>
                        <a:rPr lang="en-US" sz="2000" dirty="0"/>
                        <a:t> di </a:t>
                      </a:r>
                      <a:r>
                        <a:rPr lang="en-US" sz="2000" dirty="0" err="1"/>
                        <a:t>masyarakat</a:t>
                      </a:r>
                      <a:r>
                        <a:rPr lang="en-US" sz="20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&gt; </a:t>
                      </a:r>
                      <a:r>
                        <a:rPr lang="en-US" sz="2000" dirty="0" err="1"/>
                        <a:t>budaya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adat-istiadat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hukum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adat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.</a:t>
                      </a:r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1283053127"/>
                  </a:ext>
                </a:extLst>
              </a:tr>
              <a:tr h="371406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Ekonomi</a:t>
                      </a:r>
                      <a:endParaRPr lang="en-US" sz="2000" dirty="0"/>
                    </a:p>
                  </a:txBody>
                  <a:tcPr marL="93199" marR="93199" marT="46600" marB="4660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Aspek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perekonomian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masyarakat</a:t>
                      </a:r>
                      <a:r>
                        <a:rPr lang="en-US" sz="20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&gt; </a:t>
                      </a:r>
                      <a:r>
                        <a:rPr lang="en-US" sz="2000" dirty="0" err="1"/>
                        <a:t>perdagangan</a:t>
                      </a:r>
                      <a:r>
                        <a:rPr lang="en-US" sz="2000" dirty="0"/>
                        <a:t>; </a:t>
                      </a:r>
                      <a:r>
                        <a:rPr lang="en-US" sz="2000" dirty="0" err="1"/>
                        <a:t>transaksi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elektronik</a:t>
                      </a:r>
                      <a:r>
                        <a:rPr lang="en-US" sz="2000" dirty="0"/>
                        <a:t>; </a:t>
                      </a:r>
                      <a:r>
                        <a:rPr lang="en-US" sz="2000" dirty="0" err="1"/>
                        <a:t>investasi</a:t>
                      </a:r>
                      <a:r>
                        <a:rPr lang="en-US" sz="2000" dirty="0"/>
                        <a:t>; </a:t>
                      </a:r>
                      <a:r>
                        <a:rPr lang="en-US" sz="2000" dirty="0" err="1"/>
                        <a:t>dll</a:t>
                      </a:r>
                      <a:endParaRPr lang="en-US" sz="2000" dirty="0"/>
                    </a:p>
                  </a:txBody>
                  <a:tcPr marL="93199" marR="93199" marT="46600" marB="46600"/>
                </a:tc>
                <a:extLst>
                  <a:ext uri="{0D108BD9-81ED-4DB2-BD59-A6C34878D82A}">
                    <a16:rowId xmlns:a16="http://schemas.microsoft.com/office/drawing/2014/main" val="711982099"/>
                  </a:ext>
                </a:extLst>
              </a:tr>
            </a:tbl>
          </a:graphicData>
        </a:graphic>
      </p:graphicFrame>
      <p:sp>
        <p:nvSpPr>
          <p:cNvPr id="7" name="Google Shape;155;p8">
            <a:extLst>
              <a:ext uri="{FF2B5EF4-FFF2-40B4-BE49-F238E27FC236}">
                <a16:creationId xmlns:a16="http://schemas.microsoft.com/office/drawing/2014/main" id="{5B3B7E4F-9315-85A3-51F5-D31C1B6E37DA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IDENTIFIKASI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837312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Risiko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0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215689" y="1300339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Tingkat </a:t>
            </a:r>
            <a:r>
              <a:rPr lang="en-US" sz="3200" dirty="0" err="1"/>
              <a:t>Kemungkinan</a:t>
            </a:r>
            <a:r>
              <a:rPr lang="en-US" sz="3200" dirty="0"/>
              <a:t> </a:t>
            </a:r>
            <a:r>
              <a:rPr lang="en-US" sz="3200" dirty="0" err="1"/>
              <a:t>Kejadian</a:t>
            </a:r>
            <a:endParaRPr lang="en-US" sz="3200" dirty="0"/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43C5959A-C3AB-E048-94D0-6CF518D15320}"/>
              </a:ext>
            </a:extLst>
          </p:cNvPr>
          <p:cNvGraphicFramePr>
            <a:graphicFrameLocks noGrp="1"/>
          </p:cNvGraphicFramePr>
          <p:nvPr/>
        </p:nvGraphicFramePr>
        <p:xfrm>
          <a:off x="401686" y="2345593"/>
          <a:ext cx="10970561" cy="270779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544813">
                  <a:extLst>
                    <a:ext uri="{9D8B030D-6E8A-4147-A177-3AD203B41FA5}">
                      <a16:colId xmlns:a16="http://schemas.microsoft.com/office/drawing/2014/main" val="3620421029"/>
                    </a:ext>
                  </a:extLst>
                </a:gridCol>
                <a:gridCol w="3336193">
                  <a:extLst>
                    <a:ext uri="{9D8B030D-6E8A-4147-A177-3AD203B41FA5}">
                      <a16:colId xmlns:a16="http://schemas.microsoft.com/office/drawing/2014/main" val="33463763"/>
                    </a:ext>
                  </a:extLst>
                </a:gridCol>
                <a:gridCol w="6089555">
                  <a:extLst>
                    <a:ext uri="{9D8B030D-6E8A-4147-A177-3AD203B41FA5}">
                      <a16:colId xmlns:a16="http://schemas.microsoft.com/office/drawing/2014/main" val="2273823619"/>
                    </a:ext>
                  </a:extLst>
                </a:gridCol>
              </a:tblGrid>
              <a:tr h="441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Tingkat</a:t>
                      </a:r>
                      <a:endParaRPr lang="en-US" sz="2000" b="1" dirty="0"/>
                    </a:p>
                  </a:txBody>
                  <a:tcPr marL="129531" marR="129531" marT="64765" marB="647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Kemungkinan</a:t>
                      </a:r>
                      <a:endParaRPr lang="en-US" sz="2000" dirty="0"/>
                    </a:p>
                  </a:txBody>
                  <a:tcPr marL="129531" marR="129531" marT="64765" marB="647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Deskripsi</a:t>
                      </a:r>
                      <a:endParaRPr lang="en-US" sz="2000" b="1" dirty="0"/>
                    </a:p>
                  </a:txBody>
                  <a:tcPr marL="129531" marR="129531" marT="64765" marB="64765"/>
                </a:tc>
                <a:extLst>
                  <a:ext uri="{0D108BD9-81ED-4DB2-BD59-A6C34878D82A}">
                    <a16:rowId xmlns:a16="http://schemas.microsoft.com/office/drawing/2014/main" val="2365292738"/>
                  </a:ext>
                </a:extLst>
              </a:tr>
              <a:tr h="64562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 marL="129531" marR="129531" marT="64765" marB="64765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Kecil</a:t>
                      </a:r>
                    </a:p>
                  </a:txBody>
                  <a:tcPr marL="129531" marR="129531" marT="64765" marB="64765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Kemungkinan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terjadi</a:t>
                      </a:r>
                      <a:r>
                        <a:rPr lang="en-US" sz="2000" dirty="0"/>
                        <a:t> 1-2 kali </a:t>
                      </a:r>
                      <a:r>
                        <a:rPr lang="en-US" sz="2000" dirty="0" err="1"/>
                        <a:t>dalam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satu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periode</a:t>
                      </a:r>
                      <a:endParaRPr lang="en-US" sz="2000" dirty="0"/>
                    </a:p>
                  </a:txBody>
                  <a:tcPr marL="129531" marR="129531" marT="64765" marB="64765"/>
                </a:tc>
                <a:extLst>
                  <a:ext uri="{0D108BD9-81ED-4DB2-BD59-A6C34878D82A}">
                    <a16:rowId xmlns:a16="http://schemas.microsoft.com/office/drawing/2014/main" val="1616792807"/>
                  </a:ext>
                </a:extLst>
              </a:tr>
              <a:tr h="97540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 marL="129531" marR="129531" marT="64765" marB="64765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Sedang</a:t>
                      </a:r>
                    </a:p>
                  </a:txBody>
                  <a:tcPr marL="129531" marR="129531" marT="64765" marB="64765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Kemungkinan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terjadi</a:t>
                      </a:r>
                      <a:r>
                        <a:rPr lang="en-US" sz="2000" dirty="0"/>
                        <a:t> 3-4 kali </a:t>
                      </a:r>
                      <a:r>
                        <a:rPr lang="en-US" sz="2000" dirty="0" err="1"/>
                        <a:t>dalam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satu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periode</a:t>
                      </a:r>
                      <a:endParaRPr lang="en-US" sz="2000" dirty="0"/>
                    </a:p>
                  </a:txBody>
                  <a:tcPr marL="129531" marR="129531" marT="64765" marB="64765"/>
                </a:tc>
                <a:extLst>
                  <a:ext uri="{0D108BD9-81ED-4DB2-BD59-A6C34878D82A}">
                    <a16:rowId xmlns:a16="http://schemas.microsoft.com/office/drawing/2014/main" val="1298242479"/>
                  </a:ext>
                </a:extLst>
              </a:tr>
              <a:tr h="64562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 marL="129531" marR="129531" marT="64765" marB="64765"/>
                </a:tc>
                <a:tc>
                  <a:txBody>
                    <a:bodyPr/>
                    <a:lstStyle/>
                    <a:p>
                      <a:r>
                        <a:rPr lang="en-US" sz="2800" b="1" dirty="0" err="1"/>
                        <a:t>Besar</a:t>
                      </a:r>
                      <a:endParaRPr lang="en-US" sz="2800" b="1" dirty="0"/>
                    </a:p>
                  </a:txBody>
                  <a:tcPr marL="129531" marR="129531" marT="64765" marB="64765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Kemungkinan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terjadi</a:t>
                      </a:r>
                      <a:r>
                        <a:rPr lang="en-US" sz="2000" dirty="0"/>
                        <a:t> &gt;5 kali </a:t>
                      </a:r>
                      <a:r>
                        <a:rPr lang="en-US" sz="2000" dirty="0" err="1"/>
                        <a:t>dalam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satu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periode</a:t>
                      </a:r>
                      <a:endParaRPr lang="en-US" sz="2000" dirty="0"/>
                    </a:p>
                  </a:txBody>
                  <a:tcPr marL="129531" marR="129531" marT="64765" marB="64765"/>
                </a:tc>
                <a:extLst>
                  <a:ext uri="{0D108BD9-81ED-4DB2-BD59-A6C34878D82A}">
                    <a16:rowId xmlns:a16="http://schemas.microsoft.com/office/drawing/2014/main" val="26994679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99B9FD-2C9E-4E05-A092-6EEBBCE7533A}"/>
              </a:ext>
            </a:extLst>
          </p:cNvPr>
          <p:cNvSpPr txBox="1"/>
          <p:nvPr/>
        </p:nvSpPr>
        <p:spPr>
          <a:xfrm>
            <a:off x="561975" y="1821152"/>
            <a:ext cx="1847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Periode</a:t>
            </a:r>
            <a:r>
              <a:rPr lang="en-ID" dirty="0"/>
              <a:t> = 1 </a:t>
            </a:r>
            <a:r>
              <a:rPr lang="en-ID" dirty="0" err="1"/>
              <a:t>tahun</a:t>
            </a:r>
            <a:endParaRPr lang="en-ID" dirty="0"/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CEFA5070-6064-69E8-D9A9-4111BB0DA51A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34020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666554-D96F-4738-B6D6-E9EBEF110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36" y="1088813"/>
            <a:ext cx="7527234" cy="53323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0670" y="2315688"/>
            <a:ext cx="7267699" cy="14369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50670" y="4916384"/>
            <a:ext cx="7267699" cy="150478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751066" y="2587155"/>
            <a:ext cx="451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1066" y="4112078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8983" y="5574866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F4D16238-DA9A-E61C-1C08-9EEF54CE1074}"/>
              </a:ext>
            </a:extLst>
          </p:cNvPr>
          <p:cNvSpPr txBox="1"/>
          <p:nvPr/>
        </p:nvSpPr>
        <p:spPr>
          <a:xfrm>
            <a:off x="908629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29084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322943" y="1459417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Tingkat </a:t>
            </a:r>
            <a:r>
              <a:rPr lang="en-US" sz="3200" dirty="0" err="1"/>
              <a:t>Dampak</a:t>
            </a:r>
            <a:r>
              <a:rPr lang="en-US" sz="3200" dirty="0"/>
              <a:t>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84DAEED2-0DBA-0442-8546-8F9827311BE9}"/>
              </a:ext>
            </a:extLst>
          </p:cNvPr>
          <p:cNvGraphicFramePr>
            <a:graphicFrameLocks noGrp="1"/>
          </p:cNvGraphicFramePr>
          <p:nvPr/>
        </p:nvGraphicFramePr>
        <p:xfrm>
          <a:off x="449944" y="2347893"/>
          <a:ext cx="10922304" cy="302941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11716">
                  <a:extLst>
                    <a:ext uri="{9D8B030D-6E8A-4147-A177-3AD203B41FA5}">
                      <a16:colId xmlns:a16="http://schemas.microsoft.com/office/drawing/2014/main" val="3620421029"/>
                    </a:ext>
                  </a:extLst>
                </a:gridCol>
                <a:gridCol w="3074371">
                  <a:extLst>
                    <a:ext uri="{9D8B030D-6E8A-4147-A177-3AD203B41FA5}">
                      <a16:colId xmlns:a16="http://schemas.microsoft.com/office/drawing/2014/main" val="33463763"/>
                    </a:ext>
                  </a:extLst>
                </a:gridCol>
                <a:gridCol w="6136217">
                  <a:extLst>
                    <a:ext uri="{9D8B030D-6E8A-4147-A177-3AD203B41FA5}">
                      <a16:colId xmlns:a16="http://schemas.microsoft.com/office/drawing/2014/main" val="2273823619"/>
                    </a:ext>
                  </a:extLst>
                </a:gridCol>
              </a:tblGrid>
              <a:tr h="4469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Tingkat</a:t>
                      </a:r>
                      <a:endParaRPr lang="en-US" sz="2000" b="1" dirty="0"/>
                    </a:p>
                  </a:txBody>
                  <a:tcPr marL="82771" marR="82771" marT="41385" marB="413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Dampak</a:t>
                      </a:r>
                      <a:endParaRPr lang="en-US" sz="2000" b="1"/>
                    </a:p>
                  </a:txBody>
                  <a:tcPr marL="82771" marR="82771" marT="41385" marB="413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Deskripsi</a:t>
                      </a:r>
                      <a:endParaRPr lang="en-US" sz="2000" b="1" dirty="0"/>
                    </a:p>
                  </a:txBody>
                  <a:tcPr marL="82771" marR="82771" marT="41385" marB="41385"/>
                </a:tc>
                <a:extLst>
                  <a:ext uri="{0D108BD9-81ED-4DB2-BD59-A6C34878D82A}">
                    <a16:rowId xmlns:a16="http://schemas.microsoft.com/office/drawing/2014/main" val="2365292738"/>
                  </a:ext>
                </a:extLst>
              </a:tr>
              <a:tr h="86081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Kecil</a:t>
                      </a:r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Dampak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finansial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non-</a:t>
                      </a:r>
                      <a:r>
                        <a:rPr lang="en-US" sz="1600" dirty="0" err="1"/>
                        <a:t>finansial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terlalu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serius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menyebabkan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banyak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masalah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kerusakan</a:t>
                      </a:r>
                      <a:endParaRPr lang="en-US" sz="1600" dirty="0"/>
                    </a:p>
                  </a:txBody>
                  <a:tcPr marL="82771" marR="82771" marT="41385" marB="41385" anchor="ctr"/>
                </a:tc>
                <a:extLst>
                  <a:ext uri="{0D108BD9-81ED-4DB2-BD59-A6C34878D82A}">
                    <a16:rowId xmlns:a16="http://schemas.microsoft.com/office/drawing/2014/main" val="1616792807"/>
                  </a:ext>
                </a:extLst>
              </a:tr>
              <a:tr h="6125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Sedang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Dampak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finansial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non-</a:t>
                      </a:r>
                      <a:r>
                        <a:rPr lang="en-US" sz="1600" dirty="0" err="1"/>
                        <a:t>finansial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besar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punya </a:t>
                      </a:r>
                      <a:r>
                        <a:rPr lang="en-US" sz="1600" dirty="0" err="1"/>
                        <a:t>pengaruh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mendapatkan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tindakan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lebih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lanjut</a:t>
                      </a:r>
                      <a:endParaRPr lang="en-US" sz="1600" dirty="0"/>
                    </a:p>
                  </a:txBody>
                  <a:tcPr marL="82771" marR="82771" marT="41385" marB="41385" anchor="ctr"/>
                </a:tc>
                <a:extLst>
                  <a:ext uri="{0D108BD9-81ED-4DB2-BD59-A6C34878D82A}">
                    <a16:rowId xmlns:a16="http://schemas.microsoft.com/office/drawing/2014/main" val="1298242479"/>
                  </a:ext>
                </a:extLst>
              </a:tr>
              <a:tr h="110912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Besar</a:t>
                      </a:r>
                      <a:endParaRPr lang="en-US" sz="2400" b="1" dirty="0"/>
                    </a:p>
                  </a:txBody>
                  <a:tcPr marL="82771" marR="82771" marT="41385" marB="4138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Dampak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secara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finansial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non-</a:t>
                      </a:r>
                      <a:r>
                        <a:rPr lang="en-US" sz="1600" dirty="0" err="1"/>
                        <a:t>finansia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sangat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buruk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serius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kerusakan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tidak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dikehendaki</a:t>
                      </a:r>
                      <a:endParaRPr lang="en-US" sz="1600" dirty="0"/>
                    </a:p>
                  </a:txBody>
                  <a:tcPr marL="82771" marR="82771" marT="41385" marB="41385" anchor="ctr"/>
                </a:tc>
                <a:extLst>
                  <a:ext uri="{0D108BD9-81ED-4DB2-BD59-A6C34878D82A}">
                    <a16:rowId xmlns:a16="http://schemas.microsoft.com/office/drawing/2014/main" val="2699467955"/>
                  </a:ext>
                </a:extLst>
              </a:tr>
            </a:tbl>
          </a:graphicData>
        </a:graphic>
      </p:graphicFrame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27A8D57D-F09C-5159-5081-2567C7C6F4C4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29876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322943" y="952111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Kriteria</a:t>
            </a:r>
            <a:r>
              <a:rPr lang="en-US" sz="3200" dirty="0"/>
              <a:t> </a:t>
            </a:r>
            <a:r>
              <a:rPr lang="en-US" sz="3200" dirty="0" err="1"/>
              <a:t>Dampak</a:t>
            </a:r>
            <a:r>
              <a:rPr lang="en-US" sz="3200" dirty="0"/>
              <a:t>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FB3F4-E936-449B-800D-75413F19B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1" y="1474651"/>
            <a:ext cx="10855569" cy="52247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30681" y="2032202"/>
            <a:ext cx="3645724" cy="558140"/>
          </a:xfrm>
          <a:prstGeom prst="rect">
            <a:avLst/>
          </a:prstGeom>
          <a:noFill/>
          <a:ln w="38100">
            <a:solidFill>
              <a:srgbClr val="E900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93330" y="2032202"/>
            <a:ext cx="3621974" cy="5581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76405" y="2032202"/>
            <a:ext cx="1816925" cy="55814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50512" y="1397568"/>
            <a:ext cx="824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8313" y="1429672"/>
            <a:ext cx="824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4317" y="1397568"/>
            <a:ext cx="824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6AB014B7-A3AA-E6A4-C2CE-1DC376DE45D0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8995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485631" y="1160462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Kriteria</a:t>
            </a:r>
            <a:r>
              <a:rPr lang="en-US" sz="3200" dirty="0"/>
              <a:t> </a:t>
            </a:r>
            <a:r>
              <a:rPr lang="en-US" sz="3200" dirty="0" err="1"/>
              <a:t>Dampak</a:t>
            </a:r>
            <a:r>
              <a:rPr lang="en-US" sz="3200" dirty="0"/>
              <a:t>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07DC92-44DD-4845-96B2-DA4460398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93" y="1678554"/>
            <a:ext cx="8146699" cy="5179446"/>
          </a:xfrm>
          <a:prstGeom prst="rect">
            <a:avLst/>
          </a:prstGeom>
        </p:spPr>
      </p:pic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03F70C66-C5D7-B3AE-436C-0EF0034500EC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50918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F2F8AC-A512-FE4E-8779-855212AD80FA}"/>
              </a:ext>
            </a:extLst>
          </p:cNvPr>
          <p:cNvGraphicFramePr>
            <a:graphicFrameLocks noGrp="1"/>
          </p:cNvGraphicFramePr>
          <p:nvPr/>
        </p:nvGraphicFramePr>
        <p:xfrm>
          <a:off x="488856" y="3002731"/>
          <a:ext cx="10826784" cy="3222923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138230">
                  <a:extLst>
                    <a:ext uri="{9D8B030D-6E8A-4147-A177-3AD203B41FA5}">
                      <a16:colId xmlns:a16="http://schemas.microsoft.com/office/drawing/2014/main" val="2265958575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827054803"/>
                    </a:ext>
                  </a:extLst>
                </a:gridCol>
                <a:gridCol w="5742154">
                  <a:extLst>
                    <a:ext uri="{9D8B030D-6E8A-4147-A177-3AD203B41FA5}">
                      <a16:colId xmlns:a16="http://schemas.microsoft.com/office/drawing/2014/main" val="2008145750"/>
                    </a:ext>
                  </a:extLst>
                </a:gridCol>
              </a:tblGrid>
              <a:tr h="583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Tingkat </a:t>
                      </a:r>
                      <a:r>
                        <a:rPr lang="en-GB" sz="2400" dirty="0" err="1">
                          <a:effectLst/>
                        </a:rPr>
                        <a:t>Risiko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effectLst/>
                        </a:rPr>
                        <a:t>Deskripsi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effectLst/>
                        </a:rPr>
                        <a:t>Aksi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extLst>
                  <a:ext uri="{0D108BD9-81ED-4DB2-BD59-A6C34878D82A}">
                    <a16:rowId xmlns:a16="http://schemas.microsoft.com/office/drawing/2014/main" val="3977876554"/>
                  </a:ext>
                </a:extLst>
              </a:tr>
              <a:tr h="97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u="sng" dirty="0">
                          <a:effectLst/>
                        </a:rPr>
                        <a:t>&gt;</a:t>
                      </a:r>
                      <a:r>
                        <a:rPr lang="en-GB" sz="2000" dirty="0">
                          <a:effectLst/>
                        </a:rPr>
                        <a:t> 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Tinggi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harus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ada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aksi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perbaikan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dalam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maksimum</a:t>
                      </a:r>
                      <a:r>
                        <a:rPr lang="en-GB" sz="2000" dirty="0">
                          <a:effectLst/>
                        </a:rPr>
                        <a:t> 3 </a:t>
                      </a:r>
                      <a:r>
                        <a:rPr lang="en-GB" sz="2000" dirty="0" err="1">
                          <a:effectLst/>
                        </a:rPr>
                        <a:t>bulan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ke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depan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extLst>
                  <a:ext uri="{0D108BD9-81ED-4DB2-BD59-A6C34878D82A}">
                    <a16:rowId xmlns:a16="http://schemas.microsoft.com/office/drawing/2014/main" val="526918239"/>
                  </a:ext>
                </a:extLst>
              </a:tr>
              <a:tr h="97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4 - 6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Sedang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Harus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ada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aksi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perbaikan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dalam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maksimum</a:t>
                      </a:r>
                      <a:r>
                        <a:rPr lang="en-GB" sz="2000" dirty="0">
                          <a:effectLst/>
                        </a:rPr>
                        <a:t> 6 </a:t>
                      </a:r>
                      <a:r>
                        <a:rPr lang="en-GB" sz="2000" dirty="0" err="1">
                          <a:effectLst/>
                        </a:rPr>
                        <a:t>bulan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ke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depan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extLst>
                  <a:ext uri="{0D108BD9-81ED-4DB2-BD59-A6C34878D82A}">
                    <a16:rowId xmlns:a16="http://schemas.microsoft.com/office/drawing/2014/main" val="3806467544"/>
                  </a:ext>
                </a:extLst>
              </a:tr>
              <a:tr h="54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1 - 3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Rendah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</a:rPr>
                        <a:t>Perlu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ada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perhatian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6272" marR="126272" marT="0" marB="0"/>
                </a:tc>
                <a:extLst>
                  <a:ext uri="{0D108BD9-81ED-4DB2-BD59-A6C34878D82A}">
                    <a16:rowId xmlns:a16="http://schemas.microsoft.com/office/drawing/2014/main" val="2486330232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E4F431-FF21-A542-97D7-66E1E3ED785C}"/>
              </a:ext>
            </a:extLst>
          </p:cNvPr>
          <p:cNvSpPr/>
          <p:nvPr/>
        </p:nvSpPr>
        <p:spPr>
          <a:xfrm>
            <a:off x="488856" y="1541380"/>
            <a:ext cx="10826784" cy="102764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</a:rPr>
              <a:t>Pengukuran</a:t>
            </a:r>
            <a:r>
              <a:rPr lang="en-US" sz="2800" dirty="0">
                <a:solidFill>
                  <a:schemeClr val="tx1"/>
                </a:solidFill>
              </a:rPr>
              <a:t> Tingkat </a:t>
            </a:r>
            <a:r>
              <a:rPr lang="en-US" sz="2800" dirty="0" err="1">
                <a:solidFill>
                  <a:schemeClr val="tx1"/>
                </a:solidFill>
              </a:rPr>
              <a:t>Risiko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</a:p>
          <a:p>
            <a:r>
              <a:rPr lang="en-GB" sz="2800" i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Tingkat </a:t>
            </a:r>
            <a:r>
              <a:rPr lang="en-GB" sz="2800" i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Risiko</a:t>
            </a:r>
            <a:r>
              <a:rPr lang="en-GB" sz="2800" i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Tingkat </a:t>
            </a:r>
            <a:r>
              <a:rPr lang="en-GB" sz="2800" i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Kemungkinan</a:t>
            </a:r>
            <a:r>
              <a:rPr lang="en-GB" sz="2800" i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x Tingkat </a:t>
            </a:r>
            <a:r>
              <a:rPr lang="en-GB" sz="2800" i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Dampak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3230CF3D-6BC2-50E4-EC7F-42A8B1ECEA89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08260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-5504" y="1987562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Tingkat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17728C-925E-4284-84F3-99ED7C0CB100}"/>
              </a:ext>
            </a:extLst>
          </p:cNvPr>
          <p:cNvGraphicFramePr>
            <a:graphicFrameLocks noGrp="1"/>
          </p:cNvGraphicFramePr>
          <p:nvPr/>
        </p:nvGraphicFramePr>
        <p:xfrm>
          <a:off x="3018285" y="1524962"/>
          <a:ext cx="5400001" cy="4725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1">
                  <a:extLst>
                    <a:ext uri="{9D8B030D-6E8A-4147-A177-3AD203B41FA5}">
                      <a16:colId xmlns:a16="http://schemas.microsoft.com/office/drawing/2014/main" val="2433914414"/>
                    </a:ext>
                  </a:extLst>
                </a:gridCol>
                <a:gridCol w="1730222">
                  <a:extLst>
                    <a:ext uri="{9D8B030D-6E8A-4147-A177-3AD203B41FA5}">
                      <a16:colId xmlns:a16="http://schemas.microsoft.com/office/drawing/2014/main" val="608753619"/>
                    </a:ext>
                  </a:extLst>
                </a:gridCol>
                <a:gridCol w="1637943">
                  <a:extLst>
                    <a:ext uri="{9D8B030D-6E8A-4147-A177-3AD203B41FA5}">
                      <a16:colId xmlns:a16="http://schemas.microsoft.com/office/drawing/2014/main" val="2030456920"/>
                    </a:ext>
                  </a:extLst>
                </a:gridCol>
                <a:gridCol w="1669435">
                  <a:extLst>
                    <a:ext uri="{9D8B030D-6E8A-4147-A177-3AD203B41FA5}">
                      <a16:colId xmlns:a16="http://schemas.microsoft.com/office/drawing/2014/main" val="1017758769"/>
                    </a:ext>
                  </a:extLst>
                </a:gridCol>
              </a:tblGrid>
              <a:tr h="3468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442532"/>
                  </a:ext>
                </a:extLst>
              </a:tr>
              <a:tr h="14030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Rendah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Rendah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Rendah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288008"/>
                  </a:ext>
                </a:extLst>
              </a:tr>
              <a:tr h="1441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Rendah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Sedang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Sedang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164381"/>
                  </a:ext>
                </a:extLst>
              </a:tr>
              <a:tr h="15148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Rendah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Sedang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Tinggi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75851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D1BAE6F-F951-4679-8011-F38FEB3E0A31}"/>
              </a:ext>
            </a:extLst>
          </p:cNvPr>
          <p:cNvSpPr/>
          <p:nvPr/>
        </p:nvSpPr>
        <p:spPr>
          <a:xfrm>
            <a:off x="4766405" y="1024714"/>
            <a:ext cx="2275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Tingkat </a:t>
            </a:r>
            <a:r>
              <a:rPr lang="en-GB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Kemungkinan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277DB5-B725-43C1-9F5C-5EF2EFB9C3CD}"/>
              </a:ext>
            </a:extLst>
          </p:cNvPr>
          <p:cNvSpPr/>
          <p:nvPr/>
        </p:nvSpPr>
        <p:spPr>
          <a:xfrm>
            <a:off x="1085171" y="3746482"/>
            <a:ext cx="1717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Tingkat </a:t>
            </a:r>
            <a:r>
              <a:rPr lang="en-GB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Dampak</a:t>
            </a:r>
            <a:endParaRPr lang="en-US" dirty="0"/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F75E4BCC-C712-BB0D-F4D9-AD4B806A2CA3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00026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735770" y="1329211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Contoh</a:t>
            </a:r>
            <a:r>
              <a:rPr lang="en-US" sz="3200" dirty="0"/>
              <a:t> </a:t>
            </a:r>
            <a:r>
              <a:rPr lang="en-US" sz="3200" dirty="0" err="1"/>
              <a:t>Penghitungan</a:t>
            </a:r>
            <a:r>
              <a:rPr lang="en-US" sz="3200" dirty="0"/>
              <a:t> Tingkat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0BC16B-C09C-0C48-A3E4-527593F08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459228"/>
              </p:ext>
            </p:extLst>
          </p:nvPr>
        </p:nvGraphicFramePr>
        <p:xfrm>
          <a:off x="638951" y="2667511"/>
          <a:ext cx="10925106" cy="379119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72171">
                  <a:extLst>
                    <a:ext uri="{9D8B030D-6E8A-4147-A177-3AD203B41FA5}">
                      <a16:colId xmlns:a16="http://schemas.microsoft.com/office/drawing/2014/main" val="2881523959"/>
                    </a:ext>
                  </a:extLst>
                </a:gridCol>
                <a:gridCol w="1491360">
                  <a:extLst>
                    <a:ext uri="{9D8B030D-6E8A-4147-A177-3AD203B41FA5}">
                      <a16:colId xmlns:a16="http://schemas.microsoft.com/office/drawing/2014/main" val="1074702815"/>
                    </a:ext>
                  </a:extLst>
                </a:gridCol>
                <a:gridCol w="1763046">
                  <a:extLst>
                    <a:ext uri="{9D8B030D-6E8A-4147-A177-3AD203B41FA5}">
                      <a16:colId xmlns:a16="http://schemas.microsoft.com/office/drawing/2014/main" val="3049158802"/>
                    </a:ext>
                  </a:extLst>
                </a:gridCol>
                <a:gridCol w="1319375">
                  <a:extLst>
                    <a:ext uri="{9D8B030D-6E8A-4147-A177-3AD203B41FA5}">
                      <a16:colId xmlns:a16="http://schemas.microsoft.com/office/drawing/2014/main" val="2946593685"/>
                    </a:ext>
                  </a:extLst>
                </a:gridCol>
                <a:gridCol w="2285819">
                  <a:extLst>
                    <a:ext uri="{9D8B030D-6E8A-4147-A177-3AD203B41FA5}">
                      <a16:colId xmlns:a16="http://schemas.microsoft.com/office/drawing/2014/main" val="1540694656"/>
                    </a:ext>
                  </a:extLst>
                </a:gridCol>
                <a:gridCol w="1591411">
                  <a:extLst>
                    <a:ext uri="{9D8B030D-6E8A-4147-A177-3AD203B41FA5}">
                      <a16:colId xmlns:a16="http://schemas.microsoft.com/office/drawing/2014/main" val="2156338009"/>
                    </a:ext>
                  </a:extLst>
                </a:gridCol>
                <a:gridCol w="1501924">
                  <a:extLst>
                    <a:ext uri="{9D8B030D-6E8A-4147-A177-3AD203B41FA5}">
                      <a16:colId xmlns:a16="http://schemas.microsoft.com/office/drawing/2014/main" val="668311345"/>
                    </a:ext>
                  </a:extLst>
                </a:gridCol>
              </a:tblGrid>
              <a:tr h="492774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ID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 err="1">
                          <a:effectLst/>
                        </a:rPr>
                        <a:t>Kategori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Sub-</a:t>
                      </a:r>
                      <a:r>
                        <a:rPr lang="en-AU" sz="2000" u="none" strike="noStrike" dirty="0" err="1">
                          <a:effectLst/>
                        </a:rPr>
                        <a:t>Kategori</a:t>
                      </a:r>
                      <a:endParaRPr lang="en-AU" sz="2000" b="1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 err="1">
                          <a:effectLst/>
                        </a:rPr>
                        <a:t>Risiko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 err="1">
                          <a:effectLst/>
                        </a:rPr>
                        <a:t>Kemungkinan</a:t>
                      </a:r>
                      <a:endParaRPr lang="en-AU" sz="2000" u="none" strike="noStrike" dirty="0">
                        <a:effectLst/>
                      </a:endParaRP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(Nilai = 1-3)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 err="1">
                          <a:effectLst/>
                        </a:rPr>
                        <a:t>Dampak</a:t>
                      </a:r>
                      <a:endParaRPr lang="en-AU" sz="2000" u="none" strike="noStrike" dirty="0">
                        <a:effectLst/>
                      </a:endParaRP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(Nilai = 1-3)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Tingkat </a:t>
                      </a:r>
                      <a:r>
                        <a:rPr lang="en-AU" sz="2000" u="none" strike="noStrike" dirty="0" err="1">
                          <a:effectLst/>
                        </a:rPr>
                        <a:t>Risiko</a:t>
                      </a:r>
                      <a:endParaRPr lang="en-AU" sz="2000" u="none" strike="noStrike" dirty="0">
                        <a:effectLst/>
                      </a:endParaRP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(</a:t>
                      </a:r>
                      <a:r>
                        <a:rPr lang="en-AU" sz="2000" u="none" strike="noStrike" dirty="0" err="1">
                          <a:effectLst/>
                        </a:rPr>
                        <a:t>kolom</a:t>
                      </a:r>
                      <a:r>
                        <a:rPr lang="en-AU" sz="2000" u="none" strike="noStrike" dirty="0">
                          <a:effectLst/>
                        </a:rPr>
                        <a:t> 5x6)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91600"/>
                  </a:ext>
                </a:extLst>
              </a:tr>
              <a:tr h="257829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1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2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3</a:t>
                      </a:r>
                      <a:endParaRPr lang="en-AU" sz="2000" b="1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4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5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6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000" u="none" strike="noStrike" dirty="0">
                          <a:effectLst/>
                        </a:rPr>
                        <a:t>7</a:t>
                      </a:r>
                      <a:endParaRPr lang="en-AU" sz="20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764133"/>
                  </a:ext>
                </a:extLst>
              </a:tr>
              <a:tr h="549160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R-1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 row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 Nature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 row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 err="1">
                          <a:effectLst/>
                        </a:rPr>
                        <a:t>Lingkungan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 err="1">
                          <a:effectLst/>
                        </a:rPr>
                        <a:t>Banjir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1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marL="201168" indent="-201168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extLst>
                  <a:ext uri="{0D108BD9-81ED-4DB2-BD59-A6C34878D82A}">
                    <a16:rowId xmlns:a16="http://schemas.microsoft.com/office/drawing/2014/main" val="197018628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R-2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>
                          <a:effectLst/>
                        </a:rPr>
                        <a:t>Longsor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>
                          <a:effectLst/>
                        </a:rPr>
                        <a:t>1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>
                          <a:effectLst/>
                        </a:rPr>
                        <a:t>3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marL="201168" indent="-201168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 3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extLst>
                  <a:ext uri="{0D108BD9-81ED-4DB2-BD59-A6C34878D82A}">
                    <a16:rowId xmlns:a16="http://schemas.microsoft.com/office/drawing/2014/main" val="1181687563"/>
                  </a:ext>
                </a:extLst>
              </a:tr>
              <a:tr h="360108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R-3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r>
                        <a:rPr lang="en-AU" sz="1600" u="none" strike="noStrike" dirty="0" err="1">
                          <a:effectLst/>
                        </a:rPr>
                        <a:t>Struktur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SDM </a:t>
                      </a:r>
                      <a:r>
                        <a:rPr lang="en-AU" sz="1600" u="none" strike="noStrike" dirty="0" err="1">
                          <a:effectLst/>
                        </a:rPr>
                        <a:t>Birokrasi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 err="1">
                          <a:effectLst/>
                        </a:rPr>
                        <a:t>Supir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Sakit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1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2 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extLst>
                  <a:ext uri="{0D108BD9-81ED-4DB2-BD59-A6C34878D82A}">
                    <a16:rowId xmlns:a16="http://schemas.microsoft.com/office/drawing/2014/main" val="2622093905"/>
                  </a:ext>
                </a:extLst>
              </a:tr>
              <a:tr h="360108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R-4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 err="1">
                          <a:effectLst/>
                        </a:rPr>
                        <a:t>Infrastruktur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u="none" strike="noStrike" dirty="0" err="1">
                          <a:effectLst/>
                        </a:rPr>
                        <a:t>Teknologi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Mobil </a:t>
                      </a:r>
                      <a:r>
                        <a:rPr lang="en-AU" sz="1600" u="none" strike="noStrike" dirty="0" err="1">
                          <a:effectLst/>
                        </a:rPr>
                        <a:t>Rusak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2 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2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600" u="none" strike="noStrike" dirty="0">
                          <a:effectLst/>
                        </a:rPr>
                        <a:t>4</a:t>
                      </a:r>
                      <a:endParaRPr lang="en-AU" sz="16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/>
                </a:tc>
                <a:extLst>
                  <a:ext uri="{0D108BD9-81ED-4DB2-BD59-A6C34878D82A}">
                    <a16:rowId xmlns:a16="http://schemas.microsoft.com/office/drawing/2014/main" val="186727906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541027-4027-EA42-AD6C-622ABFB9F17C}"/>
              </a:ext>
            </a:extLst>
          </p:cNvPr>
          <p:cNvSpPr txBox="1"/>
          <p:nvPr/>
        </p:nvSpPr>
        <p:spPr>
          <a:xfrm>
            <a:off x="735770" y="1797335"/>
            <a:ext cx="7633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Dimensi</a:t>
            </a:r>
            <a:r>
              <a:rPr lang="en-US" sz="2400" dirty="0"/>
              <a:t> : Smart Environment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Kerja</a:t>
            </a:r>
            <a:r>
              <a:rPr lang="en-US" sz="2400" dirty="0"/>
              <a:t> (QW): </a:t>
            </a:r>
            <a:r>
              <a:rPr lang="en-US" sz="2400" dirty="0" err="1"/>
              <a:t>Simpelputer</a:t>
            </a:r>
            <a:r>
              <a:rPr lang="en-US" sz="2400" dirty="0"/>
              <a:t> – </a:t>
            </a:r>
            <a:r>
              <a:rPr lang="en-US" sz="2400" dirty="0" err="1"/>
              <a:t>Kab.Situbondo</a:t>
            </a:r>
            <a:endParaRPr lang="en-US" sz="2400" dirty="0"/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08FDABEF-3759-B597-97F2-85E242D835A6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95401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Mitigasi</a:t>
            </a:r>
            <a:r>
              <a:rPr lang="en-US" dirty="0"/>
              <a:t> </a:t>
            </a:r>
            <a:r>
              <a:rPr lang="en-US" dirty="0" err="1"/>
              <a:t>Risiko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58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CDFEA-1399-714D-B40A-D56C0926317D}"/>
              </a:ext>
            </a:extLst>
          </p:cNvPr>
          <p:cNvSpPr txBox="1"/>
          <p:nvPr/>
        </p:nvSpPr>
        <p:spPr>
          <a:xfrm>
            <a:off x="660216" y="1201884"/>
            <a:ext cx="8287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Penentuan</a:t>
            </a:r>
            <a:r>
              <a:rPr lang="en-US" sz="3200" dirty="0"/>
              <a:t> </a:t>
            </a:r>
            <a:r>
              <a:rPr lang="en-US" sz="3200" dirty="0" err="1"/>
              <a:t>Mitigasi</a:t>
            </a:r>
            <a:r>
              <a:rPr lang="en-US" sz="3200" dirty="0"/>
              <a:t> </a:t>
            </a:r>
            <a:r>
              <a:rPr lang="en-US" sz="3200" dirty="0" err="1"/>
              <a:t>Risiko</a:t>
            </a:r>
            <a:endParaRPr lang="en-US" sz="32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9CA0CD2-B1CD-7B4D-9E4B-81B36C630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335923"/>
              </p:ext>
            </p:extLst>
          </p:nvPr>
        </p:nvGraphicFramePr>
        <p:xfrm>
          <a:off x="762000" y="2259638"/>
          <a:ext cx="10601157" cy="4957827"/>
        </p:xfrm>
        <a:graphic>
          <a:graphicData uri="http://schemas.openxmlformats.org/drawingml/2006/table">
            <a:tbl>
              <a:tblPr/>
              <a:tblGrid>
                <a:gridCol w="977505">
                  <a:extLst>
                    <a:ext uri="{9D8B030D-6E8A-4147-A177-3AD203B41FA5}">
                      <a16:colId xmlns:a16="http://schemas.microsoft.com/office/drawing/2014/main" val="2881523959"/>
                    </a:ext>
                  </a:extLst>
                </a:gridCol>
                <a:gridCol w="3692812">
                  <a:extLst>
                    <a:ext uri="{9D8B030D-6E8A-4147-A177-3AD203B41FA5}">
                      <a16:colId xmlns:a16="http://schemas.microsoft.com/office/drawing/2014/main" val="2367589394"/>
                    </a:ext>
                  </a:extLst>
                </a:gridCol>
                <a:gridCol w="5930840">
                  <a:extLst>
                    <a:ext uri="{9D8B030D-6E8A-4147-A177-3AD203B41FA5}">
                      <a16:colId xmlns:a16="http://schemas.microsoft.com/office/drawing/2014/main" val="1074702815"/>
                    </a:ext>
                  </a:extLst>
                </a:gridCol>
              </a:tblGrid>
              <a:tr h="797158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1" i="0" u="none" strike="noStrike" dirty="0"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1" i="0" u="none" strike="noStrike" dirty="0" err="1">
                          <a:effectLst/>
                          <a:latin typeface="Helvetica" pitchFamily="2" charset="0"/>
                        </a:rPr>
                        <a:t>Risiko</a:t>
                      </a:r>
                      <a:endParaRPr lang="en-AU" sz="2400" b="1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Mitigasi</a:t>
                      </a:r>
                      <a:r>
                        <a:rPr lang="en-A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AU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Struktural</a:t>
                      </a:r>
                      <a:r>
                        <a:rPr lang="en-A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AU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dan</a:t>
                      </a:r>
                      <a:r>
                        <a:rPr lang="en-A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Non </a:t>
                      </a:r>
                      <a:r>
                        <a:rPr lang="en-AU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Struktural</a:t>
                      </a:r>
                      <a:r>
                        <a:rPr lang="en-A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91600"/>
                  </a:ext>
                </a:extLst>
              </a:tr>
              <a:tr h="392844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764133"/>
                  </a:ext>
                </a:extLst>
              </a:tr>
              <a:tr h="687480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R-4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Mobil </a:t>
                      </a:r>
                      <a:r>
                        <a:rPr lang="en-AU" sz="2400" b="0" i="0" u="none" strike="noStrike" dirty="0" err="1">
                          <a:effectLst/>
                          <a:latin typeface="Helvetica" pitchFamily="2" charset="0"/>
                        </a:rPr>
                        <a:t>Rusak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Menyediakan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mobil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cadangan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Melakukan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servis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berkala</a:t>
                      </a:r>
                      <a:endParaRPr lang="en-AU" sz="2000" b="0" i="0" u="none" strike="noStrike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29510" marR="229510" marT="31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86289"/>
                  </a:ext>
                </a:extLst>
              </a:tr>
              <a:tr h="1017770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R-2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 err="1">
                          <a:effectLst/>
                          <a:latin typeface="Helvetica" pitchFamily="2" charset="0"/>
                        </a:rPr>
                        <a:t>Longsor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Menyusun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rute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alternatif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Memberikan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layanan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di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Satu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Tempat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Menggunakan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layanan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Alternatif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berbasis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baseline="0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elektronik</a:t>
                      </a:r>
                      <a:r>
                        <a:rPr lang="en-AU" sz="2000" b="0" i="0" u="none" strike="noStrike" baseline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.</a:t>
                      </a:r>
                      <a:endParaRPr lang="en-AU" sz="2000" b="0" i="0" u="none" strike="noStrike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29510" marR="229510" marT="31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696406"/>
                  </a:ext>
                </a:extLst>
              </a:tr>
              <a:tr h="952708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R-1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 err="1">
                          <a:effectLst/>
                          <a:latin typeface="Helvetica" pitchFamily="2" charset="0"/>
                        </a:rPr>
                        <a:t>Banjir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Menyusun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SOP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penanganan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banjir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Menggunakan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l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ayanan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Alternatif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berbasis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elektronik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</a:t>
                      </a:r>
                    </a:p>
                  </a:txBody>
                  <a:tcPr marL="229510" marR="229510" marT="31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279065"/>
                  </a:ext>
                </a:extLst>
              </a:tr>
              <a:tr h="1017770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R-3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0" u="none" strike="noStrike" dirty="0" err="1">
                          <a:effectLst/>
                          <a:latin typeface="Helvetica" pitchFamily="2" charset="0"/>
                        </a:rPr>
                        <a:t>Supir</a:t>
                      </a:r>
                      <a:r>
                        <a:rPr lang="en-AU" sz="2400" b="0" i="0" u="none" strike="noStrike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-AU" sz="2400" b="0" i="0" u="none" strike="noStrike" dirty="0" err="1">
                          <a:effectLst/>
                          <a:latin typeface="Helvetica" pitchFamily="2" charset="0"/>
                        </a:rPr>
                        <a:t>Sakit</a:t>
                      </a:r>
                      <a:endParaRPr lang="en-AU" sz="24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Menyediakan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supir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cadangan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Menyediakan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fasilitas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kesehatan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utk</a:t>
                      </a:r>
                      <a:r>
                        <a:rPr lang="en-AU" sz="2000" b="0" i="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AU" sz="2000" b="0" i="0" u="none" strike="noStrike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supir</a:t>
                      </a:r>
                      <a:endParaRPr lang="en-AU" sz="2000" b="0" i="0" u="none" strike="noStrike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29510" marR="229510" marT="31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060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B8215BB-0F20-E641-8EC2-E5ED467748BB}"/>
              </a:ext>
            </a:extLst>
          </p:cNvPr>
          <p:cNvSpPr txBox="1"/>
          <p:nvPr/>
        </p:nvSpPr>
        <p:spPr>
          <a:xfrm>
            <a:off x="660216" y="1786659"/>
            <a:ext cx="6088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: Program </a:t>
            </a:r>
            <a:r>
              <a:rPr lang="en-US" sz="2400" dirty="0" err="1"/>
              <a:t>Simpelputer</a:t>
            </a:r>
            <a:r>
              <a:rPr lang="en-US" sz="2400" dirty="0"/>
              <a:t> – </a:t>
            </a:r>
            <a:r>
              <a:rPr lang="en-US" sz="2400" dirty="0" err="1"/>
              <a:t>Kab</a:t>
            </a:r>
            <a:r>
              <a:rPr lang="en-US" sz="2400" dirty="0"/>
              <a:t>. </a:t>
            </a:r>
            <a:r>
              <a:rPr lang="en-US" sz="2400" dirty="0" err="1"/>
              <a:t>Situbondo</a:t>
            </a:r>
            <a:endParaRPr lang="en-US" sz="2400" dirty="0"/>
          </a:p>
        </p:txBody>
      </p:sp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413624CA-E24F-1E1D-497F-A9F43C985C31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ANALISA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13506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03E60-9C45-CD4A-91F0-74A9C783BCA8}"/>
              </a:ext>
            </a:extLst>
          </p:cNvPr>
          <p:cNvSpPr/>
          <p:nvPr/>
        </p:nvSpPr>
        <p:spPr>
          <a:xfrm>
            <a:off x="-5504" y="6744103"/>
            <a:ext cx="12192000" cy="1445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C4915-E952-D749-9E38-F22BE1B8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3F74-E382-6B4E-9D19-73E311D1AB3D}" type="slidenum">
              <a:rPr lang="en-US" smtClean="0"/>
              <a:t>25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41027-4027-EA42-AD6C-622ABFB9F17C}"/>
              </a:ext>
            </a:extLst>
          </p:cNvPr>
          <p:cNvSpPr txBox="1"/>
          <p:nvPr/>
        </p:nvSpPr>
        <p:spPr>
          <a:xfrm>
            <a:off x="230161" y="1632984"/>
            <a:ext cx="7848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Contoh</a:t>
            </a:r>
            <a:r>
              <a:rPr lang="en-US" sz="2400" dirty="0"/>
              <a:t>: </a:t>
            </a:r>
          </a:p>
          <a:p>
            <a:r>
              <a:rPr lang="en-US" sz="2400" dirty="0" err="1"/>
              <a:t>Dimensi</a:t>
            </a:r>
            <a:r>
              <a:rPr lang="en-US" sz="2400" dirty="0"/>
              <a:t> : Smart Environment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Kerja</a:t>
            </a:r>
            <a:r>
              <a:rPr lang="en-US" sz="2400" dirty="0"/>
              <a:t> (QW) : </a:t>
            </a:r>
            <a:r>
              <a:rPr lang="en-US" sz="2400" dirty="0" err="1"/>
              <a:t>Simpelputer</a:t>
            </a:r>
            <a:r>
              <a:rPr lang="en-US" sz="2400" dirty="0"/>
              <a:t> – </a:t>
            </a:r>
            <a:r>
              <a:rPr lang="en-US" sz="2400" dirty="0" err="1"/>
              <a:t>Kab</a:t>
            </a:r>
            <a:r>
              <a:rPr lang="en-US" sz="2400" dirty="0"/>
              <a:t>. </a:t>
            </a:r>
            <a:r>
              <a:rPr lang="en-US" sz="2400" dirty="0" err="1"/>
              <a:t>Situbondo</a:t>
            </a:r>
            <a:endParaRPr lang="en-US" sz="2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562FD0-96D8-4619-BAC3-432359EB5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836075"/>
              </p:ext>
            </p:extLst>
          </p:nvPr>
        </p:nvGraphicFramePr>
        <p:xfrm>
          <a:off x="230160" y="3156452"/>
          <a:ext cx="11199839" cy="3209294"/>
        </p:xfrm>
        <a:graphic>
          <a:graphicData uri="http://schemas.openxmlformats.org/drawingml/2006/table">
            <a:tbl>
              <a:tblPr/>
              <a:tblGrid>
                <a:gridCol w="808406">
                  <a:extLst>
                    <a:ext uri="{9D8B030D-6E8A-4147-A177-3AD203B41FA5}">
                      <a16:colId xmlns:a16="http://schemas.microsoft.com/office/drawing/2014/main" val="1026160785"/>
                    </a:ext>
                  </a:extLst>
                </a:gridCol>
                <a:gridCol w="1509867">
                  <a:extLst>
                    <a:ext uri="{9D8B030D-6E8A-4147-A177-3AD203B41FA5}">
                      <a16:colId xmlns:a16="http://schemas.microsoft.com/office/drawing/2014/main" val="1570150699"/>
                    </a:ext>
                  </a:extLst>
                </a:gridCol>
                <a:gridCol w="4983546">
                  <a:extLst>
                    <a:ext uri="{9D8B030D-6E8A-4147-A177-3AD203B41FA5}">
                      <a16:colId xmlns:a16="http://schemas.microsoft.com/office/drawing/2014/main" val="1074702815"/>
                    </a:ext>
                  </a:extLst>
                </a:gridCol>
                <a:gridCol w="3898020">
                  <a:extLst>
                    <a:ext uri="{9D8B030D-6E8A-4147-A177-3AD203B41FA5}">
                      <a16:colId xmlns:a16="http://schemas.microsoft.com/office/drawing/2014/main" val="987645638"/>
                    </a:ext>
                  </a:extLst>
                </a:gridCol>
              </a:tblGrid>
              <a:tr h="740284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ID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 err="1">
                          <a:effectLst/>
                          <a:latin typeface="Helvetica" pitchFamily="2" charset="0"/>
                        </a:rPr>
                        <a:t>Risiko</a:t>
                      </a:r>
                      <a:endParaRPr lang="en-AU" sz="18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Mitigasi</a:t>
                      </a:r>
                      <a:r>
                        <a:rPr lang="en-A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AU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Risiko</a:t>
                      </a:r>
                      <a:endParaRPr lang="en-AU" sz="18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800" b="0" i="0" u="none" strike="noStrike" dirty="0">
                        <a:effectLst/>
                        <a:latin typeface="Helvetica" pitchFamily="2" charset="0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91600"/>
                  </a:ext>
                </a:extLst>
              </a:tr>
              <a:tr h="344746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4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8 (</a:t>
                      </a:r>
                      <a:r>
                        <a:rPr lang="en-AU" sz="1800" b="0" i="0" u="none" strike="noStrike" dirty="0" err="1">
                          <a:effectLst/>
                          <a:latin typeface="Helvetica" pitchFamily="2" charset="0"/>
                        </a:rPr>
                        <a:t>Struktural</a:t>
                      </a: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)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Helvetica" pitchFamily="2" charset="0"/>
                        </a:rPr>
                        <a:t>9 (non-structural)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764133"/>
                  </a:ext>
                </a:extLst>
              </a:tr>
              <a:tr h="515054">
                <a:tc rowSpan="4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R-1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Banjir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s-ES" sz="16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Membangun</a:t>
                      </a:r>
                      <a:r>
                        <a:rPr lang="es-ES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s-ES" sz="16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layanan</a:t>
                      </a:r>
                      <a:r>
                        <a:rPr lang="es-ES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6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berbasis</a:t>
                      </a:r>
                      <a:r>
                        <a:rPr lang="es-ES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6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elektronik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Melakukan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Pelatihan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dan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Penyuluhan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86289"/>
                  </a:ext>
                </a:extLst>
              </a:tr>
              <a:tr h="515054"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Membangun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tanggul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sungai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Membentuk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Kelompok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Kerja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atau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POKJA</a:t>
                      </a: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696406"/>
                  </a:ext>
                </a:extLst>
              </a:tr>
              <a:tr h="515054"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Membersihkan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sungai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dan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pembuatan</a:t>
                      </a:r>
                      <a:r>
                        <a:rPr lang="en-AU" sz="1600" b="0" i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AU" sz="1600" b="0" i="0" u="none" strike="noStrike" dirty="0" err="1">
                          <a:effectLst/>
                          <a:latin typeface="+mn-lt"/>
                        </a:rPr>
                        <a:t>sudetan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it-IT" sz="1600" b="0" i="0" u="none" strike="noStrike" dirty="0">
                          <a:effectLst/>
                          <a:latin typeface="+mn-lt"/>
                        </a:rPr>
                        <a:t>Membuat Prosedur Operasi Standar Bencana Banjir</a:t>
                      </a: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279065"/>
                  </a:ext>
                </a:extLst>
              </a:tr>
              <a:tr h="515054"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AU" sz="1600" b="0" i="0" u="none" strike="noStrike" dirty="0">
                        <a:effectLst/>
                        <a:latin typeface="+mn-lt"/>
                      </a:endParaRPr>
                    </a:p>
                  </a:txBody>
                  <a:tcPr marL="181692" marR="181692" marT="252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06010"/>
                  </a:ext>
                </a:extLst>
              </a:tr>
            </a:tbl>
          </a:graphicData>
        </a:graphic>
      </p:graphicFrame>
      <p:sp>
        <p:nvSpPr>
          <p:cNvPr id="5" name="Google Shape;155;p8">
            <a:extLst>
              <a:ext uri="{FF2B5EF4-FFF2-40B4-BE49-F238E27FC236}">
                <a16:creationId xmlns:a16="http://schemas.microsoft.com/office/drawing/2014/main" id="{8FCB046A-E4FB-82C5-BA23-383500895012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MITIGASI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9296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C03A6-BE9F-C843-8D8B-56A17CE2100A}"/>
              </a:ext>
            </a:extLst>
          </p:cNvPr>
          <p:cNvSpPr txBox="1"/>
          <p:nvPr/>
        </p:nvSpPr>
        <p:spPr>
          <a:xfrm>
            <a:off x="431801" y="1016291"/>
            <a:ext cx="11148484" cy="2039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60959" tIns="60959" rIns="60959" bIns="60959" spcCol="38100" anchor="ctr">
            <a:noAutofit/>
          </a:bodyPr>
          <a:lstStyle/>
          <a:p>
            <a:pPr>
              <a:defRPr/>
            </a:pPr>
            <a:r>
              <a:rPr lang="en-ID" sz="2800" b="0" i="0" dirty="0" err="1">
                <a:effectLst/>
                <a:latin typeface="Helvetica" panose="020B0604020202020204" pitchFamily="34" charset="0"/>
              </a:rPr>
              <a:t>Mitigasi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Risiko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adalah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suatu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upaya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dilakukan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mengurangi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menghapus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kerugian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mungkin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terjadi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akibat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risiko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terjadi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(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bencana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)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yaitu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dengan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cara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membuat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persiapan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sebelum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terjadinya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bencana</a:t>
            </a:r>
            <a:endParaRPr lang="en-SG" sz="2800" b="1" kern="0" dirty="0"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A6D7C-757B-4B62-976D-680E814E9901}"/>
              </a:ext>
            </a:extLst>
          </p:cNvPr>
          <p:cNvSpPr txBox="1"/>
          <p:nvPr/>
        </p:nvSpPr>
        <p:spPr>
          <a:xfrm>
            <a:off x="431800" y="3077284"/>
            <a:ext cx="11531599" cy="13811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60959" tIns="60959" rIns="60959" bIns="60959" spcCol="38100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ID" sz="2800" b="0" i="0" dirty="0" err="1">
                <a:effectLst/>
                <a:latin typeface="Helvetica" panose="020B0604020202020204" pitchFamily="34" charset="0"/>
              </a:rPr>
              <a:t>Mitigasi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Struktural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;</a:t>
            </a:r>
          </a:p>
          <a:p>
            <a:pPr lvl="1">
              <a:defRPr/>
            </a:pPr>
            <a:r>
              <a:rPr lang="en-ID" sz="2800" dirty="0" err="1">
                <a:latin typeface="Helvetica" panose="020B0604020202020204" pitchFamily="34" charset="0"/>
              </a:rPr>
              <a:t>U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paya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meminimalkan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bencana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dilaksanakan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melalui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pembangunan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prasarana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fisik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dan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memakai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pendekatan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teknologi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A1EA3-65DD-4F98-85AE-5A26E04BA217}"/>
              </a:ext>
            </a:extLst>
          </p:cNvPr>
          <p:cNvSpPr txBox="1"/>
          <p:nvPr/>
        </p:nvSpPr>
        <p:spPr>
          <a:xfrm>
            <a:off x="431799" y="4610810"/>
            <a:ext cx="11531599" cy="1713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60959" tIns="60959" rIns="60959" bIns="60959" spcCol="38100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ID" sz="2800" b="0" i="0" dirty="0" err="1">
                <a:effectLst/>
                <a:latin typeface="Helvetica" panose="020B0604020202020204" pitchFamily="34" charset="0"/>
              </a:rPr>
              <a:t>Mitigasi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Non-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Struktural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;</a:t>
            </a:r>
          </a:p>
          <a:p>
            <a:pPr lvl="1">
              <a:defRPr/>
            </a:pPr>
            <a:r>
              <a:rPr lang="en-ID" sz="2800" dirty="0" err="1">
                <a:latin typeface="Helvetica" panose="020B0604020202020204" pitchFamily="34" charset="0"/>
              </a:rPr>
              <a:t>Upaya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mengurangi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akibat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bencana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dengan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pembuatan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kebijakan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seperti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suatu</a:t>
            </a:r>
            <a:r>
              <a:rPr lang="en-ID" sz="2800" dirty="0">
                <a:latin typeface="Helvetica" panose="020B0604020202020204" pitchFamily="34" charset="0"/>
              </a:rPr>
              <a:t> </a:t>
            </a:r>
            <a:r>
              <a:rPr lang="en-ID" sz="2800" dirty="0" err="1">
                <a:latin typeface="Helvetica" panose="020B0604020202020204" pitchFamily="34" charset="0"/>
              </a:rPr>
              <a:t>peraturan</a:t>
            </a:r>
            <a:r>
              <a:rPr lang="en-ID" sz="2800" dirty="0">
                <a:latin typeface="Helvetica" panose="020B0604020202020204" pitchFamily="34" charset="0"/>
              </a:rPr>
              <a:t>.</a:t>
            </a:r>
            <a:endParaRPr lang="en-ID" sz="2800" b="0" i="0" dirty="0">
              <a:effectLst/>
              <a:latin typeface="Helvetica" panose="020B0604020202020204" pitchFamily="34" charset="0"/>
            </a:endParaRPr>
          </a:p>
        </p:txBody>
      </p:sp>
      <p:sp>
        <p:nvSpPr>
          <p:cNvPr id="3" name="Google Shape;155;p8">
            <a:extLst>
              <a:ext uri="{FF2B5EF4-FFF2-40B4-BE49-F238E27FC236}">
                <a16:creationId xmlns:a16="http://schemas.microsoft.com/office/drawing/2014/main" id="{E80D411F-CFE5-BF78-E5A3-E8F18D7C9075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MITIGASI RISIKO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71571393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B779-06BB-E8AE-2C77-D7B29A86D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5;p8">
            <a:extLst>
              <a:ext uri="{FF2B5EF4-FFF2-40B4-BE49-F238E27FC236}">
                <a16:creationId xmlns:a16="http://schemas.microsoft.com/office/drawing/2014/main" id="{95CBEFCE-B337-70A6-6D67-0BFE68DAC5F8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MITIGASI RISIKO</a:t>
            </a:r>
            <a:endParaRPr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239A4-3F5A-596E-6DC6-7B7A56CB44A1}"/>
              </a:ext>
            </a:extLst>
          </p:cNvPr>
          <p:cNvSpPr txBox="1"/>
          <p:nvPr/>
        </p:nvSpPr>
        <p:spPr>
          <a:xfrm>
            <a:off x="452120" y="1358794"/>
            <a:ext cx="11531599" cy="54817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60959" tIns="60959" rIns="60959" bIns="60959" spcCol="38100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ID" sz="2800" b="0" i="0" dirty="0" err="1">
                <a:effectLst/>
                <a:latin typeface="Helvetica" panose="020B0604020202020204" pitchFamily="34" charset="0"/>
              </a:rPr>
              <a:t>Contoh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Mitigasi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800" b="0" i="0" dirty="0" err="1">
                <a:effectLst/>
                <a:latin typeface="Helvetica" panose="020B0604020202020204" pitchFamily="34" charset="0"/>
              </a:rPr>
              <a:t>Struktural</a:t>
            </a:r>
            <a:r>
              <a:rPr lang="en-ID" sz="2800" b="0" i="0" dirty="0">
                <a:effectLst/>
                <a:latin typeface="Helvetica" panose="020B0604020202020204" pitchFamily="34" charset="0"/>
              </a:rPr>
              <a:t> 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 b="0" i="0" dirty="0">
                <a:effectLst/>
                <a:latin typeface="Helvetica" panose="020B0604020202020204" pitchFamily="34" charset="0"/>
              </a:rPr>
              <a:t>Pembangunan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kanal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khusus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mencegah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banjir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Penggunaan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alat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deteksi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aktivitas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gunung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berapi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Membuat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struktur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bangunan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yang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tahan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gempa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Penggunaan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sistem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peringatan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dini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untuk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memperkirakan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kemungkinan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adanya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gelombang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tsunami.</a:t>
            </a:r>
          </a:p>
          <a:p>
            <a:pPr algn="just"/>
            <a:endParaRPr lang="en-ID" sz="2400" dirty="0">
              <a:latin typeface="Helvetica" panose="020B0604020202020204" pitchFamily="34" charset="0"/>
            </a:endParaRPr>
          </a:p>
          <a:p>
            <a:pPr algn="just"/>
            <a:r>
              <a:rPr lang="en-ID" sz="2400" b="0" i="0" dirty="0" err="1">
                <a:effectLst/>
                <a:latin typeface="Helvetica" panose="020B0604020202020204" pitchFamily="34" charset="0"/>
              </a:rPr>
              <a:t>Contoh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Mitigasi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Non-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Struktural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;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Larangan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membuang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sampah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ke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selokan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atau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sungai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Mengatur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tata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ruang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kota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D" sz="2400" b="0" i="0" dirty="0" err="1">
                <a:effectLst/>
                <a:latin typeface="Helvetica" panose="020B0604020202020204" pitchFamily="34" charset="0"/>
              </a:rPr>
              <a:t>Mengatur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kapasitas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pembangunan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 </a:t>
            </a:r>
            <a:r>
              <a:rPr lang="en-ID" sz="2400" b="0" i="0" dirty="0" err="1">
                <a:effectLst/>
                <a:latin typeface="Helvetica" panose="020B0604020202020204" pitchFamily="34" charset="0"/>
              </a:rPr>
              <a:t>masyarakat</a:t>
            </a:r>
            <a:r>
              <a:rPr lang="en-ID" sz="2400" b="0" i="0" dirty="0">
                <a:effectLst/>
                <a:latin typeface="Helvetica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defRPr/>
            </a:pPr>
            <a:endParaRPr lang="en-ID" sz="2800" b="0" i="0" dirty="0">
              <a:effectLst/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08891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410F4400-46D8-D450-D1C5-39FF0AB3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A8B107E4-8670-CAB8-5AFE-1C06211FF5AB}"/>
              </a:ext>
            </a:extLst>
          </p:cNvPr>
          <p:cNvSpPr txBox="1"/>
          <p:nvPr/>
        </p:nvSpPr>
        <p:spPr>
          <a:xfrm>
            <a:off x="940526" y="17462"/>
            <a:ext cx="9940834" cy="1143000"/>
          </a:xfrm>
          <a:prstGeom prst="rect">
            <a:avLst/>
          </a:prstGeom>
          <a:solidFill>
            <a:srgbClr val="E4EBF4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3200"/>
            </a:pPr>
            <a:r>
              <a:rPr lang="en-US" sz="3200" b="1" dirty="0"/>
              <a:t>MANAJEMEN RISIKO: Kasus Tubes</a:t>
            </a:r>
            <a:endParaRPr b="1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186E0-C563-CDFA-0888-3FC68770805A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8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DISKUSIKAN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Identifikasi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Risiko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mungkin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trejadi</a:t>
            </a:r>
            <a:endParaRPr lang="en-US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Analisa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berapa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sering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dan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besar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dampaknya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terhadap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kesuksesan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sistem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informasi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anda</a:t>
            </a:r>
            <a:endParaRPr lang="en-US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Untuk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risiko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yang paling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penting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sering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dan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besar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dampaknya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apa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mitigasi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bisa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</a:rPr>
              <a:t>dilakukan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242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FF62-51ED-5874-C9B3-3057C412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9D07952-0EB3-6D2B-1B5E-06FD2899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2"/>
            <a:ext cx="12192001" cy="680465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FD5FEEF-F1B3-63A4-DB93-EBD71189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073871"/>
            <a:ext cx="11360800" cy="763600"/>
          </a:xfrm>
        </p:spPr>
        <p:txBody>
          <a:bodyPr>
            <a:noAutofit/>
          </a:bodyPr>
          <a:lstStyle/>
          <a:p>
            <a:pPr algn="ctr"/>
            <a:r>
              <a:rPr lang="en-US" sz="5400" dirty="0" err="1">
                <a:solidFill>
                  <a:schemeClr val="accent1"/>
                </a:solidFill>
              </a:rPr>
              <a:t>Terima</a:t>
            </a:r>
            <a:r>
              <a:rPr lang="en-US" sz="5400" dirty="0">
                <a:solidFill>
                  <a:schemeClr val="accent1"/>
                </a:solidFill>
              </a:rPr>
              <a:t> </a:t>
            </a:r>
            <a:r>
              <a:rPr lang="en-US" sz="5400" dirty="0" err="1">
                <a:solidFill>
                  <a:schemeClr val="accent1"/>
                </a:solidFill>
              </a:rPr>
              <a:t>kasih</a:t>
            </a:r>
            <a:endParaRPr lang="en-US" sz="5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110974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DarkSeedLeftStep">
      <a:dk1>
        <a:srgbClr val="000000"/>
      </a:dk1>
      <a:lt1>
        <a:srgbClr val="FFFFFF"/>
      </a:lt1>
      <a:dk2>
        <a:srgbClr val="1F1833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01DD6"/>
      </a:accent4>
      <a:accent5>
        <a:srgbClr val="2943E7"/>
      </a:accent5>
      <a:accent6>
        <a:srgbClr val="1781D5"/>
      </a:accent6>
      <a:hlink>
        <a:srgbClr val="433FBF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7845</TotalTime>
  <Words>1207</Words>
  <Application>Microsoft Macintosh PowerPoint</Application>
  <PresentationFormat>Widescreen</PresentationFormat>
  <Paragraphs>298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Avenir Next LT Pro</vt:lpstr>
      <vt:lpstr>Avenir Next LT Pro Light</vt:lpstr>
      <vt:lpstr>Calibri</vt:lpstr>
      <vt:lpstr>Helvetica</vt:lpstr>
      <vt:lpstr>Sitka Subheading</vt:lpstr>
      <vt:lpstr>Times New Roman</vt:lpstr>
      <vt:lpstr>Wingdings</vt:lpstr>
      <vt:lpstr>PebbleVTI</vt:lpstr>
      <vt:lpstr>IF3141 Sistem Informasi </vt:lpstr>
      <vt:lpstr>PowerPoint Presentation</vt:lpstr>
      <vt:lpstr>Risiko dalam Sistem Informasi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Identifikasi Risiko</vt:lpstr>
      <vt:lpstr>PowerPoint Presentation</vt:lpstr>
      <vt:lpstr>PowerPoint Presentation</vt:lpstr>
      <vt:lpstr>PowerPoint Presentation</vt:lpstr>
      <vt:lpstr>Analisis Risiko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Mitigasi Risiko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Philosophy, Ethics and Safety</dc:title>
  <dc:creator>Windy Gambetta</dc:creator>
  <cp:lastModifiedBy>Dicky Prima Satya, S.T, M.T.</cp:lastModifiedBy>
  <cp:revision>34</cp:revision>
  <dcterms:created xsi:type="dcterms:W3CDTF">2022-11-25T04:07:18Z</dcterms:created>
  <dcterms:modified xsi:type="dcterms:W3CDTF">2025-06-04T04:12:34Z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2024-04-01T01:18:32Z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bc797fa3-bd5b-4823-a187-98bf4832a280</vt:lpwstr>
  </property>
  <property fmtid="{D5CDD505-2E9C-101B-9397-08002B2CF9AE}" pid="8" name="MSIP_Label_38b525e5-f3da-4501-8f1e-526b6769fc56_ContentBits">
    <vt:lpwstr>0</vt:lpwstr>
  </property>
</Properties>
</file>