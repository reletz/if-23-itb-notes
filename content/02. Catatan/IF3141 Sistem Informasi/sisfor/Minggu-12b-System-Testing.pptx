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6"/>
  </p:notesMasterIdLst>
  <p:sldIdLst>
    <p:sldId id="279" r:id="rId2"/>
    <p:sldId id="307" r:id="rId3"/>
    <p:sldId id="338" r:id="rId4"/>
    <p:sldId id="339" r:id="rId5"/>
    <p:sldId id="340" r:id="rId6"/>
    <p:sldId id="341" r:id="rId7"/>
    <p:sldId id="342" r:id="rId8"/>
    <p:sldId id="343" r:id="rId9"/>
    <p:sldId id="344" r:id="rId10"/>
    <p:sldId id="345" r:id="rId11"/>
    <p:sldId id="346" r:id="rId12"/>
    <p:sldId id="347" r:id="rId13"/>
    <p:sldId id="348" r:id="rId14"/>
    <p:sldId id="349" r:id="rId15"/>
    <p:sldId id="350" r:id="rId16"/>
    <p:sldId id="351" r:id="rId17"/>
    <p:sldId id="352" r:id="rId18"/>
    <p:sldId id="353" r:id="rId19"/>
    <p:sldId id="354" r:id="rId20"/>
    <p:sldId id="355" r:id="rId21"/>
    <p:sldId id="356" r:id="rId22"/>
    <p:sldId id="357" r:id="rId23"/>
    <p:sldId id="358" r:id="rId24"/>
    <p:sldId id="359" r:id="rId25"/>
    <p:sldId id="360" r:id="rId26"/>
    <p:sldId id="361" r:id="rId27"/>
    <p:sldId id="362" r:id="rId28"/>
    <p:sldId id="363" r:id="rId29"/>
    <p:sldId id="364" r:id="rId30"/>
    <p:sldId id="365" r:id="rId31"/>
    <p:sldId id="366" r:id="rId32"/>
    <p:sldId id="367" r:id="rId33"/>
    <p:sldId id="368" r:id="rId34"/>
    <p:sldId id="369" r:id="rId35"/>
    <p:sldId id="370" r:id="rId36"/>
    <p:sldId id="371" r:id="rId37"/>
    <p:sldId id="372" r:id="rId38"/>
    <p:sldId id="373" r:id="rId39"/>
    <p:sldId id="374" r:id="rId40"/>
    <p:sldId id="375" r:id="rId41"/>
    <p:sldId id="376" r:id="rId42"/>
    <p:sldId id="377" r:id="rId43"/>
    <p:sldId id="378" r:id="rId44"/>
    <p:sldId id="379" r:id="rId45"/>
    <p:sldId id="380" r:id="rId46"/>
    <p:sldId id="381" r:id="rId47"/>
    <p:sldId id="382" r:id="rId48"/>
    <p:sldId id="383" r:id="rId49"/>
    <p:sldId id="384" r:id="rId50"/>
    <p:sldId id="385" r:id="rId51"/>
    <p:sldId id="386" r:id="rId52"/>
    <p:sldId id="387" r:id="rId53"/>
    <p:sldId id="388" r:id="rId54"/>
    <p:sldId id="389" r:id="rId5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73" autoAdjust="0"/>
    <p:restoredTop sz="78933" autoAdjust="0"/>
  </p:normalViewPr>
  <p:slideViewPr>
    <p:cSldViewPr snapToGrid="0" snapToObjects="1">
      <p:cViewPr varScale="1">
        <p:scale>
          <a:sx n="96" d="100"/>
          <a:sy n="96" d="100"/>
        </p:scale>
        <p:origin x="2488"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C96555-1331-A948-B8C0-76C5C61AF710}" type="datetimeFigureOut">
              <a:t>5/7/25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2B5633-2346-D94D-BA9C-6A3E2BD83B6F}" type="slidenum">
              <a:t>‹#›</a:t>
            </a:fld>
            <a:endParaRPr lang="en-US"/>
          </a:p>
        </p:txBody>
      </p:sp>
    </p:spTree>
    <p:extLst>
      <p:ext uri="{BB962C8B-B14F-4D97-AF65-F5344CB8AC3E}">
        <p14:creationId xmlns:p14="http://schemas.microsoft.com/office/powerpoint/2010/main" val="1103348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ED8A9B0-80EF-A34D-B345-E2DEC5501E01}" type="slidenum">
              <a:rPr lang="en-US" smtClean="0"/>
              <a:t>1</a:t>
            </a:fld>
            <a:endParaRPr lang="en-US"/>
          </a:p>
        </p:txBody>
      </p:sp>
    </p:spTree>
    <p:extLst>
      <p:ext uri="{BB962C8B-B14F-4D97-AF65-F5344CB8AC3E}">
        <p14:creationId xmlns:p14="http://schemas.microsoft.com/office/powerpoint/2010/main" val="4016321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2</a:t>
            </a:fld>
            <a:endParaRPr lang="en-US"/>
          </a:p>
        </p:txBody>
      </p:sp>
    </p:spTree>
    <p:extLst>
      <p:ext uri="{BB962C8B-B14F-4D97-AF65-F5344CB8AC3E}">
        <p14:creationId xmlns:p14="http://schemas.microsoft.com/office/powerpoint/2010/main" val="20388923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3</a:t>
            </a:fld>
            <a:endParaRPr lang="en-US"/>
          </a:p>
        </p:txBody>
      </p:sp>
    </p:spTree>
    <p:extLst>
      <p:ext uri="{BB962C8B-B14F-4D97-AF65-F5344CB8AC3E}">
        <p14:creationId xmlns:p14="http://schemas.microsoft.com/office/powerpoint/2010/main" val="2826194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4</a:t>
            </a:fld>
            <a:endParaRPr lang="en-US"/>
          </a:p>
        </p:txBody>
      </p:sp>
    </p:spTree>
    <p:extLst>
      <p:ext uri="{BB962C8B-B14F-4D97-AF65-F5344CB8AC3E}">
        <p14:creationId xmlns:p14="http://schemas.microsoft.com/office/powerpoint/2010/main" val="42117448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5</a:t>
            </a:fld>
            <a:endParaRPr lang="en-US"/>
          </a:p>
        </p:txBody>
      </p:sp>
    </p:spTree>
    <p:extLst>
      <p:ext uri="{BB962C8B-B14F-4D97-AF65-F5344CB8AC3E}">
        <p14:creationId xmlns:p14="http://schemas.microsoft.com/office/powerpoint/2010/main" val="9955704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6</a:t>
            </a:fld>
            <a:endParaRPr lang="en-US"/>
          </a:p>
        </p:txBody>
      </p:sp>
    </p:spTree>
    <p:extLst>
      <p:ext uri="{BB962C8B-B14F-4D97-AF65-F5344CB8AC3E}">
        <p14:creationId xmlns:p14="http://schemas.microsoft.com/office/powerpoint/2010/main" val="15406604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7</a:t>
            </a:fld>
            <a:endParaRPr lang="en-US"/>
          </a:p>
        </p:txBody>
      </p:sp>
    </p:spTree>
    <p:extLst>
      <p:ext uri="{BB962C8B-B14F-4D97-AF65-F5344CB8AC3E}">
        <p14:creationId xmlns:p14="http://schemas.microsoft.com/office/powerpoint/2010/main" val="28624346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8</a:t>
            </a:fld>
            <a:endParaRPr lang="en-US"/>
          </a:p>
        </p:txBody>
      </p:sp>
    </p:spTree>
    <p:extLst>
      <p:ext uri="{BB962C8B-B14F-4D97-AF65-F5344CB8AC3E}">
        <p14:creationId xmlns:p14="http://schemas.microsoft.com/office/powerpoint/2010/main" val="30430715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9</a:t>
            </a:fld>
            <a:endParaRPr lang="en-US"/>
          </a:p>
        </p:txBody>
      </p:sp>
    </p:spTree>
    <p:extLst>
      <p:ext uri="{BB962C8B-B14F-4D97-AF65-F5344CB8AC3E}">
        <p14:creationId xmlns:p14="http://schemas.microsoft.com/office/powerpoint/2010/main" val="26620213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10</a:t>
            </a:fld>
            <a:endParaRPr lang="en-US"/>
          </a:p>
        </p:txBody>
      </p:sp>
    </p:spTree>
    <p:extLst>
      <p:ext uri="{BB962C8B-B14F-4D97-AF65-F5344CB8AC3E}">
        <p14:creationId xmlns:p14="http://schemas.microsoft.com/office/powerpoint/2010/main" val="4073716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11</a:t>
            </a:fld>
            <a:endParaRPr lang="en-US"/>
          </a:p>
        </p:txBody>
      </p:sp>
    </p:spTree>
    <p:extLst>
      <p:ext uri="{BB962C8B-B14F-4D97-AF65-F5344CB8AC3E}">
        <p14:creationId xmlns:p14="http://schemas.microsoft.com/office/powerpoint/2010/main" val="33194035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12</a:t>
            </a:fld>
            <a:endParaRPr lang="en-US"/>
          </a:p>
        </p:txBody>
      </p:sp>
    </p:spTree>
    <p:extLst>
      <p:ext uri="{BB962C8B-B14F-4D97-AF65-F5344CB8AC3E}">
        <p14:creationId xmlns:p14="http://schemas.microsoft.com/office/powerpoint/2010/main" val="2970704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13</a:t>
            </a:fld>
            <a:endParaRPr lang="en-US"/>
          </a:p>
        </p:txBody>
      </p:sp>
    </p:spTree>
    <p:extLst>
      <p:ext uri="{BB962C8B-B14F-4D97-AF65-F5344CB8AC3E}">
        <p14:creationId xmlns:p14="http://schemas.microsoft.com/office/powerpoint/2010/main" val="30753112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14</a:t>
            </a:fld>
            <a:endParaRPr lang="en-US"/>
          </a:p>
        </p:txBody>
      </p:sp>
    </p:spTree>
    <p:extLst>
      <p:ext uri="{BB962C8B-B14F-4D97-AF65-F5344CB8AC3E}">
        <p14:creationId xmlns:p14="http://schemas.microsoft.com/office/powerpoint/2010/main" val="12467100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15</a:t>
            </a:fld>
            <a:endParaRPr lang="en-US"/>
          </a:p>
        </p:txBody>
      </p:sp>
    </p:spTree>
    <p:extLst>
      <p:ext uri="{BB962C8B-B14F-4D97-AF65-F5344CB8AC3E}">
        <p14:creationId xmlns:p14="http://schemas.microsoft.com/office/powerpoint/2010/main" val="9110879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16</a:t>
            </a:fld>
            <a:endParaRPr lang="en-US"/>
          </a:p>
        </p:txBody>
      </p:sp>
    </p:spTree>
    <p:extLst>
      <p:ext uri="{BB962C8B-B14F-4D97-AF65-F5344CB8AC3E}">
        <p14:creationId xmlns:p14="http://schemas.microsoft.com/office/powerpoint/2010/main" val="20286951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17</a:t>
            </a:fld>
            <a:endParaRPr lang="en-US"/>
          </a:p>
        </p:txBody>
      </p:sp>
    </p:spTree>
    <p:extLst>
      <p:ext uri="{BB962C8B-B14F-4D97-AF65-F5344CB8AC3E}">
        <p14:creationId xmlns:p14="http://schemas.microsoft.com/office/powerpoint/2010/main" val="216754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18</a:t>
            </a:fld>
            <a:endParaRPr lang="en-US"/>
          </a:p>
        </p:txBody>
      </p:sp>
    </p:spTree>
    <p:extLst>
      <p:ext uri="{BB962C8B-B14F-4D97-AF65-F5344CB8AC3E}">
        <p14:creationId xmlns:p14="http://schemas.microsoft.com/office/powerpoint/2010/main" val="36949081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19</a:t>
            </a:fld>
            <a:endParaRPr lang="en-US"/>
          </a:p>
        </p:txBody>
      </p:sp>
    </p:spTree>
    <p:extLst>
      <p:ext uri="{BB962C8B-B14F-4D97-AF65-F5344CB8AC3E}">
        <p14:creationId xmlns:p14="http://schemas.microsoft.com/office/powerpoint/2010/main" val="35084078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20</a:t>
            </a:fld>
            <a:endParaRPr lang="en-US"/>
          </a:p>
        </p:txBody>
      </p:sp>
    </p:spTree>
    <p:extLst>
      <p:ext uri="{BB962C8B-B14F-4D97-AF65-F5344CB8AC3E}">
        <p14:creationId xmlns:p14="http://schemas.microsoft.com/office/powerpoint/2010/main" val="12465115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21</a:t>
            </a:fld>
            <a:endParaRPr lang="en-US"/>
          </a:p>
        </p:txBody>
      </p:sp>
    </p:spTree>
    <p:extLst>
      <p:ext uri="{BB962C8B-B14F-4D97-AF65-F5344CB8AC3E}">
        <p14:creationId xmlns:p14="http://schemas.microsoft.com/office/powerpoint/2010/main" val="960892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22</a:t>
            </a:fld>
            <a:endParaRPr lang="en-US"/>
          </a:p>
        </p:txBody>
      </p:sp>
    </p:spTree>
    <p:extLst>
      <p:ext uri="{BB962C8B-B14F-4D97-AF65-F5344CB8AC3E}">
        <p14:creationId xmlns:p14="http://schemas.microsoft.com/office/powerpoint/2010/main" val="20270863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23</a:t>
            </a:fld>
            <a:endParaRPr lang="en-US"/>
          </a:p>
        </p:txBody>
      </p:sp>
    </p:spTree>
    <p:extLst>
      <p:ext uri="{BB962C8B-B14F-4D97-AF65-F5344CB8AC3E}">
        <p14:creationId xmlns:p14="http://schemas.microsoft.com/office/powerpoint/2010/main" val="27554672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24</a:t>
            </a:fld>
            <a:endParaRPr lang="en-US"/>
          </a:p>
        </p:txBody>
      </p:sp>
    </p:spTree>
    <p:extLst>
      <p:ext uri="{BB962C8B-B14F-4D97-AF65-F5344CB8AC3E}">
        <p14:creationId xmlns:p14="http://schemas.microsoft.com/office/powerpoint/2010/main" val="16328126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25</a:t>
            </a:fld>
            <a:endParaRPr lang="en-US"/>
          </a:p>
        </p:txBody>
      </p:sp>
    </p:spTree>
    <p:extLst>
      <p:ext uri="{BB962C8B-B14F-4D97-AF65-F5344CB8AC3E}">
        <p14:creationId xmlns:p14="http://schemas.microsoft.com/office/powerpoint/2010/main" val="17978243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D8A9B0-80EF-A34D-B345-E2DEC5501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985872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D8A9B0-80EF-A34D-B345-E2DEC5501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686597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D8A9B0-80EF-A34D-B345-E2DEC5501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55000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D8A9B0-80EF-A34D-B345-E2DEC5501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746249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D8A9B0-80EF-A34D-B345-E2DEC5501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57096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D8A9B0-80EF-A34D-B345-E2DEC5501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078210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D8A9B0-80EF-A34D-B345-E2DEC5501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00747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D8A9B0-80EF-A34D-B345-E2DEC5501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649787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D8A9B0-80EF-A34D-B345-E2DEC5501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36664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D8A9B0-80EF-A34D-B345-E2DEC5501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784909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D8A9B0-80EF-A34D-B345-E2DEC5501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1611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D8A9B0-80EF-A34D-B345-E2DEC5501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18004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D8A9B0-80EF-A34D-B345-E2DEC5501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11623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D8A9B0-80EF-A34D-B345-E2DEC5501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21142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D8A9B0-80EF-A34D-B345-E2DEC5501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26215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D8A9B0-80EF-A34D-B345-E2DEC5501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58771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D8A9B0-80EF-A34D-B345-E2DEC5501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458640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D8A9B0-80EF-A34D-B345-E2DEC5501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125167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D8A9B0-80EF-A34D-B345-E2DEC5501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8746649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D8A9B0-80EF-A34D-B345-E2DEC5501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735420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D8A9B0-80EF-A34D-B345-E2DEC5501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027469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D8A9B0-80EF-A34D-B345-E2DEC5501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947439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D8A9B0-80EF-A34D-B345-E2DEC5501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7554695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D8A9B0-80EF-A34D-B345-E2DEC5501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139124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D8A9B0-80EF-A34D-B345-E2DEC5501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018938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D8A9B0-80EF-A34D-B345-E2DEC5501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916646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D8A9B0-80EF-A34D-B345-E2DEC5501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96332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D8A9B0-80EF-A34D-B345-E2DEC5501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4205750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D8A9B0-80EF-A34D-B345-E2DEC5501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23103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FF5F1D7-66E1-9743-A16C-C84344C28A66}" type="datetimeFigureOut">
              <a:rPr lang="en-US" smtClean="0"/>
              <a:pPr/>
              <a:t>5/7/25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F5F1D7-66E1-9743-A16C-C84344C28A66}" type="datetimeFigureOut">
              <a:rPr lang="en-US" smtClean="0"/>
              <a:pPr/>
              <a:t>5/7/25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F5F1D7-66E1-9743-A16C-C84344C28A66}" type="datetimeFigureOut">
              <a:rPr lang="en-US" smtClean="0"/>
              <a:pPr/>
              <a:t>5/7/25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FF5F1D7-66E1-9743-A16C-C84344C28A66}" type="datetimeFigureOut">
              <a:rPr lang="en-US" smtClean="0"/>
              <a:pPr/>
              <a:t>5/7/25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FF5F1D7-66E1-9743-A16C-C84344C28A66}" type="datetimeFigureOut">
              <a:rPr lang="en-US" smtClean="0"/>
              <a:pPr/>
              <a:t>5/7/25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FF5F1D7-66E1-9743-A16C-C84344C28A66}" type="datetimeFigureOut">
              <a:rPr lang="en-US" smtClean="0"/>
              <a:pPr/>
              <a:t>5/7/25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F5F1D7-66E1-9743-A16C-C84344C28A66}" type="datetimeFigureOut">
              <a:rPr lang="en-US" smtClean="0"/>
              <a:pPr/>
              <a:t>5/7/25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F5F1D7-66E1-9743-A16C-C84344C28A66}" type="datetimeFigureOut">
              <a:rPr lang="en-US" smtClean="0"/>
              <a:pPr/>
              <a:t>5/7/25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F5F1D7-66E1-9743-A16C-C84344C28A66}" type="datetimeFigureOut">
              <a:rPr lang="en-US" smtClean="0"/>
              <a:pPr/>
              <a:t>5/7/25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F5F1D7-66E1-9743-A16C-C84344C28A66}" type="datetimeFigureOut">
              <a:rPr lang="en-US" smtClean="0"/>
              <a:pPr/>
              <a:t>5/7/25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F5F1D7-66E1-9743-A16C-C84344C28A66}" type="datetimeFigureOut">
              <a:rPr lang="en-US" smtClean="0"/>
              <a:pPr/>
              <a:t>5/7/25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esign">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85080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Design">
    <p:spTree>
      <p:nvGrpSpPr>
        <p:cNvPr id="1" name=""/>
        <p:cNvGrpSpPr/>
        <p:nvPr/>
      </p:nvGrpSpPr>
      <p:grpSpPr>
        <a:xfrm>
          <a:off x="0" y="0"/>
          <a:ext cx="0" cy="0"/>
          <a:chOff x="0" y="0"/>
          <a:chExt cx="0" cy="0"/>
        </a:xfrm>
      </p:grpSpPr>
      <p:sp>
        <p:nvSpPr>
          <p:cNvPr id="5" name="Picture Placeholder 4"/>
          <p:cNvSpPr>
            <a:spLocks noGrp="1"/>
          </p:cNvSpPr>
          <p:nvPr>
            <p:ph type="pic" sz="quarter" idx="13"/>
          </p:nvPr>
        </p:nvSpPr>
        <p:spPr>
          <a:xfrm>
            <a:off x="4658500" y="3429001"/>
            <a:ext cx="4485500" cy="3429000"/>
          </a:xfrm>
          <a:prstGeom prst="rect">
            <a:avLst/>
          </a:prstGeom>
          <a:solidFill>
            <a:schemeClr val="bg1">
              <a:lumMod val="95000"/>
            </a:schemeClr>
          </a:solidFill>
        </p:spPr>
        <p:txBody>
          <a:bodyPr>
            <a:normAutofit/>
          </a:bodyPr>
          <a:lstStyle>
            <a:lvl1pPr marL="0" indent="0">
              <a:buNone/>
              <a:defRPr sz="2000" b="0" i="0">
                <a:latin typeface="Lato Light" charset="0"/>
              </a:defRPr>
            </a:lvl1pPr>
          </a:lstStyle>
          <a:p>
            <a:endParaRPr lang="en-US" dirty="0"/>
          </a:p>
        </p:txBody>
      </p:sp>
      <p:sp>
        <p:nvSpPr>
          <p:cNvPr id="7" name="Picture Placeholder 4"/>
          <p:cNvSpPr>
            <a:spLocks noGrp="1"/>
          </p:cNvSpPr>
          <p:nvPr>
            <p:ph type="pic" sz="quarter" idx="12"/>
          </p:nvPr>
        </p:nvSpPr>
        <p:spPr>
          <a:xfrm>
            <a:off x="0" y="3429001"/>
            <a:ext cx="4485500" cy="3429000"/>
          </a:xfrm>
          <a:prstGeom prst="rect">
            <a:avLst/>
          </a:prstGeom>
          <a:solidFill>
            <a:schemeClr val="bg1">
              <a:lumMod val="95000"/>
            </a:schemeClr>
          </a:solidFill>
        </p:spPr>
        <p:txBody>
          <a:bodyPr>
            <a:normAutofit/>
          </a:bodyPr>
          <a:lstStyle>
            <a:lvl1pPr marL="0" indent="0">
              <a:buNone/>
              <a:defRPr sz="2000" b="0" i="0">
                <a:latin typeface="Lato Light" charset="0"/>
              </a:defRPr>
            </a:lvl1pPr>
          </a:lstStyle>
          <a:p>
            <a:endParaRPr lang="en-US" dirty="0"/>
          </a:p>
        </p:txBody>
      </p:sp>
    </p:spTree>
    <p:extLst>
      <p:ext uri="{BB962C8B-B14F-4D97-AF65-F5344CB8AC3E}">
        <p14:creationId xmlns:p14="http://schemas.microsoft.com/office/powerpoint/2010/main" val="3509666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F5F1D7-66E1-9743-A16C-C84344C28A66}" type="datetimeFigureOut">
              <a:rPr lang="en-US" smtClean="0"/>
              <a:pPr/>
              <a:t>5/7/25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333D9F-47EE-C945-BA73-E7E5401F673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61665"/>
            <a:ext cx="9143999" cy="609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grpSp>
        <p:nvGrpSpPr>
          <p:cNvPr id="3" name="Group 2"/>
          <p:cNvGrpSpPr/>
          <p:nvPr/>
        </p:nvGrpSpPr>
        <p:grpSpPr>
          <a:xfrm>
            <a:off x="597195" y="1489570"/>
            <a:ext cx="8546804" cy="3139320"/>
            <a:chOff x="597195" y="1417888"/>
            <a:chExt cx="5391623" cy="3139320"/>
          </a:xfrm>
        </p:grpSpPr>
        <p:sp>
          <p:nvSpPr>
            <p:cNvPr id="10" name="TextBox 9"/>
            <p:cNvSpPr txBox="1"/>
            <p:nvPr/>
          </p:nvSpPr>
          <p:spPr>
            <a:xfrm>
              <a:off x="597195" y="1417888"/>
              <a:ext cx="5391623" cy="2246769"/>
            </a:xfrm>
            <a:prstGeom prst="rect">
              <a:avLst/>
            </a:prstGeom>
            <a:noFill/>
          </p:spPr>
          <p:txBody>
            <a:bodyPr wrap="square" rtlCol="0">
              <a:spAutoFit/>
            </a:bodyPr>
            <a:lstStyle/>
            <a:p>
              <a:r>
                <a:rPr lang="en-US" sz="5400" b="1" dirty="0">
                  <a:solidFill>
                    <a:schemeClr val="bg1"/>
                  </a:solidFill>
                  <a:latin typeface="Lato Heavy" charset="0"/>
                  <a:ea typeface="Lato Heavy" charset="0"/>
                  <a:cs typeface="Lato Heavy" charset="0"/>
                </a:rPr>
                <a:t>IF3141</a:t>
              </a:r>
            </a:p>
            <a:p>
              <a:r>
                <a:rPr lang="en-US" sz="5400" b="1" dirty="0">
                  <a:solidFill>
                    <a:schemeClr val="bg1"/>
                  </a:solidFill>
                  <a:latin typeface="Lato Heavy" charset="0"/>
                  <a:ea typeface="Lato Heavy" charset="0"/>
                  <a:cs typeface="Lato Heavy" charset="0"/>
                </a:rPr>
                <a:t>SISTEM INFORMASI</a:t>
              </a:r>
            </a:p>
            <a:p>
              <a:r>
                <a:rPr lang="en-US" sz="3200" b="1">
                  <a:solidFill>
                    <a:schemeClr val="bg1"/>
                  </a:solidFill>
                  <a:latin typeface="Lato Heavy" charset="0"/>
                  <a:ea typeface="Lato Heavy" charset="0"/>
                  <a:cs typeface="Lato Heavy" charset="0"/>
                </a:rPr>
                <a:t>System </a:t>
              </a:r>
              <a:r>
                <a:rPr lang="en-US" sz="3200" b="1" dirty="0">
                  <a:solidFill>
                    <a:schemeClr val="bg1"/>
                  </a:solidFill>
                  <a:latin typeface="Lato Heavy" charset="0"/>
                  <a:ea typeface="Lato Heavy" charset="0"/>
                  <a:cs typeface="Lato Heavy" charset="0"/>
                </a:rPr>
                <a:t>Testing</a:t>
              </a:r>
              <a:endParaRPr lang="en-US" sz="4000" b="1" dirty="0">
                <a:solidFill>
                  <a:schemeClr val="bg1"/>
                </a:solidFill>
                <a:latin typeface="Lato Heavy" charset="0"/>
                <a:ea typeface="Lato Heavy" charset="0"/>
                <a:cs typeface="Lato Heavy" charset="0"/>
              </a:endParaRPr>
            </a:p>
          </p:txBody>
        </p:sp>
        <p:sp>
          <p:nvSpPr>
            <p:cNvPr id="12" name="Rectangle 11"/>
            <p:cNvSpPr/>
            <p:nvPr/>
          </p:nvSpPr>
          <p:spPr>
            <a:xfrm>
              <a:off x="607242" y="3972433"/>
              <a:ext cx="5381576" cy="584775"/>
            </a:xfrm>
            <a:prstGeom prst="rect">
              <a:avLst/>
            </a:prstGeom>
          </p:spPr>
          <p:txBody>
            <a:bodyPr wrap="square">
              <a:spAutoFit/>
            </a:bodyPr>
            <a:lstStyle/>
            <a:p>
              <a:r>
                <a:rPr lang="en-US" sz="3200" dirty="0">
                  <a:solidFill>
                    <a:schemeClr val="accent1">
                      <a:lumMod val="40000"/>
                      <a:lumOff val="60000"/>
                    </a:schemeClr>
                  </a:solidFill>
                  <a:latin typeface="Lato" charset="0"/>
                  <a:ea typeface="Lato" charset="0"/>
                  <a:cs typeface="Lato" charset="0"/>
                </a:rPr>
                <a:t>Semester </a:t>
              </a:r>
              <a:r>
                <a:rPr lang="en-US" sz="3200">
                  <a:solidFill>
                    <a:schemeClr val="accent1">
                      <a:lumMod val="40000"/>
                      <a:lumOff val="60000"/>
                    </a:schemeClr>
                  </a:solidFill>
                  <a:latin typeface="Lato" charset="0"/>
                  <a:ea typeface="Lato" charset="0"/>
                  <a:cs typeface="Lato" charset="0"/>
                </a:rPr>
                <a:t>I 2024/2025</a:t>
              </a:r>
              <a:endParaRPr lang="en-US" sz="3200" dirty="0">
                <a:solidFill>
                  <a:schemeClr val="accent1">
                    <a:lumMod val="40000"/>
                    <a:lumOff val="60000"/>
                  </a:schemeClr>
                </a:solidFill>
                <a:effectLst/>
                <a:latin typeface="Lato" charset="0"/>
                <a:ea typeface="Lato" charset="0"/>
                <a:cs typeface="Lato" charset="0"/>
              </a:endParaRPr>
            </a:p>
          </p:txBody>
        </p:sp>
      </p:grpSp>
      <p:sp>
        <p:nvSpPr>
          <p:cNvPr id="17" name="Rectangle 16"/>
          <p:cNvSpPr/>
          <p:nvPr/>
        </p:nvSpPr>
        <p:spPr>
          <a:xfrm>
            <a:off x="597195" y="6217230"/>
            <a:ext cx="3762104" cy="461665"/>
          </a:xfrm>
          <a:prstGeom prst="rect">
            <a:avLst/>
          </a:prstGeom>
        </p:spPr>
        <p:txBody>
          <a:bodyPr wrap="square">
            <a:spAutoFit/>
          </a:bodyPr>
          <a:lstStyle/>
          <a:p>
            <a:pPr>
              <a:lnSpc>
                <a:spcPct val="150000"/>
              </a:lnSpc>
            </a:pPr>
            <a:r>
              <a:rPr lang="en-US" sz="1200" dirty="0">
                <a:solidFill>
                  <a:schemeClr val="bg1">
                    <a:lumMod val="50000"/>
                  </a:schemeClr>
                </a:solidFill>
                <a:latin typeface="Lato" charset="0"/>
                <a:ea typeface="Lato" charset="0"/>
                <a:cs typeface="Lato" charset="0"/>
              </a:rPr>
              <a:t>IF3141 </a:t>
            </a:r>
            <a:r>
              <a:rPr lang="en-US" sz="1600" b="1" dirty="0">
                <a:solidFill>
                  <a:schemeClr val="bg1">
                    <a:lumMod val="50000"/>
                  </a:schemeClr>
                </a:solidFill>
                <a:latin typeface="Lato" charset="0"/>
                <a:ea typeface="Lato" charset="0"/>
                <a:cs typeface="Lato" charset="0"/>
              </a:rPr>
              <a:t>|</a:t>
            </a:r>
            <a:r>
              <a:rPr lang="en-US" sz="1200" b="1" dirty="0">
                <a:solidFill>
                  <a:schemeClr val="bg1">
                    <a:lumMod val="50000"/>
                  </a:schemeClr>
                </a:solidFill>
                <a:latin typeface="Lato" charset="0"/>
                <a:ea typeface="Lato" charset="0"/>
                <a:cs typeface="Lato" charset="0"/>
              </a:rPr>
              <a:t> </a:t>
            </a:r>
            <a:r>
              <a:rPr lang="en-US" sz="1200" dirty="0">
                <a:solidFill>
                  <a:schemeClr val="bg1">
                    <a:lumMod val="50000"/>
                  </a:schemeClr>
                </a:solidFill>
                <a:latin typeface="Lato" charset="0"/>
                <a:ea typeface="Lato" charset="0"/>
                <a:cs typeface="Lato" charset="0"/>
              </a:rPr>
              <a:t>TEKNIK INFORMATIKA ITB</a:t>
            </a:r>
            <a:endParaRPr lang="en-US" sz="1200" dirty="0">
              <a:solidFill>
                <a:schemeClr val="bg1">
                  <a:lumMod val="50000"/>
                </a:schemeClr>
              </a:solidFill>
              <a:effectLst/>
              <a:latin typeface="Lato" charset="0"/>
              <a:ea typeface="Lato" charset="0"/>
              <a:cs typeface="Lato" charset="0"/>
            </a:endParaRPr>
          </a:p>
        </p:txBody>
      </p:sp>
    </p:spTree>
    <p:extLst>
      <p:ext uri="{BB962C8B-B14F-4D97-AF65-F5344CB8AC3E}">
        <p14:creationId xmlns:p14="http://schemas.microsoft.com/office/powerpoint/2010/main" val="4065354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System Testing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416320"/>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FF0000"/>
                </a:solidFill>
                <a:latin typeface="Arial"/>
                <a:ea typeface="新細明體"/>
              </a:rPr>
              <a:t>System testing</a:t>
            </a:r>
            <a:r>
              <a:rPr kumimoji="1" lang="en-US" altLang="zh-TW" sz="3000" dirty="0">
                <a:solidFill>
                  <a:srgbClr val="000000"/>
                </a:solidFill>
                <a:latin typeface="Arial"/>
                <a:ea typeface="新細明體"/>
              </a:rPr>
              <a:t> is conducted on a complete, integrated system (including software and hardware) to evaluate the system's compliance with its specified </a:t>
            </a:r>
            <a:r>
              <a:rPr kumimoji="1" lang="en-US" altLang="zh-TW" sz="3000" dirty="0">
                <a:solidFill>
                  <a:srgbClr val="FF0000"/>
                </a:solidFill>
                <a:latin typeface="Arial"/>
                <a:ea typeface="新細明體"/>
              </a:rPr>
              <a:t>requirements</a:t>
            </a:r>
            <a:r>
              <a:rPr kumimoji="1" lang="en-US" altLang="zh-TW" sz="3000" dirty="0">
                <a:solidFill>
                  <a:srgbClr val="000000"/>
                </a:solidFill>
                <a:latin typeface="Arial"/>
                <a:ea typeface="新細明體"/>
              </a:rPr>
              <a:t>.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System testing falls within the scope of </a:t>
            </a:r>
            <a:r>
              <a:rPr kumimoji="1" lang="en-US" altLang="zh-TW" sz="3000" dirty="0">
                <a:solidFill>
                  <a:srgbClr val="FF0000"/>
                </a:solidFill>
                <a:latin typeface="Arial"/>
                <a:ea typeface="新細明體"/>
              </a:rPr>
              <a:t>black box testing</a:t>
            </a:r>
            <a:r>
              <a:rPr kumimoji="1" lang="en-US" altLang="zh-TW" sz="3000" dirty="0">
                <a:solidFill>
                  <a:srgbClr val="000000"/>
                </a:solidFill>
                <a:latin typeface="Arial"/>
                <a:ea typeface="新細明體"/>
              </a:rPr>
              <a:t>, and as such, should require no knowledge of the inner design of the code or logic </a:t>
            </a:r>
          </a:p>
        </p:txBody>
      </p:sp>
    </p:spTree>
    <p:extLst>
      <p:ext uri="{BB962C8B-B14F-4D97-AF65-F5344CB8AC3E}">
        <p14:creationId xmlns:p14="http://schemas.microsoft.com/office/powerpoint/2010/main" val="3148407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System Testing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2492990"/>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System testing takes, as its input, all of the integrated software components that have successfully passed </a:t>
            </a:r>
            <a:r>
              <a:rPr kumimoji="1" lang="en-US" altLang="zh-TW" sz="3000" dirty="0">
                <a:solidFill>
                  <a:srgbClr val="FF0000"/>
                </a:solidFill>
                <a:latin typeface="Arial"/>
                <a:ea typeface="新細明體"/>
              </a:rPr>
              <a:t>integration testing</a:t>
            </a:r>
            <a:r>
              <a:rPr kumimoji="1" lang="en-US" altLang="zh-TW" sz="3000" dirty="0">
                <a:solidFill>
                  <a:srgbClr val="000000"/>
                </a:solidFill>
                <a:latin typeface="Arial"/>
                <a:ea typeface="新細明體"/>
              </a:rPr>
              <a:t>.</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System testing is the final testing phase before user </a:t>
            </a:r>
            <a:r>
              <a:rPr kumimoji="1" lang="en-US" altLang="zh-TW" sz="3000" dirty="0">
                <a:solidFill>
                  <a:srgbClr val="FF0000"/>
                </a:solidFill>
                <a:latin typeface="Arial"/>
                <a:ea typeface="新細明體"/>
              </a:rPr>
              <a:t>acceptance testing</a:t>
            </a:r>
            <a:r>
              <a:rPr kumimoji="1" lang="en-US" altLang="zh-TW" sz="3000" dirty="0">
                <a:solidFill>
                  <a:srgbClr val="000000"/>
                </a:solidFill>
                <a:latin typeface="Arial"/>
                <a:ea typeface="新細明體"/>
              </a:rPr>
              <a:t>. </a:t>
            </a:r>
          </a:p>
        </p:txBody>
      </p:sp>
    </p:spTree>
    <p:extLst>
      <p:ext uri="{BB962C8B-B14F-4D97-AF65-F5344CB8AC3E}">
        <p14:creationId xmlns:p14="http://schemas.microsoft.com/office/powerpoint/2010/main" val="2085354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System Testing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416320"/>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System testing have almost a </a:t>
            </a:r>
            <a:r>
              <a:rPr kumimoji="1" lang="en-US" altLang="zh-TW" sz="3000" dirty="0">
                <a:solidFill>
                  <a:srgbClr val="FF0000"/>
                </a:solidFill>
                <a:latin typeface="Arial"/>
                <a:ea typeface="新細明體"/>
              </a:rPr>
              <a:t>destructive</a:t>
            </a:r>
            <a:r>
              <a:rPr kumimoji="1" lang="en-US" altLang="zh-TW" sz="3000" dirty="0">
                <a:solidFill>
                  <a:srgbClr val="000000"/>
                </a:solidFill>
                <a:latin typeface="Arial"/>
                <a:ea typeface="新細明體"/>
              </a:rPr>
              <a:t> attitude and test not only the design, but also the behavior and even the believed expectations of the customer.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It is also intended to test </a:t>
            </a:r>
            <a:r>
              <a:rPr kumimoji="1" lang="en-US" altLang="zh-TW" sz="3000" dirty="0">
                <a:solidFill>
                  <a:srgbClr val="FF0000"/>
                </a:solidFill>
                <a:latin typeface="Arial"/>
                <a:ea typeface="新細明體"/>
              </a:rPr>
              <a:t>up to and beyond the bounds</a:t>
            </a:r>
            <a:r>
              <a:rPr kumimoji="1" lang="en-US" altLang="zh-TW" sz="3000" dirty="0">
                <a:solidFill>
                  <a:srgbClr val="000000"/>
                </a:solidFill>
                <a:latin typeface="Arial"/>
                <a:ea typeface="新細明體"/>
              </a:rPr>
              <a:t> defined in the software/hardware requirements specifications.</a:t>
            </a:r>
          </a:p>
        </p:txBody>
      </p:sp>
    </p:spTree>
    <p:extLst>
      <p:ext uri="{BB962C8B-B14F-4D97-AF65-F5344CB8AC3E}">
        <p14:creationId xmlns:p14="http://schemas.microsoft.com/office/powerpoint/2010/main" val="2177510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Types of System Testing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2769989"/>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Performance testing</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Load testing</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Stress testing</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Usability testing</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Security testing</a:t>
            </a:r>
          </a:p>
        </p:txBody>
      </p:sp>
    </p:spTree>
    <p:extLst>
      <p:ext uri="{BB962C8B-B14F-4D97-AF65-F5344CB8AC3E}">
        <p14:creationId xmlns:p14="http://schemas.microsoft.com/office/powerpoint/2010/main" val="1779997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Performance Testing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970318"/>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The goal of </a:t>
            </a:r>
            <a:r>
              <a:rPr kumimoji="1" lang="en-US" altLang="zh-TW" sz="3000" dirty="0">
                <a:solidFill>
                  <a:srgbClr val="FF0000"/>
                </a:solidFill>
                <a:latin typeface="Arial"/>
                <a:ea typeface="新細明體"/>
              </a:rPr>
              <a:t>performance testing</a:t>
            </a:r>
            <a:r>
              <a:rPr kumimoji="1" lang="en-US" altLang="zh-TW" sz="3000" dirty="0">
                <a:solidFill>
                  <a:srgbClr val="000000"/>
                </a:solidFill>
                <a:latin typeface="Arial"/>
                <a:ea typeface="新細明體"/>
              </a:rPr>
              <a:t> is not to find bugs, but to eliminate bottlenecks and establish a baseline for future regression testing.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To conduct performance testing is to engage in a carefully controlled process of </a:t>
            </a:r>
            <a:r>
              <a:rPr kumimoji="1" lang="en-US" altLang="zh-TW" sz="3000" dirty="0">
                <a:solidFill>
                  <a:srgbClr val="FF0000"/>
                </a:solidFill>
                <a:latin typeface="Arial"/>
                <a:ea typeface="新細明體"/>
              </a:rPr>
              <a:t>measurement</a:t>
            </a:r>
            <a:r>
              <a:rPr kumimoji="1" lang="en-US" altLang="zh-TW" sz="3000" dirty="0">
                <a:solidFill>
                  <a:srgbClr val="000000"/>
                </a:solidFill>
                <a:latin typeface="Arial"/>
                <a:ea typeface="新細明體"/>
              </a:rPr>
              <a:t> and </a:t>
            </a:r>
            <a:r>
              <a:rPr kumimoji="1" lang="en-US" altLang="zh-TW" sz="3000" dirty="0">
                <a:solidFill>
                  <a:srgbClr val="FF0000"/>
                </a:solidFill>
                <a:latin typeface="Arial"/>
                <a:ea typeface="新細明體"/>
              </a:rPr>
              <a:t>analysis</a:t>
            </a:r>
            <a:r>
              <a:rPr kumimoji="1" lang="en-US" altLang="zh-TW" sz="3000" dirty="0">
                <a:solidFill>
                  <a:srgbClr val="000000"/>
                </a:solidFill>
                <a:latin typeface="Arial"/>
                <a:ea typeface="新細明體"/>
              </a:rPr>
              <a:t>.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Ideally, the software under test is already </a:t>
            </a:r>
            <a:r>
              <a:rPr kumimoji="1" lang="en-US" altLang="zh-TW" sz="3000" dirty="0">
                <a:solidFill>
                  <a:srgbClr val="FF0000"/>
                </a:solidFill>
                <a:latin typeface="Arial"/>
                <a:ea typeface="新細明體"/>
              </a:rPr>
              <a:t>stable enough</a:t>
            </a:r>
            <a:r>
              <a:rPr kumimoji="1" lang="en-US" altLang="zh-TW" sz="3000" dirty="0">
                <a:solidFill>
                  <a:srgbClr val="000000"/>
                </a:solidFill>
                <a:latin typeface="Arial"/>
                <a:ea typeface="新細明體"/>
              </a:rPr>
              <a:t> so that this process can proceed smoothly.</a:t>
            </a:r>
          </a:p>
        </p:txBody>
      </p:sp>
    </p:spTree>
    <p:extLst>
      <p:ext uri="{BB962C8B-B14F-4D97-AF65-F5344CB8AC3E}">
        <p14:creationId xmlns:p14="http://schemas.microsoft.com/office/powerpoint/2010/main" val="1808131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Set of Expectations</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4524315"/>
          </a:xfrm>
          <a:prstGeom prst="rect">
            <a:avLst/>
          </a:prstGeom>
        </p:spPr>
        <p:txBody>
          <a:bodyPr wrap="square">
            <a:spAutoFit/>
          </a:bodyPr>
          <a:lstStyle/>
          <a:p>
            <a:pPr marL="342900" lvl="0" indent="-342900" defTabSz="914400" fontAlgn="base">
              <a:lnSpc>
                <a:spcPct val="90000"/>
              </a:lnSpc>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A clearly defined </a:t>
            </a:r>
            <a:r>
              <a:rPr kumimoji="1" lang="en-US" altLang="zh-TW" sz="3000" dirty="0">
                <a:solidFill>
                  <a:srgbClr val="FF0000"/>
                </a:solidFill>
                <a:latin typeface="Arial"/>
                <a:ea typeface="新細明體"/>
              </a:rPr>
              <a:t>set of expectations</a:t>
            </a:r>
            <a:r>
              <a:rPr kumimoji="1" lang="en-US" altLang="zh-TW" sz="3000" dirty="0">
                <a:solidFill>
                  <a:srgbClr val="000000"/>
                </a:solidFill>
                <a:latin typeface="Arial"/>
                <a:ea typeface="新細明體"/>
              </a:rPr>
              <a:t> is essential for meaningful performance testing. If you don't know where you want to go in terms of the performance of the system, then it matters little which direction you take.</a:t>
            </a:r>
          </a:p>
          <a:p>
            <a:pPr marL="342900" lvl="0" indent="-342900" defTabSz="914400" fontAlgn="base">
              <a:lnSpc>
                <a:spcPct val="90000"/>
              </a:lnSpc>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For example, for a Web application, you need to know at least two things:</a:t>
            </a:r>
          </a:p>
          <a:p>
            <a:pPr marL="342900" lvl="0" indent="-342900" defTabSz="914400" fontAlgn="base">
              <a:lnSpc>
                <a:spcPct val="90000"/>
              </a:lnSpc>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FF0000"/>
                </a:solidFill>
                <a:latin typeface="Arial"/>
                <a:ea typeface="新細明體"/>
              </a:rPr>
              <a:t>Expected load</a:t>
            </a:r>
            <a:r>
              <a:rPr kumimoji="1" lang="en-US" altLang="zh-TW" sz="3000" dirty="0">
                <a:solidFill>
                  <a:srgbClr val="000000"/>
                </a:solidFill>
                <a:latin typeface="Arial"/>
                <a:ea typeface="新細明體"/>
              </a:rPr>
              <a:t> in terms of concurrent users or HTTP connections.</a:t>
            </a:r>
          </a:p>
          <a:p>
            <a:pPr marL="342900" lvl="0" indent="-342900" defTabSz="914400" fontAlgn="base">
              <a:lnSpc>
                <a:spcPct val="90000"/>
              </a:lnSpc>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FF0000"/>
                </a:solidFill>
                <a:latin typeface="Arial"/>
                <a:ea typeface="新細明體"/>
              </a:rPr>
              <a:t>Acceptable response time</a:t>
            </a:r>
            <a:r>
              <a:rPr kumimoji="1" lang="en-US" altLang="zh-TW" sz="3000" dirty="0">
                <a:solidFill>
                  <a:srgbClr val="000000"/>
                </a:solidFill>
                <a:latin typeface="Arial"/>
                <a:ea typeface="新細明體"/>
              </a:rPr>
              <a:t>..</a:t>
            </a:r>
          </a:p>
        </p:txBody>
      </p:sp>
    </p:spTree>
    <p:extLst>
      <p:ext uri="{BB962C8B-B14F-4D97-AF65-F5344CB8AC3E}">
        <p14:creationId xmlns:p14="http://schemas.microsoft.com/office/powerpoint/2010/main" val="1980415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Looking for Bottlenecks</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416320"/>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Once you know where you want to be, you can start on your way there by </a:t>
            </a:r>
            <a:r>
              <a:rPr kumimoji="1" lang="en-US" altLang="zh-TW" sz="3000" dirty="0">
                <a:solidFill>
                  <a:srgbClr val="FF0000"/>
                </a:solidFill>
                <a:latin typeface="Arial"/>
                <a:ea typeface="新細明體"/>
              </a:rPr>
              <a:t>constantly increasing the load</a:t>
            </a:r>
            <a:r>
              <a:rPr kumimoji="1" lang="en-US" altLang="zh-TW" sz="3000" dirty="0">
                <a:solidFill>
                  <a:srgbClr val="000000"/>
                </a:solidFill>
                <a:latin typeface="Arial"/>
                <a:ea typeface="新細明體"/>
              </a:rPr>
              <a:t> on the system while looking for bottlenecks.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To take again the example of a Web application, these bottlenecks can exist at </a:t>
            </a:r>
            <a:r>
              <a:rPr kumimoji="1" lang="en-US" altLang="zh-TW" sz="3000" dirty="0">
                <a:solidFill>
                  <a:srgbClr val="FF0000"/>
                </a:solidFill>
                <a:latin typeface="Arial"/>
                <a:ea typeface="新細明體"/>
              </a:rPr>
              <a:t>multiple levels</a:t>
            </a:r>
            <a:r>
              <a:rPr kumimoji="1" lang="en-US" altLang="zh-TW" sz="3000" dirty="0">
                <a:solidFill>
                  <a:srgbClr val="000000"/>
                </a:solidFill>
                <a:latin typeface="Arial"/>
                <a:ea typeface="新細明體"/>
              </a:rPr>
              <a:t>, and to pinpoint them you can use a variety of tools.</a:t>
            </a:r>
          </a:p>
        </p:txBody>
      </p:sp>
    </p:spTree>
    <p:extLst>
      <p:ext uri="{BB962C8B-B14F-4D97-AF65-F5344CB8AC3E}">
        <p14:creationId xmlns:p14="http://schemas.microsoft.com/office/powerpoint/2010/main" val="1839563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Looking for Bottlenecks</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4893647"/>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At the </a:t>
            </a:r>
            <a:r>
              <a:rPr kumimoji="1" lang="en-US" altLang="zh-TW" sz="3000" dirty="0">
                <a:solidFill>
                  <a:srgbClr val="FF0000"/>
                </a:solidFill>
                <a:latin typeface="Arial"/>
                <a:ea typeface="新細明體"/>
              </a:rPr>
              <a:t>application level</a:t>
            </a:r>
            <a:r>
              <a:rPr kumimoji="1" lang="en-US" altLang="zh-TW" sz="3000" dirty="0">
                <a:solidFill>
                  <a:srgbClr val="000000"/>
                </a:solidFill>
                <a:latin typeface="Arial"/>
                <a:ea typeface="新細明體"/>
              </a:rPr>
              <a:t>, developers can use profilers to spot inefficiencies in their code.</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At the </a:t>
            </a:r>
            <a:r>
              <a:rPr kumimoji="1" lang="en-US" altLang="zh-TW" sz="3000" dirty="0">
                <a:solidFill>
                  <a:srgbClr val="FF0000"/>
                </a:solidFill>
                <a:latin typeface="Arial"/>
                <a:ea typeface="新細明體"/>
              </a:rPr>
              <a:t>database level</a:t>
            </a:r>
            <a:r>
              <a:rPr kumimoji="1" lang="en-US" altLang="zh-TW" sz="3000" dirty="0">
                <a:solidFill>
                  <a:srgbClr val="000000"/>
                </a:solidFill>
                <a:latin typeface="Arial"/>
                <a:ea typeface="新細明體"/>
              </a:rPr>
              <a:t>, developers can use database-specific profilers and query optimizers.</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At the </a:t>
            </a:r>
            <a:r>
              <a:rPr kumimoji="1" lang="en-US" altLang="zh-TW" sz="3000" dirty="0">
                <a:solidFill>
                  <a:srgbClr val="FF0000"/>
                </a:solidFill>
                <a:latin typeface="Arial"/>
                <a:ea typeface="新細明體"/>
              </a:rPr>
              <a:t>operating system level</a:t>
            </a:r>
            <a:r>
              <a:rPr kumimoji="1" lang="en-US" altLang="zh-TW" sz="3000" dirty="0">
                <a:solidFill>
                  <a:srgbClr val="000000"/>
                </a:solidFill>
                <a:latin typeface="Arial"/>
                <a:ea typeface="新細明體"/>
              </a:rPr>
              <a:t>, system engineers can use utilities such as top, </a:t>
            </a:r>
            <a:r>
              <a:rPr kumimoji="1" lang="en-US" altLang="zh-TW" sz="3000" dirty="0" err="1">
                <a:solidFill>
                  <a:srgbClr val="000000"/>
                </a:solidFill>
                <a:latin typeface="Arial"/>
                <a:ea typeface="新細明體"/>
              </a:rPr>
              <a:t>vmstat</a:t>
            </a:r>
            <a:r>
              <a:rPr kumimoji="1" lang="en-US" altLang="zh-TW" sz="3000" dirty="0">
                <a:solidFill>
                  <a:srgbClr val="000000"/>
                </a:solidFill>
                <a:latin typeface="Arial"/>
                <a:ea typeface="新細明體"/>
              </a:rPr>
              <a:t>, </a:t>
            </a:r>
            <a:r>
              <a:rPr kumimoji="1" lang="en-US" altLang="zh-TW" sz="3000" dirty="0" err="1">
                <a:solidFill>
                  <a:srgbClr val="000000"/>
                </a:solidFill>
                <a:latin typeface="Arial"/>
                <a:ea typeface="新細明體"/>
              </a:rPr>
              <a:t>iostat</a:t>
            </a:r>
            <a:r>
              <a:rPr kumimoji="1" lang="en-US" altLang="zh-TW" sz="3000" dirty="0">
                <a:solidFill>
                  <a:srgbClr val="000000"/>
                </a:solidFill>
                <a:latin typeface="Arial"/>
                <a:ea typeface="新細明體"/>
              </a:rPr>
              <a:t> (on Unix-type systems) and </a:t>
            </a:r>
            <a:r>
              <a:rPr kumimoji="1" lang="en-US" altLang="zh-TW" sz="3000" dirty="0" err="1">
                <a:solidFill>
                  <a:srgbClr val="000000"/>
                </a:solidFill>
                <a:latin typeface="Arial"/>
                <a:ea typeface="新細明體"/>
              </a:rPr>
              <a:t>PerfMon</a:t>
            </a:r>
            <a:r>
              <a:rPr kumimoji="1" lang="en-US" altLang="zh-TW" sz="3000" dirty="0">
                <a:solidFill>
                  <a:srgbClr val="000000"/>
                </a:solidFill>
                <a:latin typeface="Arial"/>
                <a:ea typeface="新細明體"/>
              </a:rPr>
              <a:t> (on Windows) to monitor hardware resources such as CPU, memory, swap, disk I/O; specialized kernel monitoring software can also be used.</a:t>
            </a:r>
          </a:p>
        </p:txBody>
      </p:sp>
    </p:spTree>
    <p:extLst>
      <p:ext uri="{BB962C8B-B14F-4D97-AF65-F5344CB8AC3E}">
        <p14:creationId xmlns:p14="http://schemas.microsoft.com/office/powerpoint/2010/main" val="35772147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Looking for Bottlenecks</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1938992"/>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At the </a:t>
            </a:r>
            <a:r>
              <a:rPr kumimoji="1" lang="en-US" altLang="zh-TW" sz="3000" dirty="0">
                <a:solidFill>
                  <a:srgbClr val="FF0000"/>
                </a:solidFill>
                <a:latin typeface="Arial"/>
                <a:ea typeface="新細明體"/>
              </a:rPr>
              <a:t>network level</a:t>
            </a:r>
            <a:r>
              <a:rPr kumimoji="1" lang="en-US" altLang="zh-TW" sz="3000" dirty="0">
                <a:solidFill>
                  <a:srgbClr val="000000"/>
                </a:solidFill>
                <a:latin typeface="Arial"/>
                <a:ea typeface="新細明體"/>
              </a:rPr>
              <a:t>, network engineers can use packet sniffers such as </a:t>
            </a:r>
            <a:r>
              <a:rPr kumimoji="1" lang="en-US" altLang="zh-TW" sz="3000" dirty="0" err="1">
                <a:solidFill>
                  <a:srgbClr val="000000"/>
                </a:solidFill>
                <a:latin typeface="Arial"/>
                <a:ea typeface="新細明體"/>
              </a:rPr>
              <a:t>tcpdump</a:t>
            </a:r>
            <a:r>
              <a:rPr kumimoji="1" lang="en-US" altLang="zh-TW" sz="3000" dirty="0">
                <a:solidFill>
                  <a:srgbClr val="000000"/>
                </a:solidFill>
                <a:latin typeface="Arial"/>
                <a:ea typeface="新細明體"/>
              </a:rPr>
              <a:t>, network protocol analyzers such as ethereal, and various utilities such as netstat, MRTG, </a:t>
            </a:r>
            <a:r>
              <a:rPr kumimoji="1" lang="en-US" altLang="zh-TW" sz="3000" dirty="0" err="1">
                <a:solidFill>
                  <a:srgbClr val="000000"/>
                </a:solidFill>
                <a:latin typeface="Arial"/>
                <a:ea typeface="新細明體"/>
              </a:rPr>
              <a:t>ntop</a:t>
            </a:r>
            <a:r>
              <a:rPr kumimoji="1" lang="en-US" altLang="zh-TW" sz="3000" dirty="0">
                <a:solidFill>
                  <a:srgbClr val="000000"/>
                </a:solidFill>
                <a:latin typeface="Arial"/>
                <a:ea typeface="新細明體"/>
              </a:rPr>
              <a:t>, mii-tool.</a:t>
            </a:r>
          </a:p>
        </p:txBody>
      </p:sp>
    </p:spTree>
    <p:extLst>
      <p:ext uri="{BB962C8B-B14F-4D97-AF65-F5344CB8AC3E}">
        <p14:creationId xmlns:p14="http://schemas.microsoft.com/office/powerpoint/2010/main" val="34300561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Performance Tuning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416320"/>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When the results of the load test indicate that performance of the system does not meet its expected goals, it is time for tuning, starting with the application and the database.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You want to make sure your code runs as efficiently as possible and your database is optimized on a given OS/hardware configurations.</a:t>
            </a:r>
          </a:p>
        </p:txBody>
      </p:sp>
    </p:spTree>
    <p:extLst>
      <p:ext uri="{BB962C8B-B14F-4D97-AF65-F5344CB8AC3E}">
        <p14:creationId xmlns:p14="http://schemas.microsoft.com/office/powerpoint/2010/main" val="1842021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Performance Tuning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877985"/>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If, after tuning the application and the database, the system still doesn't meet its expected goals in terms of performance, a wide array of tuning procedures is available at the all the levels discussed before.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Here are some examples of things you can do to enhance the performance of a Web application outside of the application code per se:</a:t>
            </a:r>
          </a:p>
        </p:txBody>
      </p:sp>
    </p:spTree>
    <p:extLst>
      <p:ext uri="{BB962C8B-B14F-4D97-AF65-F5344CB8AC3E}">
        <p14:creationId xmlns:p14="http://schemas.microsoft.com/office/powerpoint/2010/main" val="14238923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Performance Tuning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5176802"/>
          </a:xfrm>
          <a:prstGeom prst="rect">
            <a:avLst/>
          </a:prstGeom>
        </p:spPr>
        <p:txBody>
          <a:bodyPr wrap="square">
            <a:spAutoFit/>
          </a:bodyPr>
          <a:lstStyle/>
          <a:p>
            <a:pPr marL="342900" lvl="0" indent="-342900" defTabSz="914400" fontAlgn="base">
              <a:lnSpc>
                <a:spcPct val="90000"/>
              </a:lnSpc>
              <a:spcBef>
                <a:spcPct val="20000"/>
              </a:spcBef>
              <a:spcAft>
                <a:spcPct val="0"/>
              </a:spcAft>
              <a:buClr>
                <a:srgbClr val="CC9900"/>
              </a:buClr>
              <a:buSzPct val="65000"/>
              <a:buFont typeface="Wingdings" panose="05000000000000000000" pitchFamily="2" charset="2"/>
              <a:buChar char="n"/>
            </a:pPr>
            <a:r>
              <a:rPr kumimoji="1" lang="en-US" altLang="zh-TW" sz="2800" dirty="0">
                <a:solidFill>
                  <a:srgbClr val="000000"/>
                </a:solidFill>
                <a:latin typeface="Arial"/>
                <a:ea typeface="新細明體"/>
              </a:rPr>
              <a:t>Use Web cache mechanisms, such as the one provided by Squid. </a:t>
            </a:r>
          </a:p>
          <a:p>
            <a:pPr marL="342900" lvl="0" indent="-342900" defTabSz="914400" fontAlgn="base">
              <a:lnSpc>
                <a:spcPct val="90000"/>
              </a:lnSpc>
              <a:spcBef>
                <a:spcPct val="20000"/>
              </a:spcBef>
              <a:spcAft>
                <a:spcPct val="0"/>
              </a:spcAft>
              <a:buClr>
                <a:srgbClr val="CC9900"/>
              </a:buClr>
              <a:buSzPct val="65000"/>
              <a:buFont typeface="Wingdings" panose="05000000000000000000" pitchFamily="2" charset="2"/>
              <a:buChar char="n"/>
            </a:pPr>
            <a:r>
              <a:rPr kumimoji="1" lang="en-US" altLang="zh-TW" sz="2800" dirty="0">
                <a:solidFill>
                  <a:srgbClr val="000000"/>
                </a:solidFill>
                <a:latin typeface="Arial"/>
                <a:ea typeface="新細明體"/>
              </a:rPr>
              <a:t>Publish highly-requested Web pages statically, so that they don't hit the database.</a:t>
            </a:r>
          </a:p>
          <a:p>
            <a:pPr marL="342900" lvl="0" indent="-342900" defTabSz="914400" fontAlgn="base">
              <a:lnSpc>
                <a:spcPct val="90000"/>
              </a:lnSpc>
              <a:spcBef>
                <a:spcPct val="20000"/>
              </a:spcBef>
              <a:spcAft>
                <a:spcPct val="0"/>
              </a:spcAft>
              <a:buClr>
                <a:srgbClr val="CC9900"/>
              </a:buClr>
              <a:buSzPct val="65000"/>
              <a:buFont typeface="Wingdings" panose="05000000000000000000" pitchFamily="2" charset="2"/>
              <a:buChar char="n"/>
            </a:pPr>
            <a:r>
              <a:rPr kumimoji="1" lang="en-US" altLang="zh-TW" sz="2800" dirty="0">
                <a:solidFill>
                  <a:srgbClr val="000000"/>
                </a:solidFill>
                <a:latin typeface="Arial"/>
                <a:ea typeface="新細明體"/>
              </a:rPr>
              <a:t>Scale the Web server farm horizontally via load balancing.</a:t>
            </a:r>
          </a:p>
          <a:p>
            <a:pPr marL="342900" lvl="0" indent="-342900" defTabSz="914400" fontAlgn="base">
              <a:lnSpc>
                <a:spcPct val="90000"/>
              </a:lnSpc>
              <a:spcBef>
                <a:spcPct val="20000"/>
              </a:spcBef>
              <a:spcAft>
                <a:spcPct val="0"/>
              </a:spcAft>
              <a:buClr>
                <a:srgbClr val="CC9900"/>
              </a:buClr>
              <a:buSzPct val="65000"/>
              <a:buFont typeface="Wingdings" panose="05000000000000000000" pitchFamily="2" charset="2"/>
              <a:buChar char="n"/>
            </a:pPr>
            <a:r>
              <a:rPr kumimoji="1" lang="en-US" altLang="zh-TW" sz="2800" dirty="0">
                <a:solidFill>
                  <a:srgbClr val="000000"/>
                </a:solidFill>
                <a:latin typeface="Arial"/>
                <a:ea typeface="新細明體"/>
              </a:rPr>
              <a:t>Scale the database servers horizontally and split them into read/write servers and read-only servers, then load balance the read-only servers.</a:t>
            </a:r>
          </a:p>
          <a:p>
            <a:pPr marL="342900" lvl="0" indent="-342900" defTabSz="914400" fontAlgn="base">
              <a:lnSpc>
                <a:spcPct val="90000"/>
              </a:lnSpc>
              <a:spcBef>
                <a:spcPct val="20000"/>
              </a:spcBef>
              <a:spcAft>
                <a:spcPct val="0"/>
              </a:spcAft>
              <a:buClr>
                <a:srgbClr val="CC9900"/>
              </a:buClr>
              <a:buSzPct val="65000"/>
              <a:buFont typeface="Wingdings" panose="05000000000000000000" pitchFamily="2" charset="2"/>
              <a:buChar char="n"/>
            </a:pPr>
            <a:r>
              <a:rPr kumimoji="1" lang="en-US" altLang="zh-TW" sz="2800" dirty="0">
                <a:solidFill>
                  <a:srgbClr val="000000"/>
                </a:solidFill>
                <a:latin typeface="Arial"/>
                <a:ea typeface="新細明體"/>
              </a:rPr>
              <a:t>Scale the Web and database servers vertically, by adding more hardware resources (CPU, RAM, disks). </a:t>
            </a:r>
          </a:p>
          <a:p>
            <a:pPr marL="342900" lvl="0" indent="-342900" defTabSz="914400" fontAlgn="base">
              <a:lnSpc>
                <a:spcPct val="90000"/>
              </a:lnSpc>
              <a:spcBef>
                <a:spcPct val="20000"/>
              </a:spcBef>
              <a:spcAft>
                <a:spcPct val="0"/>
              </a:spcAft>
              <a:buClr>
                <a:srgbClr val="CC9900"/>
              </a:buClr>
              <a:buSzPct val="65000"/>
              <a:buFont typeface="Wingdings" panose="05000000000000000000" pitchFamily="2" charset="2"/>
              <a:buChar char="n"/>
            </a:pPr>
            <a:r>
              <a:rPr kumimoji="1" lang="en-US" altLang="zh-TW" sz="2800" dirty="0">
                <a:solidFill>
                  <a:srgbClr val="000000"/>
                </a:solidFill>
                <a:latin typeface="Arial"/>
                <a:ea typeface="新細明體"/>
              </a:rPr>
              <a:t>Increase the available network bandwidth. </a:t>
            </a:r>
          </a:p>
        </p:txBody>
      </p:sp>
    </p:spTree>
    <p:extLst>
      <p:ext uri="{BB962C8B-B14F-4D97-AF65-F5344CB8AC3E}">
        <p14:creationId xmlns:p14="http://schemas.microsoft.com/office/powerpoint/2010/main" val="2320422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One Variable at a Time</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877985"/>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Performance tuning can sometimes be more art than science, due to the sheer complexity of the systems involved in a modern Web application. Care must be taken to </a:t>
            </a:r>
            <a:r>
              <a:rPr kumimoji="1" lang="en-US" altLang="zh-TW" sz="3000" dirty="0">
                <a:solidFill>
                  <a:srgbClr val="FF0000"/>
                </a:solidFill>
                <a:latin typeface="Arial"/>
                <a:ea typeface="新細明體"/>
              </a:rPr>
              <a:t>modify one variable at a time</a:t>
            </a:r>
            <a:r>
              <a:rPr kumimoji="1" lang="en-US" altLang="zh-TW" sz="3000" dirty="0">
                <a:solidFill>
                  <a:srgbClr val="000000"/>
                </a:solidFill>
                <a:latin typeface="Arial"/>
                <a:ea typeface="新細明體"/>
              </a:rPr>
              <a:t> and redo the measurements, otherwise multiple changes can have subtle interactions that are hard to qualify and repeat.</a:t>
            </a:r>
            <a:br>
              <a:rPr kumimoji="1" lang="en-US" altLang="zh-TW" sz="3000" dirty="0">
                <a:solidFill>
                  <a:srgbClr val="000000"/>
                </a:solidFill>
                <a:latin typeface="Arial"/>
                <a:ea typeface="新細明體"/>
              </a:rPr>
            </a:br>
            <a:endParaRPr kumimoji="1" lang="en-US" altLang="zh-TW" sz="3000" dirty="0">
              <a:solidFill>
                <a:srgbClr val="000000"/>
              </a:solidFill>
              <a:latin typeface="Arial"/>
              <a:ea typeface="新細明體"/>
            </a:endParaRPr>
          </a:p>
        </p:txBody>
      </p:sp>
    </p:spTree>
    <p:extLst>
      <p:ext uri="{BB962C8B-B14F-4D97-AF65-F5344CB8AC3E}">
        <p14:creationId xmlns:p14="http://schemas.microsoft.com/office/powerpoint/2010/main" val="451794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Staging Environments</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323987"/>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In a standard test environment such as a test lab, it will not always be possible to replicate the production server configuration. In such cases, a </a:t>
            </a:r>
            <a:r>
              <a:rPr kumimoji="1" lang="en-US" altLang="zh-TW" sz="3000" dirty="0">
                <a:solidFill>
                  <a:srgbClr val="FF0000"/>
                </a:solidFill>
                <a:latin typeface="Arial"/>
                <a:ea typeface="新細明體"/>
              </a:rPr>
              <a:t>staging environment</a:t>
            </a:r>
            <a:r>
              <a:rPr kumimoji="1" lang="en-US" altLang="zh-TW" sz="3000" dirty="0">
                <a:solidFill>
                  <a:srgbClr val="000000"/>
                </a:solidFill>
                <a:latin typeface="Arial"/>
                <a:ea typeface="新細明體"/>
              </a:rPr>
              <a:t> is used which is a subset of the production environment. The expected performance of the system needs to be scaled down accordingly.</a:t>
            </a:r>
          </a:p>
        </p:txBody>
      </p:sp>
    </p:spTree>
    <p:extLst>
      <p:ext uri="{BB962C8B-B14F-4D97-AF65-F5344CB8AC3E}">
        <p14:creationId xmlns:p14="http://schemas.microsoft.com/office/powerpoint/2010/main" val="14081424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Baseline</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970318"/>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The cycle "</a:t>
            </a:r>
            <a:r>
              <a:rPr kumimoji="1" lang="en-US" altLang="zh-TW" sz="3000" dirty="0">
                <a:solidFill>
                  <a:srgbClr val="FF0000"/>
                </a:solidFill>
                <a:latin typeface="Arial"/>
                <a:ea typeface="新細明體"/>
              </a:rPr>
              <a:t>run load test</a:t>
            </a:r>
            <a:r>
              <a:rPr kumimoji="1" lang="en-US" altLang="zh-TW" sz="3000" dirty="0">
                <a:solidFill>
                  <a:srgbClr val="000000"/>
                </a:solidFill>
                <a:latin typeface="Arial"/>
                <a:ea typeface="新細明體"/>
              </a:rPr>
              <a:t> -&gt; </a:t>
            </a:r>
            <a:r>
              <a:rPr kumimoji="1" lang="en-US" altLang="zh-TW" sz="3000" dirty="0">
                <a:solidFill>
                  <a:srgbClr val="FF0000"/>
                </a:solidFill>
                <a:latin typeface="Arial"/>
                <a:ea typeface="新細明體"/>
              </a:rPr>
              <a:t>measure performance</a:t>
            </a:r>
            <a:r>
              <a:rPr kumimoji="1" lang="en-US" altLang="zh-TW" sz="3000" dirty="0">
                <a:solidFill>
                  <a:srgbClr val="000000"/>
                </a:solidFill>
                <a:latin typeface="Arial"/>
                <a:ea typeface="新細明體"/>
              </a:rPr>
              <a:t> -&gt; </a:t>
            </a:r>
            <a:r>
              <a:rPr kumimoji="1" lang="en-US" altLang="zh-TW" sz="3000" dirty="0">
                <a:solidFill>
                  <a:srgbClr val="FF0000"/>
                </a:solidFill>
                <a:latin typeface="Arial"/>
                <a:ea typeface="新細明體"/>
              </a:rPr>
              <a:t>tune system</a:t>
            </a:r>
            <a:r>
              <a:rPr kumimoji="1" lang="en-US" altLang="zh-TW" sz="3000" dirty="0">
                <a:solidFill>
                  <a:srgbClr val="000000"/>
                </a:solidFill>
                <a:latin typeface="Arial"/>
                <a:ea typeface="新細明體"/>
              </a:rPr>
              <a:t>" is repeated until the system under test achieves the expected levels of performance.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At this point, testers have a </a:t>
            </a:r>
            <a:r>
              <a:rPr kumimoji="1" lang="en-US" altLang="zh-TW" sz="3000" dirty="0">
                <a:solidFill>
                  <a:srgbClr val="FF0000"/>
                </a:solidFill>
                <a:latin typeface="Arial"/>
                <a:ea typeface="新細明體"/>
              </a:rPr>
              <a:t>baseline</a:t>
            </a:r>
            <a:r>
              <a:rPr kumimoji="1" lang="en-US" altLang="zh-TW" sz="3000" dirty="0">
                <a:solidFill>
                  <a:srgbClr val="000000"/>
                </a:solidFill>
                <a:latin typeface="Arial"/>
                <a:ea typeface="新細明體"/>
              </a:rPr>
              <a:t> for how the system behaves under normal conditions.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This baseline can then be used in </a:t>
            </a:r>
            <a:r>
              <a:rPr kumimoji="1" lang="en-US" altLang="zh-TW" sz="3000" dirty="0">
                <a:solidFill>
                  <a:srgbClr val="FF0000"/>
                </a:solidFill>
                <a:latin typeface="Arial"/>
                <a:ea typeface="新細明體"/>
              </a:rPr>
              <a:t>regression tests</a:t>
            </a:r>
            <a:r>
              <a:rPr kumimoji="1" lang="en-US" altLang="zh-TW" sz="3000" dirty="0">
                <a:solidFill>
                  <a:srgbClr val="000000"/>
                </a:solidFill>
                <a:latin typeface="Arial"/>
                <a:ea typeface="新細明體"/>
              </a:rPr>
              <a:t> to gauge how well a new version of the software performs.</a:t>
            </a:r>
          </a:p>
        </p:txBody>
      </p:sp>
    </p:spTree>
    <p:extLst>
      <p:ext uri="{BB962C8B-B14F-4D97-AF65-F5344CB8AC3E}">
        <p14:creationId xmlns:p14="http://schemas.microsoft.com/office/powerpoint/2010/main" val="636759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Benchmarks</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970318"/>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Another common goal of performance testing is to establish </a:t>
            </a:r>
            <a:r>
              <a:rPr kumimoji="1" lang="en-US" altLang="zh-TW" sz="3000" dirty="0">
                <a:solidFill>
                  <a:srgbClr val="FF0000"/>
                </a:solidFill>
                <a:latin typeface="Arial"/>
                <a:ea typeface="新細明體"/>
              </a:rPr>
              <a:t>benchmark numbers</a:t>
            </a:r>
            <a:r>
              <a:rPr kumimoji="1" lang="en-US" altLang="zh-TW" sz="3000" dirty="0">
                <a:solidFill>
                  <a:srgbClr val="000000"/>
                </a:solidFill>
                <a:latin typeface="Arial"/>
                <a:ea typeface="新細明體"/>
              </a:rPr>
              <a:t> for the system under test.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There are many industry-standard benchmarks such as the ones published by TPC, and many hardware/software vendors will fine-tune their systems in such ways as to obtain a high ranking in the TCP top-tens. </a:t>
            </a:r>
          </a:p>
        </p:txBody>
      </p:sp>
    </p:spTree>
    <p:extLst>
      <p:ext uri="{BB962C8B-B14F-4D97-AF65-F5344CB8AC3E}">
        <p14:creationId xmlns:p14="http://schemas.microsoft.com/office/powerpoint/2010/main" val="34609823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Load Testing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416320"/>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In the testing literature, the term "load testing" is usually defined as the process of exercising the system under test by feeding it the </a:t>
            </a:r>
            <a:r>
              <a:rPr kumimoji="1" lang="en-US" altLang="zh-TW" sz="3000" dirty="0">
                <a:solidFill>
                  <a:srgbClr val="FF0000"/>
                </a:solidFill>
                <a:latin typeface="Arial"/>
                <a:ea typeface="新細明體"/>
              </a:rPr>
              <a:t>largest tasks</a:t>
            </a:r>
            <a:r>
              <a:rPr kumimoji="1" lang="en-US" altLang="zh-TW" sz="3000" dirty="0">
                <a:solidFill>
                  <a:srgbClr val="000000"/>
                </a:solidFill>
                <a:latin typeface="Arial"/>
                <a:ea typeface="新細明體"/>
              </a:rPr>
              <a:t> it can operate with.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Load testing is sometimes called </a:t>
            </a:r>
            <a:r>
              <a:rPr kumimoji="1" lang="en-US" altLang="zh-TW" sz="3000" dirty="0">
                <a:solidFill>
                  <a:srgbClr val="FF0000"/>
                </a:solidFill>
                <a:latin typeface="Arial"/>
                <a:ea typeface="新細明體"/>
              </a:rPr>
              <a:t>volume testing</a:t>
            </a:r>
            <a:r>
              <a:rPr kumimoji="1" lang="en-US" altLang="zh-TW" sz="3000" dirty="0">
                <a:solidFill>
                  <a:srgbClr val="000000"/>
                </a:solidFill>
                <a:latin typeface="Arial"/>
                <a:ea typeface="新細明體"/>
              </a:rPr>
              <a:t>, or </a:t>
            </a:r>
            <a:r>
              <a:rPr kumimoji="1" lang="en-US" altLang="zh-TW" sz="3000" dirty="0">
                <a:solidFill>
                  <a:srgbClr val="FF0000"/>
                </a:solidFill>
                <a:latin typeface="Arial"/>
                <a:ea typeface="新細明體"/>
              </a:rPr>
              <a:t>longevity/endurance testing</a:t>
            </a:r>
            <a:r>
              <a:rPr kumimoji="1" lang="en-US" altLang="zh-TW" sz="3000" dirty="0">
                <a:solidFill>
                  <a:srgbClr val="000000"/>
                </a:solidFill>
                <a:latin typeface="Arial"/>
                <a:ea typeface="新細明體"/>
              </a:rPr>
              <a:t>.</a:t>
            </a:r>
            <a:br>
              <a:rPr kumimoji="1" lang="en-US" altLang="zh-TW" sz="3000" dirty="0">
                <a:solidFill>
                  <a:srgbClr val="000000"/>
                </a:solidFill>
                <a:latin typeface="Arial"/>
                <a:ea typeface="新細明體"/>
              </a:rPr>
            </a:br>
            <a:endParaRPr kumimoji="1" lang="en-US" altLang="zh-TW" sz="3000" dirty="0">
              <a:solidFill>
                <a:srgbClr val="000000"/>
              </a:solidFill>
              <a:latin typeface="Arial"/>
              <a:ea typeface="新細明體"/>
            </a:endParaRPr>
          </a:p>
        </p:txBody>
      </p:sp>
    </p:spTree>
    <p:extLst>
      <p:ext uri="{BB962C8B-B14F-4D97-AF65-F5344CB8AC3E}">
        <p14:creationId xmlns:p14="http://schemas.microsoft.com/office/powerpoint/2010/main" val="25529619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Examples of Volume Testing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600986"/>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Testing a word processor by editing a very large document.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Testing a printer by sending it a very large job.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Testing a mail server with thousands of users mailboxes.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A specific case of volume testing is </a:t>
            </a:r>
            <a:r>
              <a:rPr kumimoji="1" lang="en-US" altLang="zh-TW" sz="3000" dirty="0">
                <a:solidFill>
                  <a:srgbClr val="FF0000"/>
                </a:solidFill>
                <a:latin typeface="Arial"/>
                <a:ea typeface="新細明體"/>
              </a:rPr>
              <a:t>zero-volume</a:t>
            </a:r>
            <a:r>
              <a:rPr kumimoji="1" lang="en-US" altLang="zh-TW" sz="3000" dirty="0">
                <a:solidFill>
                  <a:srgbClr val="000000"/>
                </a:solidFill>
                <a:latin typeface="Arial"/>
                <a:ea typeface="新細明體"/>
              </a:rPr>
              <a:t> testing, where the system is fed empty tasks. </a:t>
            </a:r>
          </a:p>
        </p:txBody>
      </p:sp>
    </p:spTree>
    <p:extLst>
      <p:ext uri="{BB962C8B-B14F-4D97-AF65-F5344CB8AC3E}">
        <p14:creationId xmlns:p14="http://schemas.microsoft.com/office/powerpoint/2010/main" val="32200542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523220"/>
          </a:xfrm>
          <a:prstGeom prst="rect">
            <a:avLst/>
          </a:prstGeom>
          <a:noFill/>
        </p:spPr>
        <p:txBody>
          <a:bodyPr wrap="square" rtlCol="0">
            <a:spAutoFit/>
          </a:bodyPr>
          <a:lstStyle/>
          <a:p>
            <a:pPr algn="ctr"/>
            <a:r>
              <a:rPr lang="en-US" sz="2800" b="1" dirty="0">
                <a:solidFill>
                  <a:schemeClr val="bg1"/>
                </a:solidFill>
                <a:latin typeface="Lato" charset="0"/>
                <a:ea typeface="Lato" charset="0"/>
                <a:cs typeface="Lato" charset="0"/>
              </a:rPr>
              <a:t>Examples of Longevity/Endurance Testing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1477328"/>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Testing a client-server application by running the client in a loop against the server over an extended period of time. </a:t>
            </a:r>
          </a:p>
        </p:txBody>
      </p:sp>
    </p:spTree>
    <p:extLst>
      <p:ext uri="{BB962C8B-B14F-4D97-AF65-F5344CB8AC3E}">
        <p14:creationId xmlns:p14="http://schemas.microsoft.com/office/powerpoint/2010/main" val="38538442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Goals of Load Testing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970318"/>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Expose bugs that do not surface in cursory testing, such as memory management bugs, memory leaks, buffer overflows, etc.</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Ensure that the application meets the performance baseline established during performance testing.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This is done by running regression tests against the application at a specified maximum load. </a:t>
            </a:r>
          </a:p>
        </p:txBody>
      </p:sp>
    </p:spTree>
    <p:extLst>
      <p:ext uri="{BB962C8B-B14F-4D97-AF65-F5344CB8AC3E}">
        <p14:creationId xmlns:p14="http://schemas.microsoft.com/office/powerpoint/2010/main" val="26574536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Performance vs. Load Testing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4893647"/>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Performance testing uses load testing techniques and tools for measurement and benchmarking purposes and uses various load levels.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Load testing operates at a predefined load level, usually the highest load that the system can accept while still functioning properly.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Note that load testing does not aim to break the system by overwhelming it, but instead tries to keep the system constantly humming like a well-oiled machine.</a:t>
            </a:r>
          </a:p>
        </p:txBody>
      </p:sp>
    </p:spTree>
    <p:extLst>
      <p:ext uri="{BB962C8B-B14F-4D97-AF65-F5344CB8AC3E}">
        <p14:creationId xmlns:p14="http://schemas.microsoft.com/office/powerpoint/2010/main" val="16366036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Large Datasets</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4339650"/>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In the context of load testing, there is extreme importance of having large datasets available for testing.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Many important bugs simply do not surface unless you deal with very large entities: thousands of users in repositories such as LDAP/NIS/Active Directory, thousands of mail server mailboxes, multi-gigabyte tables in databases, deep file/directory hierarchies on file systems, etc. </a:t>
            </a:r>
          </a:p>
        </p:txBody>
      </p:sp>
    </p:spTree>
    <p:extLst>
      <p:ext uri="{BB962C8B-B14F-4D97-AF65-F5344CB8AC3E}">
        <p14:creationId xmlns:p14="http://schemas.microsoft.com/office/powerpoint/2010/main" val="35449026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Stress Testing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5816977"/>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FF0000"/>
                </a:solidFill>
                <a:latin typeface="Arial"/>
                <a:ea typeface="新細明體"/>
              </a:rPr>
              <a:t>Stress testing</a:t>
            </a:r>
            <a:r>
              <a:rPr kumimoji="1" lang="en-US" altLang="zh-TW" sz="3000" dirty="0">
                <a:solidFill>
                  <a:srgbClr val="000000"/>
                </a:solidFill>
                <a:latin typeface="Arial"/>
                <a:ea typeface="新細明體"/>
              </a:rPr>
              <a:t> tries to break the system under test by overwhelming its resources or by taking resources away from it (in which case it is sometimes called </a:t>
            </a:r>
            <a:r>
              <a:rPr kumimoji="1" lang="en-US" altLang="zh-TW" sz="3000" dirty="0">
                <a:solidFill>
                  <a:srgbClr val="FF0000"/>
                </a:solidFill>
                <a:latin typeface="Arial"/>
                <a:ea typeface="新細明體"/>
              </a:rPr>
              <a:t>negative testing</a:t>
            </a:r>
            <a:r>
              <a:rPr kumimoji="1" lang="en-US" altLang="zh-TW" sz="3000" dirty="0">
                <a:solidFill>
                  <a:srgbClr val="000000"/>
                </a:solidFill>
                <a:latin typeface="Arial"/>
                <a:ea typeface="新細明體"/>
              </a:rPr>
              <a:t>).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The main purpose behind this madness is to make sure that the system fails and recovers gracefully -- this quality is known as </a:t>
            </a:r>
            <a:r>
              <a:rPr kumimoji="1" lang="en-US" altLang="zh-TW" sz="3000" dirty="0">
                <a:solidFill>
                  <a:srgbClr val="FF0000"/>
                </a:solidFill>
                <a:latin typeface="Arial"/>
                <a:ea typeface="新細明體"/>
              </a:rPr>
              <a:t>recoverability</a:t>
            </a:r>
            <a:r>
              <a:rPr kumimoji="1" lang="en-US" altLang="zh-TW" sz="3000" dirty="0">
                <a:solidFill>
                  <a:srgbClr val="000000"/>
                </a:solidFill>
                <a:latin typeface="Arial"/>
                <a:ea typeface="新細明體"/>
              </a:rPr>
              <a:t>.</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Where performance testing demands a controlled environment and repeatable measurements, stress testing joyfully induces chaos and unpredictability</a:t>
            </a:r>
            <a:br>
              <a:rPr kumimoji="1" lang="en-US" altLang="zh-TW" sz="3000" dirty="0">
                <a:solidFill>
                  <a:srgbClr val="000000"/>
                </a:solidFill>
                <a:latin typeface="Arial"/>
                <a:ea typeface="新細明體"/>
              </a:rPr>
            </a:br>
            <a:endParaRPr kumimoji="1" lang="en-US" altLang="zh-TW" sz="3000" dirty="0">
              <a:solidFill>
                <a:srgbClr val="000000"/>
              </a:solidFill>
              <a:latin typeface="Arial"/>
              <a:ea typeface="新細明體"/>
            </a:endParaRPr>
          </a:p>
        </p:txBody>
      </p:sp>
    </p:spTree>
    <p:extLst>
      <p:ext uri="{BB962C8B-B14F-4D97-AF65-F5344CB8AC3E}">
        <p14:creationId xmlns:p14="http://schemas.microsoft.com/office/powerpoint/2010/main" val="30753537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Examples of Stress Testing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5632311"/>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Double the baseline number for concurrent users/HTTP connections.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Randomly shut down and restart ports on the network switches/routers that connect the servers (via SNMP commands for example).</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Take the database offline, then restart it.</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Rebuild a RAID array while the system is running.</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Run processes that consume resources (CPU, memory, disk, network) on the Web and database servers.</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endParaRPr kumimoji="1" lang="en-US" altLang="zh-TW" sz="3000" dirty="0">
              <a:solidFill>
                <a:srgbClr val="000000"/>
              </a:solidFill>
              <a:latin typeface="Arial"/>
              <a:ea typeface="新細明體"/>
            </a:endParaRPr>
          </a:p>
        </p:txBody>
      </p:sp>
    </p:spTree>
    <p:extLst>
      <p:ext uri="{BB962C8B-B14F-4D97-AF65-F5344CB8AC3E}">
        <p14:creationId xmlns:p14="http://schemas.microsoft.com/office/powerpoint/2010/main" val="5079508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charset="0"/>
              <a:ea typeface="+mn-ea"/>
              <a:cs typeface="+mn-cs"/>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Lato" charset="0"/>
                <a:ea typeface="Lato" charset="0"/>
                <a:cs typeface="Lato" charset="0"/>
              </a:rPr>
              <a:t>Goals of Stress Testing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046988"/>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Stress testing does not break the system purely for the pleasure of breaking it, but instead it allows testers to observe how the system reacts to failure.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Does it save its state, or does it crash suddenly?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Does it just hang and freeze, or does it fail gracefully? </a:t>
            </a:r>
          </a:p>
        </p:txBody>
      </p:sp>
    </p:spTree>
    <p:extLst>
      <p:ext uri="{BB962C8B-B14F-4D97-AF65-F5344CB8AC3E}">
        <p14:creationId xmlns:p14="http://schemas.microsoft.com/office/powerpoint/2010/main" val="33901570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charset="0"/>
              <a:ea typeface="+mn-ea"/>
              <a:cs typeface="+mn-cs"/>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Lato" charset="0"/>
                <a:ea typeface="Lato" charset="0"/>
                <a:cs typeface="Lato" charset="0"/>
              </a:rPr>
              <a:t>Goals of Stress Testing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4524315"/>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On restart, is it able to recover from the last good state?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Does it print out meaningful error messages to the user, or does it merely display incomprehensible hex codes?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Is the security of the system compromised because of unexpected failures?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And the list goes on.</a:t>
            </a:r>
            <a:br>
              <a:rPr kumimoji="1" lang="en-US" altLang="zh-TW" sz="3000" dirty="0">
                <a:solidFill>
                  <a:srgbClr val="000000"/>
                </a:solidFill>
                <a:latin typeface="Arial"/>
                <a:ea typeface="新細明體"/>
              </a:rPr>
            </a:br>
            <a:endParaRPr kumimoji="1" lang="en-US" altLang="zh-TW" sz="3000" dirty="0">
              <a:solidFill>
                <a:srgbClr val="000000"/>
              </a:solidFill>
              <a:latin typeface="Arial"/>
              <a:ea typeface="新細明體"/>
            </a:endParaRPr>
          </a:p>
        </p:txBody>
      </p:sp>
    </p:spTree>
    <p:extLst>
      <p:ext uri="{BB962C8B-B14F-4D97-AF65-F5344CB8AC3E}">
        <p14:creationId xmlns:p14="http://schemas.microsoft.com/office/powerpoint/2010/main" val="2627137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charset="0"/>
              <a:ea typeface="+mn-ea"/>
              <a:cs typeface="+mn-cs"/>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Lato" charset="0"/>
                <a:ea typeface="Lato" charset="0"/>
                <a:cs typeface="Lato" charset="0"/>
              </a:rPr>
              <a:t>Usability Testing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2954655"/>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FF0000"/>
                </a:solidFill>
                <a:latin typeface="Arial"/>
                <a:ea typeface="新細明體"/>
              </a:rPr>
              <a:t>Usability testing</a:t>
            </a:r>
            <a:r>
              <a:rPr kumimoji="1" lang="en-US" altLang="zh-TW" sz="3000" dirty="0">
                <a:solidFill>
                  <a:srgbClr val="000000"/>
                </a:solidFill>
                <a:latin typeface="Arial"/>
                <a:ea typeface="新細明體"/>
              </a:rPr>
              <a:t> is a technique used in design. It is a means for the designer to improve the product by measuring its usability, or user-friendliness.</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The product is some human-made object (such as a web page, a computer interface, a document, or a device) for its </a:t>
            </a:r>
            <a:r>
              <a:rPr kumimoji="1" lang="en-US" altLang="zh-TW" sz="3000" dirty="0">
                <a:solidFill>
                  <a:srgbClr val="FF0000"/>
                </a:solidFill>
                <a:latin typeface="Arial"/>
                <a:ea typeface="新細明體"/>
              </a:rPr>
              <a:t>intended purpose</a:t>
            </a:r>
            <a:r>
              <a:rPr kumimoji="1" lang="en-US" altLang="zh-TW" sz="3000" dirty="0">
                <a:solidFill>
                  <a:srgbClr val="000000"/>
                </a:solidFill>
                <a:latin typeface="Arial"/>
                <a:ea typeface="新細明體"/>
              </a:rPr>
              <a:t>.</a:t>
            </a:r>
          </a:p>
        </p:txBody>
      </p:sp>
    </p:spTree>
    <p:extLst>
      <p:ext uri="{BB962C8B-B14F-4D97-AF65-F5344CB8AC3E}">
        <p14:creationId xmlns:p14="http://schemas.microsoft.com/office/powerpoint/2010/main" val="6738000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charset="0"/>
              <a:ea typeface="+mn-ea"/>
              <a:cs typeface="+mn-cs"/>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Lato" charset="0"/>
                <a:ea typeface="Lato" charset="0"/>
                <a:cs typeface="Lato" charset="0"/>
              </a:rPr>
              <a:t>Goals of Usability Testing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4339650"/>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If usability testing uncovers difficulties, such as people having difficulty understanding instructions, manipulating parts, or interpreting feedback, then developers should improve the design and test it again.</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During usability testing, the aim is to observe people using the product in as realistic a situation as possible, to discover errors and areas of improvement.</a:t>
            </a:r>
          </a:p>
        </p:txBody>
      </p:sp>
    </p:spTree>
    <p:extLst>
      <p:ext uri="{BB962C8B-B14F-4D97-AF65-F5344CB8AC3E}">
        <p14:creationId xmlns:p14="http://schemas.microsoft.com/office/powerpoint/2010/main" val="21236875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charset="0"/>
              <a:ea typeface="+mn-ea"/>
              <a:cs typeface="+mn-cs"/>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lvl="0" algn="ctr"/>
            <a:r>
              <a:rPr lang="en-US" sz="3600" b="1" dirty="0">
                <a:solidFill>
                  <a:prstClr val="white"/>
                </a:solidFill>
                <a:latin typeface="Lato" charset="0"/>
                <a:ea typeface="Lato" charset="0"/>
                <a:cs typeface="Lato" charset="0"/>
              </a:rPr>
              <a:t>Usability Metrics</a:t>
            </a:r>
            <a:endParaRPr kumimoji="0" lang="en-US" sz="3600" b="1" i="0" u="none" strike="noStrike" kern="1200" cap="none" spc="0" normalizeH="0" baseline="0" noProof="0" dirty="0">
              <a:ln>
                <a:noFill/>
              </a:ln>
              <a:solidFill>
                <a:prstClr val="white"/>
              </a:solidFill>
              <a:effectLst/>
              <a:uLnTx/>
              <a:uFillTx/>
              <a:latin typeface="Lato" charset="0"/>
              <a:ea typeface="Lato" charset="0"/>
              <a:cs typeface="Lato" charset="0"/>
            </a:endParaRP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416320"/>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Usability testing generally involves measuring how well test subjects respond in four areas: </a:t>
            </a:r>
            <a:r>
              <a:rPr kumimoji="1" lang="en-US" altLang="zh-TW" sz="3000" dirty="0">
                <a:solidFill>
                  <a:srgbClr val="FF0000"/>
                </a:solidFill>
                <a:latin typeface="Arial"/>
                <a:ea typeface="新細明體"/>
              </a:rPr>
              <a:t>time</a:t>
            </a:r>
            <a:r>
              <a:rPr kumimoji="1" lang="en-US" altLang="zh-TW" sz="3000" dirty="0">
                <a:solidFill>
                  <a:srgbClr val="000000"/>
                </a:solidFill>
                <a:latin typeface="Arial"/>
                <a:ea typeface="新細明體"/>
              </a:rPr>
              <a:t>, </a:t>
            </a:r>
            <a:r>
              <a:rPr kumimoji="1" lang="en-US" altLang="zh-TW" sz="3000" dirty="0">
                <a:solidFill>
                  <a:srgbClr val="FF0000"/>
                </a:solidFill>
                <a:latin typeface="Arial"/>
                <a:ea typeface="新細明體"/>
              </a:rPr>
              <a:t>accuracy</a:t>
            </a:r>
            <a:r>
              <a:rPr kumimoji="1" lang="en-US" altLang="zh-TW" sz="3000" dirty="0">
                <a:solidFill>
                  <a:srgbClr val="000000"/>
                </a:solidFill>
                <a:latin typeface="Arial"/>
                <a:ea typeface="新細明體"/>
              </a:rPr>
              <a:t>, </a:t>
            </a:r>
            <a:r>
              <a:rPr kumimoji="1" lang="en-US" altLang="zh-TW" sz="3000" dirty="0">
                <a:solidFill>
                  <a:srgbClr val="FF0000"/>
                </a:solidFill>
                <a:latin typeface="Arial"/>
                <a:ea typeface="新細明體"/>
              </a:rPr>
              <a:t>recall</a:t>
            </a:r>
            <a:r>
              <a:rPr kumimoji="1" lang="en-US" altLang="zh-TW" sz="3000" dirty="0">
                <a:solidFill>
                  <a:srgbClr val="000000"/>
                </a:solidFill>
                <a:latin typeface="Arial"/>
                <a:ea typeface="新細明體"/>
              </a:rPr>
              <a:t>, and </a:t>
            </a:r>
            <a:r>
              <a:rPr kumimoji="1" lang="en-US" altLang="zh-TW" sz="3000" dirty="0">
                <a:solidFill>
                  <a:srgbClr val="FF0000"/>
                </a:solidFill>
                <a:latin typeface="Arial"/>
                <a:ea typeface="新細明體"/>
              </a:rPr>
              <a:t>emotional response</a:t>
            </a:r>
            <a:r>
              <a:rPr kumimoji="1" lang="en-US" altLang="zh-TW" sz="3000" dirty="0">
                <a:solidFill>
                  <a:srgbClr val="000000"/>
                </a:solidFill>
                <a:latin typeface="Arial"/>
                <a:ea typeface="新細明體"/>
              </a:rPr>
              <a:t>.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The results of the first test can be treated as a baseline or control measurement; all subsequent tests can then be compared to the baseline to indicate improvement. </a:t>
            </a:r>
          </a:p>
        </p:txBody>
      </p:sp>
    </p:spTree>
    <p:extLst>
      <p:ext uri="{BB962C8B-B14F-4D97-AF65-F5344CB8AC3E}">
        <p14:creationId xmlns:p14="http://schemas.microsoft.com/office/powerpoint/2010/main" val="3708971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charset="0"/>
              <a:ea typeface="+mn-ea"/>
              <a:cs typeface="+mn-cs"/>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lvl="0" algn="ctr"/>
            <a:r>
              <a:rPr lang="en-US" sz="3600" b="1" dirty="0">
                <a:solidFill>
                  <a:prstClr val="white"/>
                </a:solidFill>
                <a:latin typeface="Lato" charset="0"/>
                <a:ea typeface="Lato" charset="0"/>
                <a:cs typeface="Lato" charset="0"/>
              </a:rPr>
              <a:t>Usability Metrics</a:t>
            </a:r>
            <a:endParaRPr kumimoji="0" lang="en-US" sz="3600" b="1" i="0" u="none" strike="noStrike" kern="1200" cap="none" spc="0" normalizeH="0" baseline="0" noProof="0" dirty="0">
              <a:ln>
                <a:noFill/>
              </a:ln>
              <a:solidFill>
                <a:prstClr val="white"/>
              </a:solidFill>
              <a:effectLst/>
              <a:uLnTx/>
              <a:uFillTx/>
              <a:latin typeface="Lato" charset="0"/>
              <a:ea typeface="Lato" charset="0"/>
              <a:cs typeface="Lato" charset="0"/>
            </a:endParaRP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4333494"/>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2600" dirty="0">
                <a:solidFill>
                  <a:srgbClr val="FF0000"/>
                </a:solidFill>
                <a:latin typeface="Arial"/>
                <a:ea typeface="新細明體"/>
              </a:rPr>
              <a:t>Time on Task</a:t>
            </a:r>
            <a:r>
              <a:rPr kumimoji="1" lang="en-US" altLang="zh-TW" sz="2600" dirty="0">
                <a:solidFill>
                  <a:srgbClr val="000000"/>
                </a:solidFill>
                <a:latin typeface="Arial"/>
                <a:ea typeface="新細明體"/>
              </a:rPr>
              <a:t>: How long does it take people to complete basic tasks? (For example, find something to buy, create a new account, and order the item.)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2600" dirty="0">
                <a:solidFill>
                  <a:srgbClr val="FF0000"/>
                </a:solidFill>
                <a:latin typeface="Arial"/>
                <a:ea typeface="新細明體"/>
              </a:rPr>
              <a:t>Accuracy</a:t>
            </a:r>
            <a:r>
              <a:rPr kumimoji="1" lang="en-US" altLang="zh-TW" sz="2600" dirty="0">
                <a:solidFill>
                  <a:srgbClr val="000000"/>
                </a:solidFill>
                <a:latin typeface="Arial"/>
                <a:ea typeface="新細明體"/>
              </a:rPr>
              <a:t>: How many mistakes did people make? (And were they fatal or recoverable with the right information?)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2600" dirty="0">
                <a:solidFill>
                  <a:srgbClr val="FF0000"/>
                </a:solidFill>
                <a:latin typeface="Arial"/>
                <a:ea typeface="新細明體"/>
              </a:rPr>
              <a:t>Recall</a:t>
            </a:r>
            <a:r>
              <a:rPr kumimoji="1" lang="en-US" altLang="zh-TW" sz="2600" dirty="0">
                <a:solidFill>
                  <a:srgbClr val="000000"/>
                </a:solidFill>
                <a:latin typeface="Arial"/>
                <a:ea typeface="新細明體"/>
              </a:rPr>
              <a:t>: How much does the person remember afterwards or after periods of non-use?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2600" dirty="0">
                <a:solidFill>
                  <a:srgbClr val="FF0000"/>
                </a:solidFill>
                <a:latin typeface="Arial"/>
                <a:ea typeface="新細明體"/>
              </a:rPr>
              <a:t>Emotional Response</a:t>
            </a:r>
            <a:r>
              <a:rPr kumimoji="1" lang="en-US" altLang="zh-TW" sz="2600" dirty="0">
                <a:solidFill>
                  <a:srgbClr val="000000"/>
                </a:solidFill>
                <a:latin typeface="Arial"/>
                <a:ea typeface="新細明體"/>
              </a:rPr>
              <a:t>: How does the person feel about the tasks completed? (Confident? Stressed? Would the user recommend this system to a friend?) </a:t>
            </a:r>
          </a:p>
        </p:txBody>
      </p:sp>
    </p:spTree>
    <p:extLst>
      <p:ext uri="{BB962C8B-B14F-4D97-AF65-F5344CB8AC3E}">
        <p14:creationId xmlns:p14="http://schemas.microsoft.com/office/powerpoint/2010/main" val="7395563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charset="0"/>
              <a:ea typeface="+mn-ea"/>
              <a:cs typeface="+mn-cs"/>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lvl="0" algn="ctr"/>
            <a:r>
              <a:rPr lang="en-US" sz="3600" b="1" dirty="0">
                <a:solidFill>
                  <a:prstClr val="white"/>
                </a:solidFill>
                <a:latin typeface="Lato" charset="0"/>
                <a:ea typeface="Lato" charset="0"/>
                <a:cs typeface="Lato" charset="0"/>
              </a:rPr>
              <a:t>What Usability Testing is Not</a:t>
            </a:r>
            <a:endParaRPr kumimoji="0" lang="en-US" sz="3600" b="1" i="0" u="none" strike="noStrike" kern="1200" cap="none" spc="0" normalizeH="0" baseline="0" noProof="0" dirty="0">
              <a:ln>
                <a:noFill/>
              </a:ln>
              <a:solidFill>
                <a:prstClr val="white"/>
              </a:solidFill>
              <a:effectLst/>
              <a:uLnTx/>
              <a:uFillTx/>
              <a:latin typeface="Lato" charset="0"/>
              <a:ea typeface="Lato" charset="0"/>
              <a:cs typeface="Lato" charset="0"/>
            </a:endParaRP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508653"/>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Simply gathering opinions on an object or document is market research rather than usability testing.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Usability testing usually involves a controlled experiment to determine how well people can use the product.</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endParaRPr kumimoji="1" lang="en-US" altLang="zh-TW" sz="3000" dirty="0">
              <a:solidFill>
                <a:srgbClr val="000000"/>
              </a:solidFill>
              <a:latin typeface="Arial"/>
              <a:ea typeface="新細明體"/>
            </a:endParaRPr>
          </a:p>
        </p:txBody>
      </p:sp>
    </p:spTree>
    <p:extLst>
      <p:ext uri="{BB962C8B-B14F-4D97-AF65-F5344CB8AC3E}">
        <p14:creationId xmlns:p14="http://schemas.microsoft.com/office/powerpoint/2010/main" val="30504466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charset="0"/>
              <a:ea typeface="+mn-ea"/>
              <a:cs typeface="+mn-cs"/>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lvl="0" algn="ctr"/>
            <a:r>
              <a:rPr lang="en-US" sz="3600" b="1" dirty="0">
                <a:solidFill>
                  <a:prstClr val="white"/>
                </a:solidFill>
                <a:latin typeface="Lato" charset="0"/>
                <a:ea typeface="Lato" charset="0"/>
                <a:cs typeface="Lato" charset="0"/>
              </a:rPr>
              <a:t>What Usability Testing is Not</a:t>
            </a:r>
            <a:endParaRPr kumimoji="0" lang="en-US" sz="3600" b="1" i="0" u="none" strike="noStrike" kern="1200" cap="none" spc="0" normalizeH="0" baseline="0" noProof="0" dirty="0">
              <a:ln>
                <a:noFill/>
              </a:ln>
              <a:solidFill>
                <a:prstClr val="white"/>
              </a:solidFill>
              <a:effectLst/>
              <a:uLnTx/>
              <a:uFillTx/>
              <a:latin typeface="Lato" charset="0"/>
              <a:ea typeface="Lato" charset="0"/>
              <a:cs typeface="Lato" charset="0"/>
            </a:endParaRP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4339650"/>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Rather than showing users a rough draft and asking, "Do you understand this?", usability testing involves watching people trying to use something for its intended purpose.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For example, when testing instructions for assembling a toy, the test subjects should be given the instructions and a box of parts. Instruction phrasing, illustration quality, and the toy's design all affect the assembly process.</a:t>
            </a:r>
          </a:p>
        </p:txBody>
      </p:sp>
    </p:spTree>
    <p:extLst>
      <p:ext uri="{BB962C8B-B14F-4D97-AF65-F5344CB8AC3E}">
        <p14:creationId xmlns:p14="http://schemas.microsoft.com/office/powerpoint/2010/main" val="15417265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charset="0"/>
              <a:ea typeface="+mn-ea"/>
              <a:cs typeface="+mn-cs"/>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Lato" charset="0"/>
                <a:ea typeface="Lato" charset="0"/>
                <a:cs typeface="Lato" charset="0"/>
              </a:rPr>
              <a:t>Methods of Usability Testing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4339650"/>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Setting up a usability test involves carefully creating a scenario, or realistic situation, wherein the person performs a list of tasks using the product being tested while observers watch and take notes.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Several other test instruments such as scripted instructions, paper prototypes, and pre- and post-test questionnaires are also used to gather feedback on the product being tested. </a:t>
            </a:r>
          </a:p>
        </p:txBody>
      </p:sp>
    </p:spTree>
    <p:extLst>
      <p:ext uri="{BB962C8B-B14F-4D97-AF65-F5344CB8AC3E}">
        <p14:creationId xmlns:p14="http://schemas.microsoft.com/office/powerpoint/2010/main" val="13101101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charset="0"/>
              <a:ea typeface="+mn-ea"/>
              <a:cs typeface="+mn-cs"/>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Lato" charset="0"/>
                <a:ea typeface="Lato" charset="0"/>
                <a:cs typeface="Lato" charset="0"/>
              </a:rPr>
              <a:t>Methods of Usability Testing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877985"/>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For example, to test the attachment function of an e-mail program, a scenario would describe a situation where a person needs to send an e-mail attachment and ask him or her to undertake this task.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The aim is to observe how people function in a realistic manner, so that developers can see problem areas, and what people like. </a:t>
            </a:r>
          </a:p>
        </p:txBody>
      </p:sp>
    </p:spTree>
    <p:extLst>
      <p:ext uri="{BB962C8B-B14F-4D97-AF65-F5344CB8AC3E}">
        <p14:creationId xmlns:p14="http://schemas.microsoft.com/office/powerpoint/2010/main" val="680782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charset="0"/>
              <a:ea typeface="+mn-ea"/>
              <a:cs typeface="+mn-cs"/>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Lato" charset="0"/>
                <a:ea typeface="Lato" charset="0"/>
                <a:cs typeface="Lato" charset="0"/>
              </a:rPr>
              <a:t>Methods of Usability Testing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1477328"/>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Techniques popularly used to gather data during a usability test include </a:t>
            </a:r>
            <a:r>
              <a:rPr kumimoji="1" lang="en-US" altLang="zh-TW" sz="3000" dirty="0">
                <a:solidFill>
                  <a:srgbClr val="FF0000"/>
                </a:solidFill>
                <a:latin typeface="Arial"/>
                <a:ea typeface="新細明體"/>
              </a:rPr>
              <a:t>think aloud protocol</a:t>
            </a:r>
            <a:r>
              <a:rPr kumimoji="1" lang="en-US" altLang="zh-TW" sz="3000" dirty="0">
                <a:solidFill>
                  <a:srgbClr val="000000"/>
                </a:solidFill>
                <a:latin typeface="Arial"/>
                <a:ea typeface="新細明體"/>
              </a:rPr>
              <a:t> and </a:t>
            </a:r>
            <a:r>
              <a:rPr kumimoji="1" lang="en-US" altLang="zh-TW" sz="3000" dirty="0">
                <a:solidFill>
                  <a:srgbClr val="FF0000"/>
                </a:solidFill>
                <a:latin typeface="Arial"/>
                <a:ea typeface="新細明體"/>
              </a:rPr>
              <a:t>eye tracking</a:t>
            </a:r>
            <a:r>
              <a:rPr kumimoji="1" lang="en-US" altLang="zh-TW" sz="3000" dirty="0">
                <a:solidFill>
                  <a:srgbClr val="000000"/>
                </a:solidFill>
                <a:latin typeface="Arial"/>
                <a:ea typeface="新細明體"/>
              </a:rPr>
              <a:t>. </a:t>
            </a:r>
          </a:p>
        </p:txBody>
      </p:sp>
    </p:spTree>
    <p:extLst>
      <p:ext uri="{BB962C8B-B14F-4D97-AF65-F5344CB8AC3E}">
        <p14:creationId xmlns:p14="http://schemas.microsoft.com/office/powerpoint/2010/main" val="17441147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charset="0"/>
              <a:ea typeface="+mn-ea"/>
              <a:cs typeface="+mn-cs"/>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lvl="0" algn="ctr"/>
            <a:r>
              <a:rPr lang="en-US" sz="3600" b="1" dirty="0">
                <a:solidFill>
                  <a:prstClr val="white"/>
                </a:solidFill>
                <a:latin typeface="Lato" charset="0"/>
                <a:ea typeface="Lato" charset="0"/>
                <a:cs typeface="Lato" charset="0"/>
              </a:rPr>
              <a:t>Think Aloud Protocols</a:t>
            </a:r>
            <a:endParaRPr kumimoji="0" lang="en-US" sz="3600" b="1" i="0" u="none" strike="noStrike" kern="1200" cap="none" spc="0" normalizeH="0" baseline="0" noProof="0" dirty="0">
              <a:ln>
                <a:noFill/>
              </a:ln>
              <a:solidFill>
                <a:prstClr val="white"/>
              </a:solidFill>
              <a:effectLst/>
              <a:uLnTx/>
              <a:uFillTx/>
              <a:latin typeface="Lato" charset="0"/>
              <a:ea typeface="Lato" charset="0"/>
              <a:cs typeface="Lato" charset="0"/>
            </a:endParaRP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4721292"/>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200" dirty="0">
                <a:solidFill>
                  <a:srgbClr val="000000"/>
                </a:solidFill>
                <a:latin typeface="Arial"/>
                <a:ea typeface="新細明體"/>
              </a:rPr>
              <a:t>Think aloud protocols involve participants thinking aloud as they are performing a set of specified tasks.</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200" dirty="0">
                <a:solidFill>
                  <a:srgbClr val="000000"/>
                </a:solidFill>
                <a:latin typeface="Arial"/>
                <a:ea typeface="新細明體"/>
              </a:rPr>
              <a:t>Users are asked to say whatever they are looking at, thinking, doing, and feeling, as they go about their task.</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200" dirty="0">
                <a:solidFill>
                  <a:srgbClr val="000000"/>
                </a:solidFill>
                <a:latin typeface="Arial"/>
                <a:ea typeface="新細明體"/>
              </a:rPr>
              <a:t>This enables observers to see first-hand the process of task completion (rather than only its final product). </a:t>
            </a:r>
          </a:p>
        </p:txBody>
      </p:sp>
    </p:spTree>
    <p:extLst>
      <p:ext uri="{BB962C8B-B14F-4D97-AF65-F5344CB8AC3E}">
        <p14:creationId xmlns:p14="http://schemas.microsoft.com/office/powerpoint/2010/main" val="34317125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charset="0"/>
              <a:ea typeface="+mn-ea"/>
              <a:cs typeface="+mn-cs"/>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lvl="0" algn="ctr"/>
            <a:r>
              <a:rPr lang="en-US" sz="3600" b="1" dirty="0">
                <a:solidFill>
                  <a:prstClr val="white"/>
                </a:solidFill>
                <a:latin typeface="Lato" charset="0"/>
                <a:ea typeface="Lato" charset="0"/>
                <a:cs typeface="Lato" charset="0"/>
              </a:rPr>
              <a:t>Think Aloud Protocols</a:t>
            </a:r>
            <a:endParaRPr kumimoji="0" lang="en-US" sz="3600" b="1" i="0" u="none" strike="noStrike" kern="1200" cap="none" spc="0" normalizeH="0" baseline="0" noProof="0" dirty="0">
              <a:ln>
                <a:noFill/>
              </a:ln>
              <a:solidFill>
                <a:prstClr val="white"/>
              </a:solidFill>
              <a:effectLst/>
              <a:uLnTx/>
              <a:uFillTx/>
              <a:latin typeface="Lato" charset="0"/>
              <a:ea typeface="Lato" charset="0"/>
              <a:cs typeface="Lato" charset="0"/>
            </a:endParaRP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4431983"/>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Observers at such a test are asked to objectively take notes of everything that users say, without attempting to interpret their actions and words.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Test sessions are often audio and video taped so that developers can go back and refer to what participants did, and how they reacted.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The purpose of this method is to make explicit what is implicitly present in subjects who are able to perform a specific task.</a:t>
            </a:r>
          </a:p>
        </p:txBody>
      </p:sp>
    </p:spTree>
    <p:extLst>
      <p:ext uri="{BB962C8B-B14F-4D97-AF65-F5344CB8AC3E}">
        <p14:creationId xmlns:p14="http://schemas.microsoft.com/office/powerpoint/2010/main" val="20195873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charset="0"/>
              <a:ea typeface="+mn-ea"/>
              <a:cs typeface="+mn-cs"/>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lvl="0" algn="ctr"/>
            <a:r>
              <a:rPr lang="en-US" sz="3600" b="1" dirty="0">
                <a:solidFill>
                  <a:prstClr val="white"/>
                </a:solidFill>
                <a:latin typeface="Lato" charset="0"/>
                <a:ea typeface="Lato" charset="0"/>
                <a:cs typeface="Lato" charset="0"/>
              </a:rPr>
              <a:t>Eye Tracking</a:t>
            </a:r>
            <a:endParaRPr kumimoji="0" lang="en-US" sz="3600" b="1" i="0" u="none" strike="noStrike" kern="1200" cap="none" spc="0" normalizeH="0" baseline="0" noProof="0" dirty="0">
              <a:ln>
                <a:noFill/>
              </a:ln>
              <a:solidFill>
                <a:prstClr val="white"/>
              </a:solidFill>
              <a:effectLst/>
              <a:uLnTx/>
              <a:uFillTx/>
              <a:latin typeface="Lato" charset="0"/>
              <a:ea typeface="Lato" charset="0"/>
              <a:cs typeface="Lato" charset="0"/>
            </a:endParaRP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4431983"/>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Eye tracking is the process of measuring either the point of gaze ("where we are looking") or the motion of an eye relative to the head.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An eye tracker is a device for measuring eye positions and eye movements.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The most widely used current designs are video-based eye trackers. A camera focuses on one or both eyes and records their movement as the viewer looks at some kind of stimulus. </a:t>
            </a:r>
          </a:p>
        </p:txBody>
      </p:sp>
    </p:spTree>
    <p:extLst>
      <p:ext uri="{BB962C8B-B14F-4D97-AF65-F5344CB8AC3E}">
        <p14:creationId xmlns:p14="http://schemas.microsoft.com/office/powerpoint/2010/main" val="41787092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charset="0"/>
              <a:ea typeface="+mn-ea"/>
              <a:cs typeface="+mn-cs"/>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lvl="0" algn="ctr"/>
            <a:r>
              <a:rPr lang="en-US" sz="3600" b="1" dirty="0">
                <a:solidFill>
                  <a:prstClr val="white"/>
                </a:solidFill>
                <a:latin typeface="Lato" charset="0"/>
                <a:ea typeface="Lato" charset="0"/>
                <a:cs typeface="Lato" charset="0"/>
              </a:rPr>
              <a:t>Hallway Usability Testing</a:t>
            </a:r>
            <a:endParaRPr kumimoji="0" lang="en-US" sz="3600" b="1" i="0" u="none" strike="noStrike" kern="1200" cap="none" spc="0" normalizeH="0" baseline="0" noProof="0" dirty="0">
              <a:ln>
                <a:noFill/>
              </a:ln>
              <a:solidFill>
                <a:prstClr val="white"/>
              </a:solidFill>
              <a:effectLst/>
              <a:uLnTx/>
              <a:uFillTx/>
              <a:latin typeface="Lato" charset="0"/>
              <a:ea typeface="Lato" charset="0"/>
              <a:cs typeface="Lato" charset="0"/>
            </a:endParaRP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970318"/>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FF0000"/>
                </a:solidFill>
                <a:latin typeface="Arial"/>
                <a:ea typeface="新細明體"/>
              </a:rPr>
              <a:t>Hallway usability testing</a:t>
            </a:r>
            <a:r>
              <a:rPr kumimoji="1" lang="en-US" altLang="zh-TW" sz="3000" dirty="0">
                <a:solidFill>
                  <a:srgbClr val="000000"/>
                </a:solidFill>
                <a:latin typeface="Arial"/>
                <a:ea typeface="新細明體"/>
              </a:rPr>
              <a:t> is a specific methodology of software usability testing.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Rather than using an in-house, trained group of testers, just five to six </a:t>
            </a:r>
            <a:r>
              <a:rPr kumimoji="1" lang="en-US" altLang="zh-TW" sz="3000" dirty="0">
                <a:solidFill>
                  <a:srgbClr val="FF0000"/>
                </a:solidFill>
                <a:latin typeface="Arial"/>
                <a:ea typeface="新細明體"/>
              </a:rPr>
              <a:t>random people</a:t>
            </a:r>
            <a:r>
              <a:rPr kumimoji="1" lang="en-US" altLang="zh-TW" sz="3000" dirty="0">
                <a:solidFill>
                  <a:srgbClr val="000000"/>
                </a:solidFill>
                <a:latin typeface="Arial"/>
                <a:ea typeface="新細明體"/>
              </a:rPr>
              <a:t> are brought in to test the software.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 The theory, as adopted from Jakob Nielsen's research, is that </a:t>
            </a:r>
            <a:r>
              <a:rPr kumimoji="1" lang="en-US" altLang="zh-TW" sz="3000" dirty="0">
                <a:solidFill>
                  <a:srgbClr val="FF0000"/>
                </a:solidFill>
                <a:latin typeface="Arial"/>
                <a:ea typeface="新細明體"/>
              </a:rPr>
              <a:t>95%</a:t>
            </a:r>
            <a:r>
              <a:rPr kumimoji="1" lang="en-US" altLang="zh-TW" sz="3000" dirty="0">
                <a:solidFill>
                  <a:srgbClr val="000000"/>
                </a:solidFill>
                <a:latin typeface="Arial"/>
                <a:ea typeface="新細明體"/>
              </a:rPr>
              <a:t> of usability problems can be discovered using this technique. </a:t>
            </a:r>
          </a:p>
        </p:txBody>
      </p:sp>
    </p:spTree>
    <p:extLst>
      <p:ext uri="{BB962C8B-B14F-4D97-AF65-F5344CB8AC3E}">
        <p14:creationId xmlns:p14="http://schemas.microsoft.com/office/powerpoint/2010/main" val="42424735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charset="0"/>
              <a:ea typeface="+mn-ea"/>
              <a:cs typeface="+mn-cs"/>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lvl="0" algn="ctr"/>
            <a:r>
              <a:rPr lang="en-US" sz="3600" b="1" dirty="0">
                <a:solidFill>
                  <a:prstClr val="white"/>
                </a:solidFill>
                <a:latin typeface="Lato" charset="0"/>
                <a:ea typeface="Lato" charset="0"/>
                <a:cs typeface="Lato" charset="0"/>
              </a:rPr>
              <a:t>Hallway Usability Testing</a:t>
            </a:r>
            <a:endParaRPr kumimoji="0" lang="en-US" sz="3600" b="1" i="0" u="none" strike="noStrike" kern="1200" cap="none" spc="0" normalizeH="0" baseline="0" noProof="0" dirty="0">
              <a:ln>
                <a:noFill/>
              </a:ln>
              <a:solidFill>
                <a:prstClr val="white"/>
              </a:solidFill>
              <a:effectLst/>
              <a:uLnTx/>
              <a:uFillTx/>
              <a:latin typeface="Lato" charset="0"/>
              <a:ea typeface="Lato" charset="0"/>
              <a:cs typeface="Lato" charset="0"/>
            </a:endParaRP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970318"/>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In the early 1990s, Jakob Nielsen popularized the concept of using numerous small usability tests -- typically with only five test subjects each -- at various stages of the development process.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His argument is that, once it is found that two or three people are totally confused by the home page, little is gained by watching more people suffer through the same flawed design. </a:t>
            </a:r>
          </a:p>
        </p:txBody>
      </p:sp>
    </p:spTree>
    <p:extLst>
      <p:ext uri="{BB962C8B-B14F-4D97-AF65-F5344CB8AC3E}">
        <p14:creationId xmlns:p14="http://schemas.microsoft.com/office/powerpoint/2010/main" val="4080312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charset="0"/>
              <a:ea typeface="+mn-ea"/>
              <a:cs typeface="+mn-cs"/>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lvl="0" algn="ctr"/>
            <a:r>
              <a:rPr lang="en-US" sz="3600" b="1" dirty="0">
                <a:solidFill>
                  <a:prstClr val="white"/>
                </a:solidFill>
                <a:latin typeface="Lato" charset="0"/>
                <a:ea typeface="Lato" charset="0"/>
                <a:cs typeface="Lato" charset="0"/>
              </a:rPr>
              <a:t>Hallway Usability Testing</a:t>
            </a:r>
            <a:endParaRPr kumimoji="0" lang="en-US" sz="3600" b="1" i="0" u="none" strike="noStrike" kern="1200" cap="none" spc="0" normalizeH="0" baseline="0" noProof="0" dirty="0">
              <a:ln>
                <a:noFill/>
              </a:ln>
              <a:solidFill>
                <a:prstClr val="white"/>
              </a:solidFill>
              <a:effectLst/>
              <a:uLnTx/>
              <a:uFillTx/>
              <a:latin typeface="Lato" charset="0"/>
              <a:ea typeface="Lato" charset="0"/>
              <a:cs typeface="Lato" charset="0"/>
            </a:endParaRP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4339650"/>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The claim of "Five users is enough" was later described by a mathematical model which states for the proportion of uncovered problems U</a:t>
            </a:r>
            <a:br>
              <a:rPr kumimoji="1" lang="en-US" altLang="zh-TW" sz="3000" dirty="0">
                <a:solidFill>
                  <a:srgbClr val="000000"/>
                </a:solidFill>
                <a:latin typeface="Arial"/>
                <a:ea typeface="新細明體"/>
              </a:rPr>
            </a:br>
            <a:r>
              <a:rPr kumimoji="1" lang="en-US" altLang="zh-TW" sz="3000" dirty="0">
                <a:solidFill>
                  <a:srgbClr val="000000"/>
                </a:solidFill>
                <a:latin typeface="Arial"/>
                <a:ea typeface="新細明體"/>
              </a:rPr>
              <a:t>    </a:t>
            </a:r>
            <a:r>
              <a:rPr kumimoji="1" lang="en-US" altLang="zh-TW" sz="3000" dirty="0" err="1">
                <a:solidFill>
                  <a:srgbClr val="000000"/>
                </a:solidFill>
                <a:latin typeface="Arial"/>
                <a:ea typeface="新細明體"/>
              </a:rPr>
              <a:t>U</a:t>
            </a:r>
            <a:r>
              <a:rPr kumimoji="1" lang="en-US" altLang="zh-TW" sz="3000" dirty="0">
                <a:solidFill>
                  <a:srgbClr val="000000"/>
                </a:solidFill>
                <a:latin typeface="Arial"/>
                <a:ea typeface="新細明體"/>
              </a:rPr>
              <a:t> = 1 − (1 − p)n</a:t>
            </a:r>
            <a:br>
              <a:rPr kumimoji="1" lang="en-US" altLang="zh-TW" sz="3000" dirty="0">
                <a:solidFill>
                  <a:srgbClr val="000000"/>
                </a:solidFill>
                <a:latin typeface="Arial"/>
                <a:ea typeface="新細明體"/>
              </a:rPr>
            </a:br>
            <a:r>
              <a:rPr kumimoji="1" lang="en-US" altLang="zh-TW" sz="3000" dirty="0">
                <a:solidFill>
                  <a:srgbClr val="000000"/>
                </a:solidFill>
                <a:latin typeface="Arial"/>
                <a:ea typeface="新細明體"/>
              </a:rPr>
              <a:t>where p is the probability of one subject identifying a specific problem and n is the number of subjects.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This model shows up as an asymptotic graph towards the number of real existing problems. </a:t>
            </a:r>
          </a:p>
        </p:txBody>
      </p:sp>
    </p:spTree>
    <p:extLst>
      <p:ext uri="{BB962C8B-B14F-4D97-AF65-F5344CB8AC3E}">
        <p14:creationId xmlns:p14="http://schemas.microsoft.com/office/powerpoint/2010/main" val="15981241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charset="0"/>
              <a:ea typeface="+mn-ea"/>
              <a:cs typeface="+mn-cs"/>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lvl="0" algn="ctr"/>
            <a:r>
              <a:rPr lang="en-US" sz="3600" b="1" dirty="0">
                <a:solidFill>
                  <a:prstClr val="white"/>
                </a:solidFill>
                <a:latin typeface="Lato" charset="0"/>
                <a:ea typeface="Lato" charset="0"/>
                <a:cs typeface="Lato" charset="0"/>
              </a:rPr>
              <a:t>Hallway Usability Testing</a:t>
            </a:r>
            <a:endParaRPr kumimoji="0" lang="en-US" sz="3600" b="1" i="0" u="none" strike="noStrike" kern="1200" cap="none" spc="0" normalizeH="0" baseline="0" noProof="0" dirty="0">
              <a:ln>
                <a:noFill/>
              </a:ln>
              <a:solidFill>
                <a:prstClr val="white"/>
              </a:solidFill>
              <a:effectLst/>
              <a:uLnTx/>
              <a:uFillTx/>
              <a:latin typeface="Lato" charset="0"/>
              <a:ea typeface="Lato" charset="0"/>
              <a:cs typeface="Lato" charset="0"/>
            </a:endParaRPr>
          </a:p>
        </p:txBody>
      </p:sp>
      <p:pic>
        <p:nvPicPr>
          <p:cNvPr id="6" name="Picture 5">
            <a:extLst>
              <a:ext uri="{FF2B5EF4-FFF2-40B4-BE49-F238E27FC236}">
                <a16:creationId xmlns:a16="http://schemas.microsoft.com/office/drawing/2014/main" id="{349BB9E0-C49D-4BB0-B5F6-ED3D00D5D0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2" y="1006048"/>
            <a:ext cx="8207375" cy="5646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28262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charset="0"/>
              <a:ea typeface="+mn-ea"/>
              <a:cs typeface="+mn-cs"/>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lvl="0" algn="ctr"/>
            <a:r>
              <a:rPr lang="en-US" sz="3600" b="1" dirty="0">
                <a:solidFill>
                  <a:prstClr val="white"/>
                </a:solidFill>
                <a:latin typeface="Lato" charset="0"/>
                <a:ea typeface="Lato" charset="0"/>
                <a:cs typeface="Lato" charset="0"/>
              </a:rPr>
              <a:t>Two Key Challenges</a:t>
            </a:r>
            <a:endParaRPr kumimoji="0" lang="en-US" sz="3600" b="1" i="0" u="none" strike="noStrike" kern="1200" cap="none" spc="0" normalizeH="0" baseline="0" noProof="0" dirty="0">
              <a:ln>
                <a:noFill/>
              </a:ln>
              <a:solidFill>
                <a:prstClr val="white"/>
              </a:solidFill>
              <a:effectLst/>
              <a:uLnTx/>
              <a:uFillTx/>
              <a:latin typeface="Lato" charset="0"/>
              <a:ea typeface="Lato" charset="0"/>
              <a:cs typeface="Lato" charset="0"/>
            </a:endParaRP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5724644"/>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First, since usability is related to the specific set of users, such a small sample size is unlikely to be representative of the total population so the data from such a small sample is more likely to reflect the sample group than the population they may represent.</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Second, many usability problems encountered in testing are likely to prevent exposure of other usability problems, making it impossible to predict the percentage of problems that can be uncovered without knowing the relationship between existing problems.</a:t>
            </a:r>
          </a:p>
        </p:txBody>
      </p:sp>
    </p:spTree>
    <p:extLst>
      <p:ext uri="{BB962C8B-B14F-4D97-AF65-F5344CB8AC3E}">
        <p14:creationId xmlns:p14="http://schemas.microsoft.com/office/powerpoint/2010/main" val="22679738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charset="0"/>
              <a:ea typeface="+mn-ea"/>
              <a:cs typeface="+mn-cs"/>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lvl="0" algn="ctr"/>
            <a:r>
              <a:rPr lang="en-US" sz="3600" b="1" dirty="0">
                <a:solidFill>
                  <a:prstClr val="white"/>
                </a:solidFill>
                <a:latin typeface="Lato" charset="0"/>
                <a:ea typeface="Lato" charset="0"/>
                <a:cs typeface="Lato" charset="0"/>
              </a:rPr>
              <a:t>Hallway Usability Testing</a:t>
            </a:r>
            <a:endParaRPr kumimoji="0" lang="en-US" sz="3600" b="1" i="0" u="none" strike="noStrike" kern="1200" cap="none" spc="0" normalizeH="0" baseline="0" noProof="0" dirty="0">
              <a:ln>
                <a:noFill/>
              </a:ln>
              <a:solidFill>
                <a:prstClr val="white"/>
              </a:solidFill>
              <a:effectLst/>
              <a:uLnTx/>
              <a:uFillTx/>
              <a:latin typeface="Lato" charset="0"/>
              <a:ea typeface="Lato" charset="0"/>
              <a:cs typeface="Lato" charset="0"/>
            </a:endParaRP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877985"/>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Most researchers today agree that, although 5 users can generate a significant amount of data at any given point in the development cycle, in many applications a sample size larger than five is required to detect a satisfying amount of usability problems.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These users can be divided into small tests with five users each.</a:t>
            </a:r>
          </a:p>
        </p:txBody>
      </p:sp>
    </p:spTree>
    <p:extLst>
      <p:ext uri="{BB962C8B-B14F-4D97-AF65-F5344CB8AC3E}">
        <p14:creationId xmlns:p14="http://schemas.microsoft.com/office/powerpoint/2010/main" val="23812576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charset="0"/>
              <a:ea typeface="+mn-ea"/>
              <a:cs typeface="+mn-cs"/>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lvl="0" algn="ctr"/>
            <a:r>
              <a:rPr lang="en-US" sz="3600" b="1" dirty="0">
                <a:solidFill>
                  <a:prstClr val="white"/>
                </a:solidFill>
                <a:latin typeface="Lato" charset="0"/>
                <a:ea typeface="Lato" charset="0"/>
                <a:cs typeface="Lato" charset="0"/>
              </a:rPr>
              <a:t>Security Testing</a:t>
            </a:r>
            <a:endParaRPr kumimoji="0" lang="en-US" sz="3600" b="1" i="0" u="none" strike="noStrike" kern="1200" cap="none" spc="0" normalizeH="0" baseline="0" noProof="0" dirty="0">
              <a:ln>
                <a:noFill/>
              </a:ln>
              <a:solidFill>
                <a:prstClr val="white"/>
              </a:solidFill>
              <a:effectLst/>
              <a:uLnTx/>
              <a:uFillTx/>
              <a:latin typeface="Lato" charset="0"/>
              <a:ea typeface="Lato" charset="0"/>
              <a:cs typeface="Lato" charset="0"/>
            </a:endParaRP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416320"/>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FF0000"/>
                </a:solidFill>
                <a:latin typeface="Arial"/>
                <a:ea typeface="新細明體"/>
              </a:rPr>
              <a:t>Security testing</a:t>
            </a:r>
            <a:r>
              <a:rPr kumimoji="1" lang="en-US" altLang="zh-TW" sz="3000" dirty="0">
                <a:solidFill>
                  <a:srgbClr val="000000"/>
                </a:solidFill>
                <a:latin typeface="Arial"/>
                <a:ea typeface="新細明體"/>
              </a:rPr>
              <a:t> is the process to determine that a system protects data and maintains functionality as intended.</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The six basic security concepts that need to be covered by security testing are: </a:t>
            </a:r>
            <a:r>
              <a:rPr kumimoji="1" lang="en-US" altLang="zh-TW" sz="3000" dirty="0">
                <a:solidFill>
                  <a:srgbClr val="FF0000"/>
                </a:solidFill>
                <a:latin typeface="Arial"/>
                <a:ea typeface="新細明體"/>
              </a:rPr>
              <a:t>confidentiality</a:t>
            </a:r>
            <a:r>
              <a:rPr kumimoji="1" lang="en-US" altLang="zh-TW" sz="3000" dirty="0">
                <a:solidFill>
                  <a:srgbClr val="000000"/>
                </a:solidFill>
                <a:latin typeface="Arial"/>
                <a:ea typeface="新細明體"/>
              </a:rPr>
              <a:t>, </a:t>
            </a:r>
            <a:r>
              <a:rPr kumimoji="1" lang="en-US" altLang="zh-TW" sz="3000" dirty="0">
                <a:solidFill>
                  <a:srgbClr val="FF0000"/>
                </a:solidFill>
                <a:latin typeface="Arial"/>
                <a:ea typeface="新細明體"/>
              </a:rPr>
              <a:t>integrity</a:t>
            </a:r>
            <a:r>
              <a:rPr kumimoji="1" lang="en-US" altLang="zh-TW" sz="3000" dirty="0">
                <a:solidFill>
                  <a:srgbClr val="000000"/>
                </a:solidFill>
                <a:latin typeface="Arial"/>
                <a:ea typeface="新細明體"/>
              </a:rPr>
              <a:t>, </a:t>
            </a:r>
            <a:r>
              <a:rPr kumimoji="1" lang="en-US" altLang="zh-TW" sz="3000" dirty="0">
                <a:solidFill>
                  <a:srgbClr val="FF0000"/>
                </a:solidFill>
                <a:latin typeface="Arial"/>
                <a:ea typeface="新細明體"/>
              </a:rPr>
              <a:t>authentication</a:t>
            </a:r>
            <a:r>
              <a:rPr kumimoji="1" lang="en-US" altLang="zh-TW" sz="3000" dirty="0">
                <a:solidFill>
                  <a:srgbClr val="000000"/>
                </a:solidFill>
                <a:latin typeface="Arial"/>
                <a:ea typeface="新細明體"/>
              </a:rPr>
              <a:t>, </a:t>
            </a:r>
            <a:r>
              <a:rPr kumimoji="1" lang="en-US" altLang="zh-TW" sz="3000" dirty="0">
                <a:solidFill>
                  <a:srgbClr val="FF0000"/>
                </a:solidFill>
                <a:latin typeface="Arial"/>
                <a:ea typeface="新細明體"/>
              </a:rPr>
              <a:t>authorization</a:t>
            </a:r>
            <a:r>
              <a:rPr kumimoji="1" lang="en-US" altLang="zh-TW" sz="3000" dirty="0">
                <a:solidFill>
                  <a:srgbClr val="000000"/>
                </a:solidFill>
                <a:latin typeface="Arial"/>
                <a:ea typeface="新細明體"/>
              </a:rPr>
              <a:t>, </a:t>
            </a:r>
            <a:r>
              <a:rPr kumimoji="1" lang="en-US" altLang="zh-TW" sz="3000" dirty="0">
                <a:solidFill>
                  <a:srgbClr val="FF0000"/>
                </a:solidFill>
                <a:latin typeface="Arial"/>
                <a:ea typeface="新細明體"/>
              </a:rPr>
              <a:t>availability</a:t>
            </a:r>
            <a:r>
              <a:rPr kumimoji="1" lang="en-US" altLang="zh-TW" sz="3000" dirty="0">
                <a:solidFill>
                  <a:srgbClr val="000000"/>
                </a:solidFill>
                <a:latin typeface="Arial"/>
                <a:ea typeface="新細明體"/>
              </a:rPr>
              <a:t> and </a:t>
            </a:r>
            <a:r>
              <a:rPr kumimoji="1" lang="en-US" altLang="zh-TW" sz="3000" dirty="0">
                <a:solidFill>
                  <a:srgbClr val="FF0000"/>
                </a:solidFill>
                <a:latin typeface="Arial"/>
                <a:ea typeface="新細明體"/>
              </a:rPr>
              <a:t>non-repudiation</a:t>
            </a:r>
            <a:r>
              <a:rPr kumimoji="1" lang="en-US" altLang="zh-TW" sz="3000" dirty="0">
                <a:solidFill>
                  <a:srgbClr val="000000"/>
                </a:solidFill>
                <a:latin typeface="Arial"/>
                <a:ea typeface="新細明體"/>
              </a:rPr>
              <a:t>.</a:t>
            </a:r>
          </a:p>
        </p:txBody>
      </p:sp>
    </p:spTree>
    <p:extLst>
      <p:ext uri="{BB962C8B-B14F-4D97-AF65-F5344CB8AC3E}">
        <p14:creationId xmlns:p14="http://schemas.microsoft.com/office/powerpoint/2010/main" val="9847149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charset="0"/>
              <a:ea typeface="+mn-ea"/>
              <a:cs typeface="+mn-cs"/>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lvl="0" algn="ctr"/>
            <a:r>
              <a:rPr lang="en-US" sz="3600" b="1" dirty="0">
                <a:solidFill>
                  <a:prstClr val="white"/>
                </a:solidFill>
                <a:latin typeface="Lato" charset="0"/>
                <a:ea typeface="Lato" charset="0"/>
                <a:cs typeface="Lato" charset="0"/>
              </a:rPr>
              <a:t>Confidentiality</a:t>
            </a:r>
            <a:endParaRPr kumimoji="0" lang="en-US" sz="3600" b="1" i="0" u="none" strike="noStrike" kern="1200" cap="none" spc="0" normalizeH="0" baseline="0" noProof="0" dirty="0">
              <a:ln>
                <a:noFill/>
              </a:ln>
              <a:solidFill>
                <a:prstClr val="white"/>
              </a:solidFill>
              <a:effectLst/>
              <a:uLnTx/>
              <a:uFillTx/>
              <a:latin typeface="Lato" charset="0"/>
              <a:ea typeface="Lato" charset="0"/>
              <a:cs typeface="Lato" charset="0"/>
            </a:endParaRP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1938992"/>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A security measure which protects against the disclosure of information to parties other than the intended recipient that is by no means the only way of ensuring confidentiality. </a:t>
            </a:r>
          </a:p>
        </p:txBody>
      </p:sp>
    </p:spTree>
    <p:extLst>
      <p:ext uri="{BB962C8B-B14F-4D97-AF65-F5344CB8AC3E}">
        <p14:creationId xmlns:p14="http://schemas.microsoft.com/office/powerpoint/2010/main" val="637183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charset="0"/>
              <a:ea typeface="+mn-ea"/>
              <a:cs typeface="+mn-cs"/>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lvl="0" algn="ctr"/>
            <a:r>
              <a:rPr lang="en-US" sz="3600" b="1" dirty="0">
                <a:solidFill>
                  <a:prstClr val="white"/>
                </a:solidFill>
                <a:latin typeface="Lato" charset="0"/>
                <a:ea typeface="Lato" charset="0"/>
                <a:cs typeface="Lato" charset="0"/>
              </a:rPr>
              <a:t>Integrity	</a:t>
            </a:r>
            <a:endParaRPr kumimoji="0" lang="en-US" sz="3600" b="1" i="0" u="none" strike="noStrike" kern="1200" cap="none" spc="0" normalizeH="0" baseline="0" noProof="0" dirty="0">
              <a:ln>
                <a:noFill/>
              </a:ln>
              <a:solidFill>
                <a:prstClr val="white"/>
              </a:solidFill>
              <a:effectLst/>
              <a:uLnTx/>
              <a:uFillTx/>
              <a:latin typeface="Lato" charset="0"/>
              <a:ea typeface="Lato" charset="0"/>
              <a:cs typeface="Lato" charset="0"/>
            </a:endParaRP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4801314"/>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A measure intended to allow the receiver to determine that the information which it receives has not been altered in transit or by other than the originator of the information.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Integrity schemes often use some of the same underlying technologies as confidentiality schemes, but they usually involve adding additional information to a communication to form the basis of an algorithmic check rather than the encoding all of the communication. </a:t>
            </a:r>
          </a:p>
        </p:txBody>
      </p:sp>
    </p:spTree>
    <p:extLst>
      <p:ext uri="{BB962C8B-B14F-4D97-AF65-F5344CB8AC3E}">
        <p14:creationId xmlns:p14="http://schemas.microsoft.com/office/powerpoint/2010/main" val="3876494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charset="0"/>
              <a:ea typeface="+mn-ea"/>
              <a:cs typeface="+mn-cs"/>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lvl="0" algn="ctr"/>
            <a:r>
              <a:rPr lang="en-US" sz="3600" b="1" dirty="0">
                <a:solidFill>
                  <a:prstClr val="white"/>
                </a:solidFill>
                <a:latin typeface="Lato" charset="0"/>
                <a:ea typeface="Lato" charset="0"/>
                <a:cs typeface="Lato" charset="0"/>
              </a:rPr>
              <a:t>Authentication	</a:t>
            </a:r>
            <a:endParaRPr kumimoji="0" lang="en-US" sz="3600" b="1" i="0" u="none" strike="noStrike" kern="1200" cap="none" spc="0" normalizeH="0" baseline="0" noProof="0" dirty="0">
              <a:ln>
                <a:noFill/>
              </a:ln>
              <a:solidFill>
                <a:prstClr val="white"/>
              </a:solidFill>
              <a:effectLst/>
              <a:uLnTx/>
              <a:uFillTx/>
              <a:latin typeface="Lato" charset="0"/>
              <a:ea typeface="Lato" charset="0"/>
              <a:cs typeface="Lato" charset="0"/>
            </a:endParaRP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2492990"/>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A measure designed to establish the validity of a transmission, message, or originator.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Allows a receiver to have confidence that information it receives originated from a specific known source. </a:t>
            </a:r>
          </a:p>
        </p:txBody>
      </p:sp>
    </p:spTree>
    <p:extLst>
      <p:ext uri="{BB962C8B-B14F-4D97-AF65-F5344CB8AC3E}">
        <p14:creationId xmlns:p14="http://schemas.microsoft.com/office/powerpoint/2010/main" val="10861200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charset="0"/>
              <a:ea typeface="+mn-ea"/>
              <a:cs typeface="+mn-cs"/>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lvl="0" algn="ctr"/>
            <a:r>
              <a:rPr lang="en-US" sz="3600" b="1" dirty="0">
                <a:solidFill>
                  <a:prstClr val="white"/>
                </a:solidFill>
                <a:latin typeface="Lato" charset="0"/>
                <a:ea typeface="Lato" charset="0"/>
                <a:cs typeface="Lato" charset="0"/>
              </a:rPr>
              <a:t>Authentication	</a:t>
            </a:r>
            <a:endParaRPr kumimoji="0" lang="en-US" sz="3600" b="1" i="0" u="none" strike="noStrike" kern="1200" cap="none" spc="0" normalizeH="0" baseline="0" noProof="0" dirty="0">
              <a:ln>
                <a:noFill/>
              </a:ln>
              <a:solidFill>
                <a:prstClr val="white"/>
              </a:solidFill>
              <a:effectLst/>
              <a:uLnTx/>
              <a:uFillTx/>
              <a:latin typeface="Lato" charset="0"/>
              <a:ea typeface="Lato" charset="0"/>
              <a:cs typeface="Lato" charset="0"/>
            </a:endParaRP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4847481"/>
          </a:xfrm>
          <a:prstGeom prst="rect">
            <a:avLst/>
          </a:prstGeom>
        </p:spPr>
        <p:txBody>
          <a:bodyPr wrap="square">
            <a:spAutoFit/>
          </a:bodyPr>
          <a:lstStyle/>
          <a:p>
            <a:pPr marL="342900" lvl="0" indent="-342900" defTabSz="914400" fontAlgn="base">
              <a:lnSpc>
                <a:spcPct val="90000"/>
              </a:lnSpc>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A </a:t>
            </a:r>
            <a:r>
              <a:rPr kumimoji="1" lang="en-US" altLang="zh-TW" sz="3000" dirty="0">
                <a:solidFill>
                  <a:srgbClr val="FF0000"/>
                </a:solidFill>
                <a:latin typeface="Arial"/>
                <a:ea typeface="新細明體"/>
              </a:rPr>
              <a:t>brute force attack</a:t>
            </a:r>
            <a:r>
              <a:rPr kumimoji="1" lang="en-US" altLang="zh-TW" sz="3000" dirty="0">
                <a:solidFill>
                  <a:srgbClr val="000000"/>
                </a:solidFill>
                <a:latin typeface="Arial"/>
                <a:ea typeface="新細明體"/>
              </a:rPr>
              <a:t> is an automated process of trial and error used to guess a person's username, password, credit-card number or cryptographic key. </a:t>
            </a:r>
          </a:p>
          <a:p>
            <a:pPr marL="342900" lvl="0" indent="-342900" defTabSz="914400" fontAlgn="base">
              <a:lnSpc>
                <a:spcPct val="90000"/>
              </a:lnSpc>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FF0000"/>
                </a:solidFill>
                <a:latin typeface="Arial"/>
                <a:ea typeface="新細明體"/>
              </a:rPr>
              <a:t>Insufficient authentication</a:t>
            </a:r>
            <a:r>
              <a:rPr kumimoji="1" lang="en-US" altLang="zh-TW" sz="3000" dirty="0">
                <a:solidFill>
                  <a:srgbClr val="000000"/>
                </a:solidFill>
                <a:latin typeface="Arial"/>
                <a:ea typeface="新細明體"/>
              </a:rPr>
              <a:t> occurs when a web site permits an attacker to access sensitive content or functionality without having to properly authenticate. </a:t>
            </a:r>
          </a:p>
          <a:p>
            <a:pPr marL="342900" lvl="0" indent="-342900" defTabSz="914400" fontAlgn="base">
              <a:lnSpc>
                <a:spcPct val="90000"/>
              </a:lnSpc>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FF0000"/>
                </a:solidFill>
                <a:latin typeface="Arial"/>
                <a:ea typeface="新細明體"/>
              </a:rPr>
              <a:t>Weak password recovery validation</a:t>
            </a:r>
            <a:r>
              <a:rPr kumimoji="1" lang="en-US" altLang="zh-TW" sz="3000" dirty="0">
                <a:solidFill>
                  <a:srgbClr val="000000"/>
                </a:solidFill>
                <a:latin typeface="Arial"/>
                <a:ea typeface="新細明體"/>
              </a:rPr>
              <a:t> is when a web site permits an attacker to illegally obtain, change or recover another user's password. </a:t>
            </a:r>
          </a:p>
        </p:txBody>
      </p:sp>
    </p:spTree>
    <p:extLst>
      <p:ext uri="{BB962C8B-B14F-4D97-AF65-F5344CB8AC3E}">
        <p14:creationId xmlns:p14="http://schemas.microsoft.com/office/powerpoint/2010/main" val="19080575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charset="0"/>
              <a:ea typeface="+mn-ea"/>
              <a:cs typeface="+mn-cs"/>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lvl="0" algn="ctr"/>
            <a:r>
              <a:rPr lang="en-US" sz="3600" b="1" dirty="0">
                <a:solidFill>
                  <a:prstClr val="white"/>
                </a:solidFill>
                <a:latin typeface="Lato" charset="0"/>
                <a:ea typeface="Lato" charset="0"/>
                <a:cs typeface="Lato" charset="0"/>
              </a:rPr>
              <a:t>Authentication	</a:t>
            </a:r>
            <a:endParaRPr kumimoji="0" lang="en-US" sz="3600" b="1" i="0" u="none" strike="noStrike" kern="1200" cap="none" spc="0" normalizeH="0" baseline="0" noProof="0" dirty="0">
              <a:ln>
                <a:noFill/>
              </a:ln>
              <a:solidFill>
                <a:prstClr val="white"/>
              </a:solidFill>
              <a:effectLst/>
              <a:uLnTx/>
              <a:uFillTx/>
              <a:latin typeface="Lato" charset="0"/>
              <a:ea typeface="Lato" charset="0"/>
              <a:cs typeface="Lato" charset="0"/>
            </a:endParaRP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2954655"/>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FF0000"/>
                </a:solidFill>
                <a:latin typeface="Arial"/>
                <a:ea typeface="新細明體"/>
              </a:rPr>
              <a:t>Credential/Session Prediction</a:t>
            </a:r>
            <a:r>
              <a:rPr kumimoji="1" lang="en-US" altLang="zh-TW" sz="3000" dirty="0">
                <a:solidFill>
                  <a:srgbClr val="000000"/>
                </a:solidFill>
                <a:latin typeface="Arial"/>
                <a:ea typeface="新細明體"/>
              </a:rPr>
              <a:t> is a method of hijacking or impersonating a web site user.</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FF0000"/>
                </a:solidFill>
                <a:latin typeface="Arial"/>
                <a:ea typeface="新細明體"/>
              </a:rPr>
              <a:t>Insufficient Authorization</a:t>
            </a:r>
            <a:r>
              <a:rPr kumimoji="1" lang="en-US" altLang="zh-TW" sz="3000" dirty="0">
                <a:solidFill>
                  <a:srgbClr val="000000"/>
                </a:solidFill>
                <a:latin typeface="Arial"/>
                <a:ea typeface="新細明體"/>
              </a:rPr>
              <a:t> is when a web site permits access to sensitive content or functionality that should require increased access control restrictions.  </a:t>
            </a:r>
          </a:p>
        </p:txBody>
      </p:sp>
    </p:spTree>
    <p:extLst>
      <p:ext uri="{BB962C8B-B14F-4D97-AF65-F5344CB8AC3E}">
        <p14:creationId xmlns:p14="http://schemas.microsoft.com/office/powerpoint/2010/main" val="30823425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charset="0"/>
              <a:ea typeface="+mn-ea"/>
              <a:cs typeface="+mn-cs"/>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lvl="0" algn="ctr"/>
            <a:r>
              <a:rPr lang="en-US" sz="3600" b="1" dirty="0">
                <a:solidFill>
                  <a:prstClr val="white"/>
                </a:solidFill>
                <a:latin typeface="Lato" charset="0"/>
                <a:ea typeface="Lato" charset="0"/>
                <a:cs typeface="Lato" charset="0"/>
              </a:rPr>
              <a:t>Authentication	</a:t>
            </a:r>
            <a:endParaRPr kumimoji="0" lang="en-US" sz="3600" b="1" i="0" u="none" strike="noStrike" kern="1200" cap="none" spc="0" normalizeH="0" baseline="0" noProof="0" dirty="0">
              <a:ln>
                <a:noFill/>
              </a:ln>
              <a:solidFill>
                <a:prstClr val="white"/>
              </a:solidFill>
              <a:effectLst/>
              <a:uLnTx/>
              <a:uFillTx/>
              <a:latin typeface="Lato" charset="0"/>
              <a:ea typeface="Lato" charset="0"/>
              <a:cs typeface="Lato" charset="0"/>
            </a:endParaRP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2492990"/>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FF0000"/>
                </a:solidFill>
                <a:latin typeface="Arial"/>
                <a:ea typeface="新細明體"/>
              </a:rPr>
              <a:t>Insufficient Session Expiration</a:t>
            </a:r>
            <a:r>
              <a:rPr kumimoji="1" lang="en-US" altLang="zh-TW" sz="3000" dirty="0">
                <a:solidFill>
                  <a:srgbClr val="000000"/>
                </a:solidFill>
                <a:latin typeface="Arial"/>
                <a:ea typeface="新細明體"/>
              </a:rPr>
              <a:t> is when a web site permits an attacker to reuse old session credentials or session IDs for authorization.</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FF0000"/>
                </a:solidFill>
                <a:latin typeface="Arial"/>
                <a:ea typeface="新細明體"/>
              </a:rPr>
              <a:t>Session Fixation</a:t>
            </a:r>
            <a:r>
              <a:rPr kumimoji="1" lang="en-US" altLang="zh-TW" sz="3000" dirty="0">
                <a:solidFill>
                  <a:srgbClr val="000000"/>
                </a:solidFill>
                <a:latin typeface="Arial"/>
                <a:ea typeface="新細明體"/>
              </a:rPr>
              <a:t> is an attack technique that forces a user's session ID to an explicit value.  </a:t>
            </a:r>
          </a:p>
        </p:txBody>
      </p:sp>
    </p:spTree>
    <p:extLst>
      <p:ext uri="{BB962C8B-B14F-4D97-AF65-F5344CB8AC3E}">
        <p14:creationId xmlns:p14="http://schemas.microsoft.com/office/powerpoint/2010/main" val="3032592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charset="0"/>
              <a:ea typeface="+mn-ea"/>
              <a:cs typeface="+mn-cs"/>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lvl="0" algn="ctr"/>
            <a:r>
              <a:rPr lang="en-US" sz="3600" b="1" dirty="0">
                <a:solidFill>
                  <a:prstClr val="white"/>
                </a:solidFill>
                <a:latin typeface="Lato" charset="0"/>
                <a:ea typeface="Lato" charset="0"/>
                <a:cs typeface="Lato" charset="0"/>
              </a:rPr>
              <a:t>Availability	</a:t>
            </a:r>
            <a:endParaRPr kumimoji="0" lang="en-US" sz="3600" b="1" i="0" u="none" strike="noStrike" kern="1200" cap="none" spc="0" normalizeH="0" baseline="0" noProof="0" dirty="0">
              <a:ln>
                <a:noFill/>
              </a:ln>
              <a:solidFill>
                <a:prstClr val="white"/>
              </a:solidFill>
              <a:effectLst/>
              <a:uLnTx/>
              <a:uFillTx/>
              <a:latin typeface="Lato" charset="0"/>
              <a:ea typeface="Lato" charset="0"/>
              <a:cs typeface="Lato" charset="0"/>
            </a:endParaRP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2031325"/>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Assuring information and communications services will be ready for use when expected.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Information must be kept available to authorized persons when they need it. </a:t>
            </a:r>
          </a:p>
        </p:txBody>
      </p:sp>
    </p:spTree>
    <p:extLst>
      <p:ext uri="{BB962C8B-B14F-4D97-AF65-F5344CB8AC3E}">
        <p14:creationId xmlns:p14="http://schemas.microsoft.com/office/powerpoint/2010/main" val="15792412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charset="0"/>
              <a:ea typeface="+mn-ea"/>
              <a:cs typeface="+mn-cs"/>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lvl="0" algn="ctr"/>
            <a:r>
              <a:rPr lang="en-US" sz="3600" b="1" dirty="0">
                <a:solidFill>
                  <a:prstClr val="white"/>
                </a:solidFill>
                <a:latin typeface="Lato" charset="0"/>
                <a:ea typeface="Lato" charset="0"/>
                <a:cs typeface="Lato" charset="0"/>
              </a:rPr>
              <a:t>Non-Repudiation	</a:t>
            </a:r>
            <a:endParaRPr kumimoji="0" lang="en-US" sz="3600" b="1" i="0" u="none" strike="noStrike" kern="1200" cap="none" spc="0" normalizeH="0" baseline="0" noProof="0" dirty="0">
              <a:ln>
                <a:noFill/>
              </a:ln>
              <a:solidFill>
                <a:prstClr val="white"/>
              </a:solidFill>
              <a:effectLst/>
              <a:uLnTx/>
              <a:uFillTx/>
              <a:latin typeface="Lato" charset="0"/>
              <a:ea typeface="Lato" charset="0"/>
              <a:cs typeface="Lato" charset="0"/>
            </a:endParaRP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2954655"/>
          </a:xfrm>
          <a:prstGeom prst="rect">
            <a:avLst/>
          </a:prstGeom>
        </p:spPr>
        <p:txBody>
          <a:bodyPr wrap="square">
            <a:spAutoFit/>
          </a:bodyPr>
          <a:lstStyle/>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A measure intended to prevent the later denial that an action happened, or a communication that took place etc. </a:t>
            </a:r>
          </a:p>
          <a:p>
            <a:pPr marL="342900" lvl="0" indent="-342900" defTabSz="914400" fontAlgn="base">
              <a:spcBef>
                <a:spcPct val="20000"/>
              </a:spcBef>
              <a:spcAft>
                <a:spcPct val="0"/>
              </a:spcAft>
              <a:buClr>
                <a:srgbClr val="CC9900"/>
              </a:buClr>
              <a:buSzPct val="65000"/>
              <a:buFont typeface="Wingdings" panose="05000000000000000000" pitchFamily="2" charset="2"/>
              <a:buChar char="n"/>
            </a:pPr>
            <a:r>
              <a:rPr kumimoji="1" lang="en-US" altLang="zh-TW" sz="3000" dirty="0">
                <a:solidFill>
                  <a:srgbClr val="000000"/>
                </a:solidFill>
                <a:latin typeface="Arial"/>
                <a:ea typeface="新細明體"/>
              </a:rPr>
              <a:t>In communication terms this often involves the interchange of authentication information combined with some form of provable time stamp. </a:t>
            </a:r>
          </a:p>
        </p:txBody>
      </p:sp>
    </p:spTree>
    <p:extLst>
      <p:ext uri="{BB962C8B-B14F-4D97-AF65-F5344CB8AC3E}">
        <p14:creationId xmlns:p14="http://schemas.microsoft.com/office/powerpoint/2010/main" val="9641719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3371</TotalTime>
  <Words>3164</Words>
  <Application>Microsoft Macintosh PowerPoint</Application>
  <PresentationFormat>On-screen Show (4:3)</PresentationFormat>
  <Paragraphs>240</Paragraphs>
  <Slides>54</Slides>
  <Notes>54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54</vt:i4>
      </vt:variant>
    </vt:vector>
  </HeadingPairs>
  <TitlesOfParts>
    <vt:vector size="61" baseType="lpstr">
      <vt:lpstr>Arial</vt:lpstr>
      <vt:lpstr>Calibri</vt:lpstr>
      <vt:lpstr>Lato</vt:lpstr>
      <vt:lpstr>Lato Heavy</vt:lpstr>
      <vt:lpstr>Lato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ITB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IF4043 Sistem Informasi Lanjut</dc:title>
  <dc:creator>W G</dc:creator>
  <cp:lastModifiedBy>Ir. Windy Gambetta, M.B.A.</cp:lastModifiedBy>
  <cp:revision>103</cp:revision>
  <dcterms:created xsi:type="dcterms:W3CDTF">2016-08-24T04:55:45Z</dcterms:created>
  <dcterms:modified xsi:type="dcterms:W3CDTF">2025-05-07T01:09:04Z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8b525e5-f3da-4501-8f1e-526b6769fc56_Enabled">
    <vt:lpwstr>true</vt:lpwstr>
  </property>
  <property fmtid="{D5CDD505-2E9C-101B-9397-08002B2CF9AE}" pid="3" name="MSIP_Label_38b525e5-f3da-4501-8f1e-526b6769fc56_SetDate">
    <vt:lpwstr>2025-05-07T01:09:04Z</vt:lpwstr>
  </property>
  <property fmtid="{D5CDD505-2E9C-101B-9397-08002B2CF9AE}" pid="4" name="MSIP_Label_38b525e5-f3da-4501-8f1e-526b6769fc56_Method">
    <vt:lpwstr>Standard</vt:lpwstr>
  </property>
  <property fmtid="{D5CDD505-2E9C-101B-9397-08002B2CF9AE}" pid="5" name="MSIP_Label_38b525e5-f3da-4501-8f1e-526b6769fc56_Name">
    <vt:lpwstr>defa4170-0d19-0005-0004-bc88714345d2</vt:lpwstr>
  </property>
  <property fmtid="{D5CDD505-2E9C-101B-9397-08002B2CF9AE}" pid="6" name="MSIP_Label_38b525e5-f3da-4501-8f1e-526b6769fc56_SiteId">
    <vt:lpwstr>db6e1183-4c65-405c-82ce-7cd53fa6e9dc</vt:lpwstr>
  </property>
  <property fmtid="{D5CDD505-2E9C-101B-9397-08002B2CF9AE}" pid="7" name="MSIP_Label_38b525e5-f3da-4501-8f1e-526b6769fc56_ActionId">
    <vt:lpwstr>22270df5-33ad-4727-b749-f030870315ec</vt:lpwstr>
  </property>
  <property fmtid="{D5CDD505-2E9C-101B-9397-08002B2CF9AE}" pid="8" name="MSIP_Label_38b525e5-f3da-4501-8f1e-526b6769fc56_ContentBits">
    <vt:lpwstr>0</vt:lpwstr>
  </property>
  <property fmtid="{D5CDD505-2E9C-101B-9397-08002B2CF9AE}" pid="9" name="MSIP_Label_38b525e5-f3da-4501-8f1e-526b6769fc56_Tag">
    <vt:lpwstr>50, 3, 0, 1</vt:lpwstr>
  </property>
</Properties>
</file>