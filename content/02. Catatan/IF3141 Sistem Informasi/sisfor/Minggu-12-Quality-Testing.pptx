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9"/>
  </p:notesMasterIdLst>
  <p:sldIdLst>
    <p:sldId id="279" r:id="rId2"/>
    <p:sldId id="307" r:id="rId3"/>
    <p:sldId id="309" r:id="rId4"/>
    <p:sldId id="338" r:id="rId5"/>
    <p:sldId id="308" r:id="rId6"/>
    <p:sldId id="311" r:id="rId7"/>
    <p:sldId id="313" r:id="rId8"/>
    <p:sldId id="314" r:id="rId9"/>
    <p:sldId id="315" r:id="rId10"/>
    <p:sldId id="316" r:id="rId11"/>
    <p:sldId id="310" r:id="rId12"/>
    <p:sldId id="339" r:id="rId13"/>
    <p:sldId id="340" r:id="rId14"/>
    <p:sldId id="317" r:id="rId15"/>
    <p:sldId id="318" r:id="rId16"/>
    <p:sldId id="319" r:id="rId17"/>
    <p:sldId id="341" r:id="rId18"/>
    <p:sldId id="320" r:id="rId19"/>
    <p:sldId id="342" r:id="rId20"/>
    <p:sldId id="343" r:id="rId21"/>
    <p:sldId id="344" r:id="rId22"/>
    <p:sldId id="345" r:id="rId23"/>
    <p:sldId id="346" r:id="rId24"/>
    <p:sldId id="347" r:id="rId25"/>
    <p:sldId id="348" r:id="rId26"/>
    <p:sldId id="349" r:id="rId27"/>
    <p:sldId id="350" r:id="rId2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853" autoAdjust="0"/>
    <p:restoredTop sz="78996" autoAdjust="0"/>
  </p:normalViewPr>
  <p:slideViewPr>
    <p:cSldViewPr snapToGrid="0" snapToObjects="1">
      <p:cViewPr varScale="1">
        <p:scale>
          <a:sx n="95" d="100"/>
          <a:sy n="95" d="100"/>
        </p:scale>
        <p:origin x="2488" y="19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AC96555-1331-A948-B8C0-76C5C61AF710}" type="datetimeFigureOut">
              <a:t>5/7/25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D2B5633-2346-D94D-BA9C-6A3E2BD83B6F}" type="slidenum">
              <a:t>‹#›</a:t>
            </a:fld>
            <a:endParaRPr lang="en-US"/>
          </a:p>
        </p:txBody>
      </p:sp>
    </p:spTree>
    <p:extLst>
      <p:ext uri="{BB962C8B-B14F-4D97-AF65-F5344CB8AC3E}">
        <p14:creationId xmlns:p14="http://schemas.microsoft.com/office/powerpoint/2010/main" val="11033488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ED8A9B0-80EF-A34D-B345-E2DEC5501E01}" type="slidenum">
              <a:rPr lang="en-US" smtClean="0"/>
              <a:t>1</a:t>
            </a:fld>
            <a:endParaRPr lang="en-US"/>
          </a:p>
        </p:txBody>
      </p:sp>
    </p:spTree>
    <p:extLst>
      <p:ext uri="{BB962C8B-B14F-4D97-AF65-F5344CB8AC3E}">
        <p14:creationId xmlns:p14="http://schemas.microsoft.com/office/powerpoint/2010/main" val="40163217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endParaRPr lang="en-US" sz="2400" b="0" dirty="0"/>
          </a:p>
        </p:txBody>
      </p:sp>
      <p:sp>
        <p:nvSpPr>
          <p:cNvPr id="4" name="Slide Number Placeholder 3"/>
          <p:cNvSpPr>
            <a:spLocks noGrp="1"/>
          </p:cNvSpPr>
          <p:nvPr>
            <p:ph type="sldNum" sz="quarter" idx="10"/>
          </p:nvPr>
        </p:nvSpPr>
        <p:spPr/>
        <p:txBody>
          <a:bodyPr/>
          <a:lstStyle/>
          <a:p>
            <a:fld id="{0ED8A9B0-80EF-A34D-B345-E2DEC5501E01}" type="slidenum">
              <a:rPr lang="en-US" smtClean="0"/>
              <a:t>2</a:t>
            </a:fld>
            <a:endParaRPr lang="en-US"/>
          </a:p>
        </p:txBody>
      </p:sp>
    </p:spTree>
    <p:extLst>
      <p:ext uri="{BB962C8B-B14F-4D97-AF65-F5344CB8AC3E}">
        <p14:creationId xmlns:p14="http://schemas.microsoft.com/office/powerpoint/2010/main" val="203889234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endParaRPr lang="en-US" sz="2400" b="0" dirty="0"/>
          </a:p>
        </p:txBody>
      </p:sp>
      <p:sp>
        <p:nvSpPr>
          <p:cNvPr id="4" name="Slide Number Placeholder 3"/>
          <p:cNvSpPr>
            <a:spLocks noGrp="1"/>
          </p:cNvSpPr>
          <p:nvPr>
            <p:ph type="sldNum" sz="quarter" idx="10"/>
          </p:nvPr>
        </p:nvSpPr>
        <p:spPr/>
        <p:txBody>
          <a:bodyPr/>
          <a:lstStyle/>
          <a:p>
            <a:fld id="{0ED8A9B0-80EF-A34D-B345-E2DEC5501E01}" type="slidenum">
              <a:rPr lang="en-US" smtClean="0"/>
              <a:t>3</a:t>
            </a:fld>
            <a:endParaRPr lang="en-US"/>
          </a:p>
        </p:txBody>
      </p:sp>
    </p:spTree>
    <p:extLst>
      <p:ext uri="{BB962C8B-B14F-4D97-AF65-F5344CB8AC3E}">
        <p14:creationId xmlns:p14="http://schemas.microsoft.com/office/powerpoint/2010/main" val="167343441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endParaRPr lang="en-US" sz="2400" b="0" dirty="0"/>
          </a:p>
        </p:txBody>
      </p:sp>
      <p:sp>
        <p:nvSpPr>
          <p:cNvPr id="4" name="Slide Number Placeholder 3"/>
          <p:cNvSpPr>
            <a:spLocks noGrp="1"/>
          </p:cNvSpPr>
          <p:nvPr>
            <p:ph type="sldNum" sz="quarter" idx="10"/>
          </p:nvPr>
        </p:nvSpPr>
        <p:spPr/>
        <p:txBody>
          <a:bodyPr/>
          <a:lstStyle/>
          <a:p>
            <a:fld id="{0ED8A9B0-80EF-A34D-B345-E2DEC5501E01}" type="slidenum">
              <a:rPr lang="en-US" smtClean="0"/>
              <a:t>4</a:t>
            </a:fld>
            <a:endParaRPr lang="en-US"/>
          </a:p>
        </p:txBody>
      </p:sp>
    </p:spTree>
    <p:extLst>
      <p:ext uri="{BB962C8B-B14F-4D97-AF65-F5344CB8AC3E}">
        <p14:creationId xmlns:p14="http://schemas.microsoft.com/office/powerpoint/2010/main" val="282619452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endParaRPr lang="en-US" sz="2400" b="0" dirty="0"/>
          </a:p>
        </p:txBody>
      </p:sp>
      <p:sp>
        <p:nvSpPr>
          <p:cNvPr id="4" name="Slide Number Placeholder 3"/>
          <p:cNvSpPr>
            <a:spLocks noGrp="1"/>
          </p:cNvSpPr>
          <p:nvPr>
            <p:ph type="sldNum" sz="quarter" idx="10"/>
          </p:nvPr>
        </p:nvSpPr>
        <p:spPr/>
        <p:txBody>
          <a:bodyPr/>
          <a:lstStyle/>
          <a:p>
            <a:fld id="{0ED8A9B0-80EF-A34D-B345-E2DEC5501E01}" type="slidenum">
              <a:rPr lang="en-US" smtClean="0"/>
              <a:t>5</a:t>
            </a:fld>
            <a:endParaRPr lang="en-US"/>
          </a:p>
        </p:txBody>
      </p:sp>
    </p:spTree>
    <p:extLst>
      <p:ext uri="{BB962C8B-B14F-4D97-AF65-F5344CB8AC3E}">
        <p14:creationId xmlns:p14="http://schemas.microsoft.com/office/powerpoint/2010/main" val="143885698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endParaRPr lang="en-US" sz="2400" b="0" dirty="0"/>
          </a:p>
        </p:txBody>
      </p:sp>
      <p:sp>
        <p:nvSpPr>
          <p:cNvPr id="4" name="Slide Number Placeholder 3"/>
          <p:cNvSpPr>
            <a:spLocks noGrp="1"/>
          </p:cNvSpPr>
          <p:nvPr>
            <p:ph type="sldNum" sz="quarter" idx="10"/>
          </p:nvPr>
        </p:nvSpPr>
        <p:spPr/>
        <p:txBody>
          <a:bodyPr/>
          <a:lstStyle/>
          <a:p>
            <a:fld id="{0ED8A9B0-80EF-A34D-B345-E2DEC5501E01}" type="slidenum">
              <a:rPr lang="en-US" smtClean="0"/>
              <a:t>6</a:t>
            </a:fld>
            <a:endParaRPr lang="en-US"/>
          </a:p>
        </p:txBody>
      </p:sp>
    </p:spTree>
    <p:extLst>
      <p:ext uri="{BB962C8B-B14F-4D97-AF65-F5344CB8AC3E}">
        <p14:creationId xmlns:p14="http://schemas.microsoft.com/office/powerpoint/2010/main" val="135891994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endParaRPr lang="en-US" sz="2400" b="0" dirty="0"/>
          </a:p>
        </p:txBody>
      </p:sp>
      <p:sp>
        <p:nvSpPr>
          <p:cNvPr id="4" name="Slide Number Placeholder 3"/>
          <p:cNvSpPr>
            <a:spLocks noGrp="1"/>
          </p:cNvSpPr>
          <p:nvPr>
            <p:ph type="sldNum" sz="quarter" idx="10"/>
          </p:nvPr>
        </p:nvSpPr>
        <p:spPr/>
        <p:txBody>
          <a:bodyPr/>
          <a:lstStyle/>
          <a:p>
            <a:fld id="{0ED8A9B0-80EF-A34D-B345-E2DEC5501E01}" type="slidenum">
              <a:rPr lang="en-US" smtClean="0"/>
              <a:t>7</a:t>
            </a:fld>
            <a:endParaRPr lang="en-US"/>
          </a:p>
        </p:txBody>
      </p:sp>
    </p:spTree>
    <p:extLst>
      <p:ext uri="{BB962C8B-B14F-4D97-AF65-F5344CB8AC3E}">
        <p14:creationId xmlns:p14="http://schemas.microsoft.com/office/powerpoint/2010/main" val="280438271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endParaRPr lang="en-US" sz="2400" b="0" dirty="0"/>
          </a:p>
        </p:txBody>
      </p:sp>
      <p:sp>
        <p:nvSpPr>
          <p:cNvPr id="4" name="Slide Number Placeholder 3"/>
          <p:cNvSpPr>
            <a:spLocks noGrp="1"/>
          </p:cNvSpPr>
          <p:nvPr>
            <p:ph type="sldNum" sz="quarter" idx="10"/>
          </p:nvPr>
        </p:nvSpPr>
        <p:spPr/>
        <p:txBody>
          <a:bodyPr/>
          <a:lstStyle/>
          <a:p>
            <a:fld id="{0ED8A9B0-80EF-A34D-B345-E2DEC5501E01}" type="slidenum">
              <a:rPr lang="en-US" smtClean="0"/>
              <a:t>8</a:t>
            </a:fld>
            <a:endParaRPr lang="en-US"/>
          </a:p>
        </p:txBody>
      </p:sp>
    </p:spTree>
    <p:extLst>
      <p:ext uri="{BB962C8B-B14F-4D97-AF65-F5344CB8AC3E}">
        <p14:creationId xmlns:p14="http://schemas.microsoft.com/office/powerpoint/2010/main" val="272162424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endParaRPr lang="en-US" sz="2400" b="0" dirty="0"/>
          </a:p>
        </p:txBody>
      </p:sp>
      <p:sp>
        <p:nvSpPr>
          <p:cNvPr id="4" name="Slide Number Placeholder 3"/>
          <p:cNvSpPr>
            <a:spLocks noGrp="1"/>
          </p:cNvSpPr>
          <p:nvPr>
            <p:ph type="sldNum" sz="quarter" idx="10"/>
          </p:nvPr>
        </p:nvSpPr>
        <p:spPr/>
        <p:txBody>
          <a:bodyPr/>
          <a:lstStyle/>
          <a:p>
            <a:fld id="{0ED8A9B0-80EF-A34D-B345-E2DEC5501E01}" type="slidenum">
              <a:rPr lang="en-US" smtClean="0"/>
              <a:t>9</a:t>
            </a:fld>
            <a:endParaRPr lang="en-US"/>
          </a:p>
        </p:txBody>
      </p:sp>
    </p:spTree>
    <p:extLst>
      <p:ext uri="{BB962C8B-B14F-4D97-AF65-F5344CB8AC3E}">
        <p14:creationId xmlns:p14="http://schemas.microsoft.com/office/powerpoint/2010/main" val="233905272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endParaRPr lang="en-US" sz="2400" b="0" dirty="0"/>
          </a:p>
        </p:txBody>
      </p:sp>
      <p:sp>
        <p:nvSpPr>
          <p:cNvPr id="4" name="Slide Number Placeholder 3"/>
          <p:cNvSpPr>
            <a:spLocks noGrp="1"/>
          </p:cNvSpPr>
          <p:nvPr>
            <p:ph type="sldNum" sz="quarter" idx="10"/>
          </p:nvPr>
        </p:nvSpPr>
        <p:spPr/>
        <p:txBody>
          <a:bodyPr/>
          <a:lstStyle/>
          <a:p>
            <a:fld id="{0ED8A9B0-80EF-A34D-B345-E2DEC5501E01}" type="slidenum">
              <a:rPr lang="en-US" smtClean="0"/>
              <a:t>10</a:t>
            </a:fld>
            <a:endParaRPr lang="en-US"/>
          </a:p>
        </p:txBody>
      </p:sp>
    </p:spTree>
    <p:extLst>
      <p:ext uri="{BB962C8B-B14F-4D97-AF65-F5344CB8AC3E}">
        <p14:creationId xmlns:p14="http://schemas.microsoft.com/office/powerpoint/2010/main" val="12657163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endParaRPr lang="en-US" sz="2400" b="0" dirty="0"/>
          </a:p>
        </p:txBody>
      </p:sp>
      <p:sp>
        <p:nvSpPr>
          <p:cNvPr id="4" name="Slide Number Placeholder 3"/>
          <p:cNvSpPr>
            <a:spLocks noGrp="1"/>
          </p:cNvSpPr>
          <p:nvPr>
            <p:ph type="sldNum" sz="quarter" idx="10"/>
          </p:nvPr>
        </p:nvSpPr>
        <p:spPr/>
        <p:txBody>
          <a:bodyPr/>
          <a:lstStyle/>
          <a:p>
            <a:fld id="{0ED8A9B0-80EF-A34D-B345-E2DEC5501E01}" type="slidenum">
              <a:rPr lang="en-US" smtClean="0"/>
              <a:t>11</a:t>
            </a:fld>
            <a:endParaRPr lang="en-US"/>
          </a:p>
        </p:txBody>
      </p:sp>
    </p:spTree>
    <p:extLst>
      <p:ext uri="{BB962C8B-B14F-4D97-AF65-F5344CB8AC3E}">
        <p14:creationId xmlns:p14="http://schemas.microsoft.com/office/powerpoint/2010/main" val="46218517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endParaRPr lang="en-US" sz="2400" b="0" dirty="0"/>
          </a:p>
        </p:txBody>
      </p:sp>
      <p:sp>
        <p:nvSpPr>
          <p:cNvPr id="4" name="Slide Number Placeholder 3"/>
          <p:cNvSpPr>
            <a:spLocks noGrp="1"/>
          </p:cNvSpPr>
          <p:nvPr>
            <p:ph type="sldNum" sz="quarter" idx="10"/>
          </p:nvPr>
        </p:nvSpPr>
        <p:spPr/>
        <p:txBody>
          <a:bodyPr/>
          <a:lstStyle/>
          <a:p>
            <a:fld id="{0ED8A9B0-80EF-A34D-B345-E2DEC5501E01}" type="slidenum">
              <a:rPr lang="en-US" smtClean="0"/>
              <a:t>12</a:t>
            </a:fld>
            <a:endParaRPr lang="en-US"/>
          </a:p>
        </p:txBody>
      </p:sp>
    </p:spTree>
    <p:extLst>
      <p:ext uri="{BB962C8B-B14F-4D97-AF65-F5344CB8AC3E}">
        <p14:creationId xmlns:p14="http://schemas.microsoft.com/office/powerpoint/2010/main" val="187080615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endParaRPr lang="en-US" sz="2400" b="0" dirty="0"/>
          </a:p>
        </p:txBody>
      </p:sp>
      <p:sp>
        <p:nvSpPr>
          <p:cNvPr id="4" name="Slide Number Placeholder 3"/>
          <p:cNvSpPr>
            <a:spLocks noGrp="1"/>
          </p:cNvSpPr>
          <p:nvPr>
            <p:ph type="sldNum" sz="quarter" idx="10"/>
          </p:nvPr>
        </p:nvSpPr>
        <p:spPr/>
        <p:txBody>
          <a:bodyPr/>
          <a:lstStyle/>
          <a:p>
            <a:fld id="{0ED8A9B0-80EF-A34D-B345-E2DEC5501E01}" type="slidenum">
              <a:rPr lang="en-US" smtClean="0"/>
              <a:t>13</a:t>
            </a:fld>
            <a:endParaRPr lang="en-US"/>
          </a:p>
        </p:txBody>
      </p:sp>
    </p:spTree>
    <p:extLst>
      <p:ext uri="{BB962C8B-B14F-4D97-AF65-F5344CB8AC3E}">
        <p14:creationId xmlns:p14="http://schemas.microsoft.com/office/powerpoint/2010/main" val="124062934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endParaRPr lang="en-US" sz="2400" b="0" dirty="0"/>
          </a:p>
        </p:txBody>
      </p:sp>
      <p:sp>
        <p:nvSpPr>
          <p:cNvPr id="4" name="Slide Number Placeholder 3"/>
          <p:cNvSpPr>
            <a:spLocks noGrp="1"/>
          </p:cNvSpPr>
          <p:nvPr>
            <p:ph type="sldNum" sz="quarter" idx="10"/>
          </p:nvPr>
        </p:nvSpPr>
        <p:spPr/>
        <p:txBody>
          <a:bodyPr/>
          <a:lstStyle/>
          <a:p>
            <a:fld id="{0ED8A9B0-80EF-A34D-B345-E2DEC5501E01}" type="slidenum">
              <a:rPr lang="en-US" smtClean="0"/>
              <a:t>14</a:t>
            </a:fld>
            <a:endParaRPr lang="en-US"/>
          </a:p>
        </p:txBody>
      </p:sp>
    </p:spTree>
    <p:extLst>
      <p:ext uri="{BB962C8B-B14F-4D97-AF65-F5344CB8AC3E}">
        <p14:creationId xmlns:p14="http://schemas.microsoft.com/office/powerpoint/2010/main" val="139510512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endParaRPr lang="en-US" sz="2400" b="0" dirty="0"/>
          </a:p>
        </p:txBody>
      </p:sp>
      <p:sp>
        <p:nvSpPr>
          <p:cNvPr id="4" name="Slide Number Placeholder 3"/>
          <p:cNvSpPr>
            <a:spLocks noGrp="1"/>
          </p:cNvSpPr>
          <p:nvPr>
            <p:ph type="sldNum" sz="quarter" idx="10"/>
          </p:nvPr>
        </p:nvSpPr>
        <p:spPr/>
        <p:txBody>
          <a:bodyPr/>
          <a:lstStyle/>
          <a:p>
            <a:fld id="{0ED8A9B0-80EF-A34D-B345-E2DEC5501E01}" type="slidenum">
              <a:rPr lang="en-US" smtClean="0"/>
              <a:t>15</a:t>
            </a:fld>
            <a:endParaRPr lang="en-US"/>
          </a:p>
        </p:txBody>
      </p:sp>
    </p:spTree>
    <p:extLst>
      <p:ext uri="{BB962C8B-B14F-4D97-AF65-F5344CB8AC3E}">
        <p14:creationId xmlns:p14="http://schemas.microsoft.com/office/powerpoint/2010/main" val="247581945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endParaRPr lang="en-US" sz="2400" b="0" dirty="0"/>
          </a:p>
        </p:txBody>
      </p:sp>
      <p:sp>
        <p:nvSpPr>
          <p:cNvPr id="4" name="Slide Number Placeholder 3"/>
          <p:cNvSpPr>
            <a:spLocks noGrp="1"/>
          </p:cNvSpPr>
          <p:nvPr>
            <p:ph type="sldNum" sz="quarter" idx="10"/>
          </p:nvPr>
        </p:nvSpPr>
        <p:spPr/>
        <p:txBody>
          <a:bodyPr/>
          <a:lstStyle/>
          <a:p>
            <a:fld id="{0ED8A9B0-80EF-A34D-B345-E2DEC5501E01}" type="slidenum">
              <a:rPr lang="en-US" smtClean="0"/>
              <a:t>16</a:t>
            </a:fld>
            <a:endParaRPr lang="en-US"/>
          </a:p>
        </p:txBody>
      </p:sp>
    </p:spTree>
    <p:extLst>
      <p:ext uri="{BB962C8B-B14F-4D97-AF65-F5344CB8AC3E}">
        <p14:creationId xmlns:p14="http://schemas.microsoft.com/office/powerpoint/2010/main" val="154821225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endParaRPr lang="en-US" sz="2400" b="0" dirty="0"/>
          </a:p>
        </p:txBody>
      </p:sp>
      <p:sp>
        <p:nvSpPr>
          <p:cNvPr id="4" name="Slide Number Placeholder 3"/>
          <p:cNvSpPr>
            <a:spLocks noGrp="1"/>
          </p:cNvSpPr>
          <p:nvPr>
            <p:ph type="sldNum" sz="quarter" idx="10"/>
          </p:nvPr>
        </p:nvSpPr>
        <p:spPr/>
        <p:txBody>
          <a:bodyPr/>
          <a:lstStyle/>
          <a:p>
            <a:fld id="{0ED8A9B0-80EF-A34D-B345-E2DEC5501E01}" type="slidenum">
              <a:rPr lang="en-US" smtClean="0"/>
              <a:t>17</a:t>
            </a:fld>
            <a:endParaRPr lang="en-US"/>
          </a:p>
        </p:txBody>
      </p:sp>
    </p:spTree>
    <p:extLst>
      <p:ext uri="{BB962C8B-B14F-4D97-AF65-F5344CB8AC3E}">
        <p14:creationId xmlns:p14="http://schemas.microsoft.com/office/powerpoint/2010/main" val="273472225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endParaRPr lang="en-US" sz="2400" b="0" dirty="0"/>
          </a:p>
        </p:txBody>
      </p:sp>
      <p:sp>
        <p:nvSpPr>
          <p:cNvPr id="4" name="Slide Number Placeholder 3"/>
          <p:cNvSpPr>
            <a:spLocks noGrp="1"/>
          </p:cNvSpPr>
          <p:nvPr>
            <p:ph type="sldNum" sz="quarter" idx="10"/>
          </p:nvPr>
        </p:nvSpPr>
        <p:spPr/>
        <p:txBody>
          <a:bodyPr/>
          <a:lstStyle/>
          <a:p>
            <a:fld id="{0ED8A9B0-80EF-A34D-B345-E2DEC5501E01}" type="slidenum">
              <a:rPr lang="en-US" smtClean="0"/>
              <a:t>18</a:t>
            </a:fld>
            <a:endParaRPr lang="en-US"/>
          </a:p>
        </p:txBody>
      </p:sp>
    </p:spTree>
    <p:extLst>
      <p:ext uri="{BB962C8B-B14F-4D97-AF65-F5344CB8AC3E}">
        <p14:creationId xmlns:p14="http://schemas.microsoft.com/office/powerpoint/2010/main" val="81752858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endParaRPr lang="en-US" sz="2400" b="0" dirty="0"/>
          </a:p>
        </p:txBody>
      </p:sp>
      <p:sp>
        <p:nvSpPr>
          <p:cNvPr id="4" name="Slide Number Placeholder 3"/>
          <p:cNvSpPr>
            <a:spLocks noGrp="1"/>
          </p:cNvSpPr>
          <p:nvPr>
            <p:ph type="sldNum" sz="quarter" idx="10"/>
          </p:nvPr>
        </p:nvSpPr>
        <p:spPr/>
        <p:txBody>
          <a:bodyPr/>
          <a:lstStyle/>
          <a:p>
            <a:fld id="{0ED8A9B0-80EF-A34D-B345-E2DEC5501E01}" type="slidenum">
              <a:rPr lang="en-US" smtClean="0"/>
              <a:t>19</a:t>
            </a:fld>
            <a:endParaRPr lang="en-US"/>
          </a:p>
        </p:txBody>
      </p:sp>
    </p:spTree>
    <p:extLst>
      <p:ext uri="{BB962C8B-B14F-4D97-AF65-F5344CB8AC3E}">
        <p14:creationId xmlns:p14="http://schemas.microsoft.com/office/powerpoint/2010/main" val="181054994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endParaRPr lang="en-US" sz="2400" b="0" dirty="0"/>
          </a:p>
        </p:txBody>
      </p:sp>
      <p:sp>
        <p:nvSpPr>
          <p:cNvPr id="4" name="Slide Number Placeholder 3"/>
          <p:cNvSpPr>
            <a:spLocks noGrp="1"/>
          </p:cNvSpPr>
          <p:nvPr>
            <p:ph type="sldNum" sz="quarter" idx="10"/>
          </p:nvPr>
        </p:nvSpPr>
        <p:spPr/>
        <p:txBody>
          <a:bodyPr/>
          <a:lstStyle/>
          <a:p>
            <a:fld id="{0ED8A9B0-80EF-A34D-B345-E2DEC5501E01}" type="slidenum">
              <a:rPr lang="en-US" smtClean="0"/>
              <a:t>20</a:t>
            </a:fld>
            <a:endParaRPr lang="en-US"/>
          </a:p>
        </p:txBody>
      </p:sp>
    </p:spTree>
    <p:extLst>
      <p:ext uri="{BB962C8B-B14F-4D97-AF65-F5344CB8AC3E}">
        <p14:creationId xmlns:p14="http://schemas.microsoft.com/office/powerpoint/2010/main" val="201111356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endParaRPr lang="en-US" sz="2400" b="0" dirty="0"/>
          </a:p>
        </p:txBody>
      </p:sp>
      <p:sp>
        <p:nvSpPr>
          <p:cNvPr id="4" name="Slide Number Placeholder 3"/>
          <p:cNvSpPr>
            <a:spLocks noGrp="1"/>
          </p:cNvSpPr>
          <p:nvPr>
            <p:ph type="sldNum" sz="quarter" idx="10"/>
          </p:nvPr>
        </p:nvSpPr>
        <p:spPr/>
        <p:txBody>
          <a:bodyPr/>
          <a:lstStyle/>
          <a:p>
            <a:fld id="{0ED8A9B0-80EF-A34D-B345-E2DEC5501E01}" type="slidenum">
              <a:rPr lang="en-US" smtClean="0"/>
              <a:t>21</a:t>
            </a:fld>
            <a:endParaRPr lang="en-US"/>
          </a:p>
        </p:txBody>
      </p:sp>
    </p:spTree>
    <p:extLst>
      <p:ext uri="{BB962C8B-B14F-4D97-AF65-F5344CB8AC3E}">
        <p14:creationId xmlns:p14="http://schemas.microsoft.com/office/powerpoint/2010/main" val="23976313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endParaRPr lang="en-US" sz="2400" b="0" dirty="0"/>
          </a:p>
        </p:txBody>
      </p:sp>
      <p:sp>
        <p:nvSpPr>
          <p:cNvPr id="4" name="Slide Number Placeholder 3"/>
          <p:cNvSpPr>
            <a:spLocks noGrp="1"/>
          </p:cNvSpPr>
          <p:nvPr>
            <p:ph type="sldNum" sz="quarter" idx="10"/>
          </p:nvPr>
        </p:nvSpPr>
        <p:spPr/>
        <p:txBody>
          <a:bodyPr/>
          <a:lstStyle/>
          <a:p>
            <a:fld id="{0ED8A9B0-80EF-A34D-B345-E2DEC5501E01}" type="slidenum">
              <a:rPr lang="en-US" smtClean="0"/>
              <a:t>22</a:t>
            </a:fld>
            <a:endParaRPr lang="en-US"/>
          </a:p>
        </p:txBody>
      </p:sp>
    </p:spTree>
    <p:extLst>
      <p:ext uri="{BB962C8B-B14F-4D97-AF65-F5344CB8AC3E}">
        <p14:creationId xmlns:p14="http://schemas.microsoft.com/office/powerpoint/2010/main" val="91124781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endParaRPr lang="en-US" sz="2400" b="0" dirty="0"/>
          </a:p>
        </p:txBody>
      </p:sp>
      <p:sp>
        <p:nvSpPr>
          <p:cNvPr id="4" name="Slide Number Placeholder 3"/>
          <p:cNvSpPr>
            <a:spLocks noGrp="1"/>
          </p:cNvSpPr>
          <p:nvPr>
            <p:ph type="sldNum" sz="quarter" idx="10"/>
          </p:nvPr>
        </p:nvSpPr>
        <p:spPr/>
        <p:txBody>
          <a:bodyPr/>
          <a:lstStyle/>
          <a:p>
            <a:fld id="{0ED8A9B0-80EF-A34D-B345-E2DEC5501E01}" type="slidenum">
              <a:rPr lang="en-US" smtClean="0"/>
              <a:t>23</a:t>
            </a:fld>
            <a:endParaRPr lang="en-US"/>
          </a:p>
        </p:txBody>
      </p:sp>
    </p:spTree>
    <p:extLst>
      <p:ext uri="{BB962C8B-B14F-4D97-AF65-F5344CB8AC3E}">
        <p14:creationId xmlns:p14="http://schemas.microsoft.com/office/powerpoint/2010/main" val="87644034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endParaRPr lang="en-US" sz="2400" b="0" dirty="0"/>
          </a:p>
        </p:txBody>
      </p:sp>
      <p:sp>
        <p:nvSpPr>
          <p:cNvPr id="4" name="Slide Number Placeholder 3"/>
          <p:cNvSpPr>
            <a:spLocks noGrp="1"/>
          </p:cNvSpPr>
          <p:nvPr>
            <p:ph type="sldNum" sz="quarter" idx="10"/>
          </p:nvPr>
        </p:nvSpPr>
        <p:spPr/>
        <p:txBody>
          <a:bodyPr/>
          <a:lstStyle/>
          <a:p>
            <a:fld id="{0ED8A9B0-80EF-A34D-B345-E2DEC5501E01}" type="slidenum">
              <a:rPr lang="en-US" smtClean="0"/>
              <a:t>24</a:t>
            </a:fld>
            <a:endParaRPr lang="en-US"/>
          </a:p>
        </p:txBody>
      </p:sp>
    </p:spTree>
    <p:extLst>
      <p:ext uri="{BB962C8B-B14F-4D97-AF65-F5344CB8AC3E}">
        <p14:creationId xmlns:p14="http://schemas.microsoft.com/office/powerpoint/2010/main" val="22953258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endParaRPr lang="en-US" sz="2400" b="0" dirty="0"/>
          </a:p>
        </p:txBody>
      </p:sp>
      <p:sp>
        <p:nvSpPr>
          <p:cNvPr id="4" name="Slide Number Placeholder 3"/>
          <p:cNvSpPr>
            <a:spLocks noGrp="1"/>
          </p:cNvSpPr>
          <p:nvPr>
            <p:ph type="sldNum" sz="quarter" idx="10"/>
          </p:nvPr>
        </p:nvSpPr>
        <p:spPr/>
        <p:txBody>
          <a:bodyPr/>
          <a:lstStyle/>
          <a:p>
            <a:fld id="{0ED8A9B0-80EF-A34D-B345-E2DEC5501E01}" type="slidenum">
              <a:rPr lang="en-US" smtClean="0"/>
              <a:t>25</a:t>
            </a:fld>
            <a:endParaRPr lang="en-US"/>
          </a:p>
        </p:txBody>
      </p:sp>
    </p:spTree>
    <p:extLst>
      <p:ext uri="{BB962C8B-B14F-4D97-AF65-F5344CB8AC3E}">
        <p14:creationId xmlns:p14="http://schemas.microsoft.com/office/powerpoint/2010/main" val="61369045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endParaRPr lang="en-US" sz="2400" b="0" dirty="0"/>
          </a:p>
        </p:txBody>
      </p:sp>
      <p:sp>
        <p:nvSpPr>
          <p:cNvPr id="4" name="Slide Number Placeholder 3"/>
          <p:cNvSpPr>
            <a:spLocks noGrp="1"/>
          </p:cNvSpPr>
          <p:nvPr>
            <p:ph type="sldNum" sz="quarter" idx="10"/>
          </p:nvPr>
        </p:nvSpPr>
        <p:spPr/>
        <p:txBody>
          <a:bodyPr/>
          <a:lstStyle/>
          <a:p>
            <a:fld id="{0ED8A9B0-80EF-A34D-B345-E2DEC5501E01}" type="slidenum">
              <a:rPr lang="en-US" smtClean="0"/>
              <a:t>26</a:t>
            </a:fld>
            <a:endParaRPr lang="en-US"/>
          </a:p>
        </p:txBody>
      </p:sp>
    </p:spTree>
    <p:extLst>
      <p:ext uri="{BB962C8B-B14F-4D97-AF65-F5344CB8AC3E}">
        <p14:creationId xmlns:p14="http://schemas.microsoft.com/office/powerpoint/2010/main" val="172780654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endParaRPr lang="en-US" sz="2400" b="0" dirty="0"/>
          </a:p>
        </p:txBody>
      </p:sp>
      <p:sp>
        <p:nvSpPr>
          <p:cNvPr id="4" name="Slide Number Placeholder 3"/>
          <p:cNvSpPr>
            <a:spLocks noGrp="1"/>
          </p:cNvSpPr>
          <p:nvPr>
            <p:ph type="sldNum" sz="quarter" idx="10"/>
          </p:nvPr>
        </p:nvSpPr>
        <p:spPr/>
        <p:txBody>
          <a:bodyPr/>
          <a:lstStyle/>
          <a:p>
            <a:fld id="{0ED8A9B0-80EF-A34D-B345-E2DEC5501E01}" type="slidenum">
              <a:rPr lang="en-US" smtClean="0"/>
              <a:t>27</a:t>
            </a:fld>
            <a:endParaRPr lang="en-US"/>
          </a:p>
        </p:txBody>
      </p:sp>
    </p:spTree>
    <p:extLst>
      <p:ext uri="{BB962C8B-B14F-4D97-AF65-F5344CB8AC3E}">
        <p14:creationId xmlns:p14="http://schemas.microsoft.com/office/powerpoint/2010/main" val="17345180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0FF5F1D7-66E1-9743-A16C-C84344C28A66}" type="datetimeFigureOut">
              <a:rPr lang="en-US" smtClean="0"/>
              <a:pPr/>
              <a:t>5/7/25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F333D9F-47EE-C945-BA73-E7E5401F673A}"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FF5F1D7-66E1-9743-A16C-C84344C28A66}" type="datetimeFigureOut">
              <a:rPr lang="en-US" smtClean="0"/>
              <a:pPr/>
              <a:t>5/7/25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F333D9F-47EE-C945-BA73-E7E5401F673A}"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FF5F1D7-66E1-9743-A16C-C84344C28A66}" type="datetimeFigureOut">
              <a:rPr lang="en-US" smtClean="0"/>
              <a:pPr/>
              <a:t>5/7/25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F333D9F-47EE-C945-BA73-E7E5401F673A}"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0FF5F1D7-66E1-9743-A16C-C84344C28A66}" type="datetimeFigureOut">
              <a:rPr lang="en-US" smtClean="0"/>
              <a:pPr/>
              <a:t>5/7/25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F333D9F-47EE-C945-BA73-E7E5401F673A}"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0FF5F1D7-66E1-9743-A16C-C84344C28A66}" type="datetimeFigureOut">
              <a:rPr lang="en-US" smtClean="0"/>
              <a:pPr/>
              <a:t>5/7/25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F333D9F-47EE-C945-BA73-E7E5401F673A}"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0FF5F1D7-66E1-9743-A16C-C84344C28A66}" type="datetimeFigureOut">
              <a:rPr lang="en-US" smtClean="0"/>
              <a:pPr/>
              <a:t>5/7/25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F333D9F-47EE-C945-BA73-E7E5401F673A}"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FF5F1D7-66E1-9743-A16C-C84344C28A66}" type="datetimeFigureOut">
              <a:rPr lang="en-US" smtClean="0"/>
              <a:pPr/>
              <a:t>5/7/25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F333D9F-47EE-C945-BA73-E7E5401F673A}"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FF5F1D7-66E1-9743-A16C-C84344C28A66}" type="datetimeFigureOut">
              <a:rPr lang="en-US" smtClean="0"/>
              <a:pPr/>
              <a:t>5/7/25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F333D9F-47EE-C945-BA73-E7E5401F673A}"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FF5F1D7-66E1-9743-A16C-C84344C28A66}" type="datetimeFigureOut">
              <a:rPr lang="en-US" smtClean="0"/>
              <a:pPr/>
              <a:t>5/7/25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F333D9F-47EE-C945-BA73-E7E5401F673A}"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FF5F1D7-66E1-9743-A16C-C84344C28A66}" type="datetimeFigureOut">
              <a:rPr lang="en-US" smtClean="0"/>
              <a:pPr/>
              <a:t>5/7/25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F333D9F-47EE-C945-BA73-E7E5401F673A}"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FF5F1D7-66E1-9743-A16C-C84344C28A66}" type="datetimeFigureOut">
              <a:rPr lang="en-US" smtClean="0"/>
              <a:pPr/>
              <a:t>5/7/25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F333D9F-47EE-C945-BA73-E7E5401F673A}"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Design">
    <p:spTree>
      <p:nvGrpSpPr>
        <p:cNvPr id="1" name=""/>
        <p:cNvGrpSpPr/>
        <p:nvPr/>
      </p:nvGrpSpPr>
      <p:grpSpPr>
        <a:xfrm>
          <a:off x="0" y="0"/>
          <a:ext cx="0" cy="0"/>
          <a:chOff x="0" y="0"/>
          <a:chExt cx="0" cy="0"/>
        </a:xfrm>
      </p:grpSpPr>
    </p:spTree>
    <p:extLst>
      <p:ext uri="{BB962C8B-B14F-4D97-AF65-F5344CB8AC3E}">
        <p14:creationId xmlns:p14="http://schemas.microsoft.com/office/powerpoint/2010/main" val="162850808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3_Design">
    <p:spTree>
      <p:nvGrpSpPr>
        <p:cNvPr id="1" name=""/>
        <p:cNvGrpSpPr/>
        <p:nvPr/>
      </p:nvGrpSpPr>
      <p:grpSpPr>
        <a:xfrm>
          <a:off x="0" y="0"/>
          <a:ext cx="0" cy="0"/>
          <a:chOff x="0" y="0"/>
          <a:chExt cx="0" cy="0"/>
        </a:xfrm>
      </p:grpSpPr>
      <p:sp>
        <p:nvSpPr>
          <p:cNvPr id="5" name="Picture Placeholder 4"/>
          <p:cNvSpPr>
            <a:spLocks noGrp="1"/>
          </p:cNvSpPr>
          <p:nvPr>
            <p:ph type="pic" sz="quarter" idx="13"/>
          </p:nvPr>
        </p:nvSpPr>
        <p:spPr>
          <a:xfrm>
            <a:off x="4658500" y="3429001"/>
            <a:ext cx="4485500" cy="3429000"/>
          </a:xfrm>
          <a:prstGeom prst="rect">
            <a:avLst/>
          </a:prstGeom>
          <a:solidFill>
            <a:schemeClr val="bg1">
              <a:lumMod val="95000"/>
            </a:schemeClr>
          </a:solidFill>
        </p:spPr>
        <p:txBody>
          <a:bodyPr>
            <a:normAutofit/>
          </a:bodyPr>
          <a:lstStyle>
            <a:lvl1pPr marL="0" indent="0">
              <a:buNone/>
              <a:defRPr sz="2000" b="0" i="0">
                <a:latin typeface="Lato Light" charset="0"/>
              </a:defRPr>
            </a:lvl1pPr>
          </a:lstStyle>
          <a:p>
            <a:endParaRPr lang="en-US" dirty="0"/>
          </a:p>
        </p:txBody>
      </p:sp>
      <p:sp>
        <p:nvSpPr>
          <p:cNvPr id="7" name="Picture Placeholder 4"/>
          <p:cNvSpPr>
            <a:spLocks noGrp="1"/>
          </p:cNvSpPr>
          <p:nvPr>
            <p:ph type="pic" sz="quarter" idx="12"/>
          </p:nvPr>
        </p:nvSpPr>
        <p:spPr>
          <a:xfrm>
            <a:off x="0" y="3429001"/>
            <a:ext cx="4485500" cy="3429000"/>
          </a:xfrm>
          <a:prstGeom prst="rect">
            <a:avLst/>
          </a:prstGeom>
          <a:solidFill>
            <a:schemeClr val="bg1">
              <a:lumMod val="95000"/>
            </a:schemeClr>
          </a:solidFill>
        </p:spPr>
        <p:txBody>
          <a:bodyPr>
            <a:normAutofit/>
          </a:bodyPr>
          <a:lstStyle>
            <a:lvl1pPr marL="0" indent="0">
              <a:buNone/>
              <a:defRPr sz="2000" b="0" i="0">
                <a:latin typeface="Lato Light" charset="0"/>
              </a:defRPr>
            </a:lvl1pPr>
          </a:lstStyle>
          <a:p>
            <a:endParaRPr lang="en-US" dirty="0"/>
          </a:p>
        </p:txBody>
      </p:sp>
    </p:spTree>
    <p:extLst>
      <p:ext uri="{BB962C8B-B14F-4D97-AF65-F5344CB8AC3E}">
        <p14:creationId xmlns:p14="http://schemas.microsoft.com/office/powerpoint/2010/main" val="35096668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FF5F1D7-66E1-9743-A16C-C84344C28A66}" type="datetimeFigureOut">
              <a:rPr lang="en-US" smtClean="0"/>
              <a:pPr/>
              <a:t>5/7/25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F333D9F-47EE-C945-BA73-E7E5401F673A}"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4.xml"/><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6.xml"/><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461665"/>
            <a:ext cx="9143999" cy="6096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Lato Light" charset="0"/>
            </a:endParaRPr>
          </a:p>
        </p:txBody>
      </p:sp>
      <p:grpSp>
        <p:nvGrpSpPr>
          <p:cNvPr id="3" name="Group 2"/>
          <p:cNvGrpSpPr/>
          <p:nvPr/>
        </p:nvGrpSpPr>
        <p:grpSpPr>
          <a:xfrm>
            <a:off x="597195" y="1489570"/>
            <a:ext cx="8546804" cy="3139320"/>
            <a:chOff x="597195" y="1417888"/>
            <a:chExt cx="5391623" cy="3139320"/>
          </a:xfrm>
        </p:grpSpPr>
        <p:sp>
          <p:nvSpPr>
            <p:cNvPr id="10" name="TextBox 9"/>
            <p:cNvSpPr txBox="1"/>
            <p:nvPr/>
          </p:nvSpPr>
          <p:spPr>
            <a:xfrm>
              <a:off x="597195" y="1417888"/>
              <a:ext cx="5391623" cy="2246769"/>
            </a:xfrm>
            <a:prstGeom prst="rect">
              <a:avLst/>
            </a:prstGeom>
            <a:noFill/>
          </p:spPr>
          <p:txBody>
            <a:bodyPr wrap="square" rtlCol="0">
              <a:spAutoFit/>
            </a:bodyPr>
            <a:lstStyle/>
            <a:p>
              <a:r>
                <a:rPr lang="en-US" sz="5400" b="1" dirty="0">
                  <a:solidFill>
                    <a:schemeClr val="bg1"/>
                  </a:solidFill>
                  <a:latin typeface="Lato Heavy" charset="0"/>
                  <a:ea typeface="Lato Heavy" charset="0"/>
                  <a:cs typeface="Lato Heavy" charset="0"/>
                </a:rPr>
                <a:t>IF3141</a:t>
              </a:r>
            </a:p>
            <a:p>
              <a:r>
                <a:rPr lang="en-US" sz="5400" b="1" dirty="0">
                  <a:solidFill>
                    <a:schemeClr val="bg1"/>
                  </a:solidFill>
                  <a:latin typeface="Lato Heavy" charset="0"/>
                  <a:ea typeface="Lato Heavy" charset="0"/>
                  <a:cs typeface="Lato Heavy" charset="0"/>
                </a:rPr>
                <a:t>SISTEM INFORMASI</a:t>
              </a:r>
            </a:p>
            <a:p>
              <a:r>
                <a:rPr lang="en-US" sz="3200" b="1" dirty="0">
                  <a:solidFill>
                    <a:schemeClr val="bg1"/>
                  </a:solidFill>
                  <a:latin typeface="Lato Heavy" charset="0"/>
                  <a:ea typeface="Lato Heavy" charset="0"/>
                  <a:cs typeface="Lato Heavy" charset="0"/>
                </a:rPr>
                <a:t>Quality &amp; Testing</a:t>
              </a:r>
              <a:endParaRPr lang="en-US" sz="4000" b="1" dirty="0">
                <a:solidFill>
                  <a:schemeClr val="bg1"/>
                </a:solidFill>
                <a:latin typeface="Lato Heavy" charset="0"/>
                <a:ea typeface="Lato Heavy" charset="0"/>
                <a:cs typeface="Lato Heavy" charset="0"/>
              </a:endParaRPr>
            </a:p>
          </p:txBody>
        </p:sp>
        <p:sp>
          <p:nvSpPr>
            <p:cNvPr id="12" name="Rectangle 11"/>
            <p:cNvSpPr/>
            <p:nvPr/>
          </p:nvSpPr>
          <p:spPr>
            <a:xfrm>
              <a:off x="607242" y="3972433"/>
              <a:ext cx="5381576" cy="584775"/>
            </a:xfrm>
            <a:prstGeom prst="rect">
              <a:avLst/>
            </a:prstGeom>
          </p:spPr>
          <p:txBody>
            <a:bodyPr wrap="square">
              <a:spAutoFit/>
            </a:bodyPr>
            <a:lstStyle/>
            <a:p>
              <a:r>
                <a:rPr lang="en-US" sz="3200" dirty="0">
                  <a:solidFill>
                    <a:schemeClr val="accent1">
                      <a:lumMod val="40000"/>
                      <a:lumOff val="60000"/>
                    </a:schemeClr>
                  </a:solidFill>
                  <a:latin typeface="Lato" charset="0"/>
                  <a:ea typeface="Lato" charset="0"/>
                  <a:cs typeface="Lato" charset="0"/>
                </a:rPr>
                <a:t>Semester I 2024/2025</a:t>
              </a:r>
              <a:endParaRPr lang="en-US" sz="3200" dirty="0">
                <a:solidFill>
                  <a:schemeClr val="accent1">
                    <a:lumMod val="40000"/>
                    <a:lumOff val="60000"/>
                  </a:schemeClr>
                </a:solidFill>
                <a:effectLst/>
                <a:latin typeface="Lato" charset="0"/>
                <a:ea typeface="Lato" charset="0"/>
                <a:cs typeface="Lato" charset="0"/>
              </a:endParaRPr>
            </a:p>
          </p:txBody>
        </p:sp>
      </p:grpSp>
      <p:sp>
        <p:nvSpPr>
          <p:cNvPr id="17" name="Rectangle 16"/>
          <p:cNvSpPr/>
          <p:nvPr/>
        </p:nvSpPr>
        <p:spPr>
          <a:xfrm>
            <a:off x="597195" y="6217230"/>
            <a:ext cx="3762104" cy="461665"/>
          </a:xfrm>
          <a:prstGeom prst="rect">
            <a:avLst/>
          </a:prstGeom>
        </p:spPr>
        <p:txBody>
          <a:bodyPr wrap="square">
            <a:spAutoFit/>
          </a:bodyPr>
          <a:lstStyle/>
          <a:p>
            <a:pPr>
              <a:lnSpc>
                <a:spcPct val="150000"/>
              </a:lnSpc>
            </a:pPr>
            <a:r>
              <a:rPr lang="en-US" sz="1200" dirty="0">
                <a:solidFill>
                  <a:schemeClr val="bg1">
                    <a:lumMod val="50000"/>
                  </a:schemeClr>
                </a:solidFill>
                <a:latin typeface="Lato" charset="0"/>
                <a:ea typeface="Lato" charset="0"/>
                <a:cs typeface="Lato" charset="0"/>
              </a:rPr>
              <a:t>IF3141 </a:t>
            </a:r>
            <a:r>
              <a:rPr lang="en-US" sz="1600" b="1" dirty="0">
                <a:solidFill>
                  <a:schemeClr val="bg1">
                    <a:lumMod val="50000"/>
                  </a:schemeClr>
                </a:solidFill>
                <a:latin typeface="Lato" charset="0"/>
                <a:ea typeface="Lato" charset="0"/>
                <a:cs typeface="Lato" charset="0"/>
              </a:rPr>
              <a:t>|</a:t>
            </a:r>
            <a:r>
              <a:rPr lang="en-US" sz="1200" b="1" dirty="0">
                <a:solidFill>
                  <a:schemeClr val="bg1">
                    <a:lumMod val="50000"/>
                  </a:schemeClr>
                </a:solidFill>
                <a:latin typeface="Lato" charset="0"/>
                <a:ea typeface="Lato" charset="0"/>
                <a:cs typeface="Lato" charset="0"/>
              </a:rPr>
              <a:t> </a:t>
            </a:r>
            <a:r>
              <a:rPr lang="en-US" sz="1200" dirty="0">
                <a:solidFill>
                  <a:schemeClr val="bg1">
                    <a:lumMod val="50000"/>
                  </a:schemeClr>
                </a:solidFill>
                <a:latin typeface="Lato" charset="0"/>
                <a:ea typeface="Lato" charset="0"/>
                <a:cs typeface="Lato" charset="0"/>
              </a:rPr>
              <a:t>TEKNIK INFORMATIKA ITB</a:t>
            </a:r>
            <a:endParaRPr lang="en-US" sz="1200" dirty="0">
              <a:solidFill>
                <a:schemeClr val="bg1">
                  <a:lumMod val="50000"/>
                </a:schemeClr>
              </a:solidFill>
              <a:effectLst/>
              <a:latin typeface="Lato" charset="0"/>
              <a:ea typeface="Lato" charset="0"/>
              <a:cs typeface="Lato" charset="0"/>
            </a:endParaRPr>
          </a:p>
        </p:txBody>
      </p:sp>
    </p:spTree>
    <p:extLst>
      <p:ext uri="{BB962C8B-B14F-4D97-AF65-F5344CB8AC3E}">
        <p14:creationId xmlns:p14="http://schemas.microsoft.com/office/powerpoint/2010/main" val="40653542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0" y="0"/>
            <a:ext cx="9144000" cy="122526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Lato Light" charset="0"/>
            </a:endParaRPr>
          </a:p>
        </p:txBody>
      </p:sp>
      <p:sp>
        <p:nvSpPr>
          <p:cNvPr id="11" name="TextBox 10"/>
          <p:cNvSpPr txBox="1"/>
          <p:nvPr/>
        </p:nvSpPr>
        <p:spPr>
          <a:xfrm>
            <a:off x="570160" y="295761"/>
            <a:ext cx="8065840" cy="646331"/>
          </a:xfrm>
          <a:prstGeom prst="rect">
            <a:avLst/>
          </a:prstGeom>
          <a:noFill/>
        </p:spPr>
        <p:txBody>
          <a:bodyPr wrap="square" rtlCol="0">
            <a:spAutoFit/>
          </a:bodyPr>
          <a:lstStyle/>
          <a:p>
            <a:pPr algn="ctr"/>
            <a:r>
              <a:rPr lang="en-US" sz="3600" b="1" dirty="0">
                <a:solidFill>
                  <a:schemeClr val="bg1"/>
                </a:solidFill>
                <a:latin typeface="Lato" charset="0"/>
                <a:ea typeface="Lato" charset="0"/>
                <a:cs typeface="Lato" charset="0"/>
              </a:rPr>
              <a:t>Introduction</a:t>
            </a:r>
          </a:p>
        </p:txBody>
      </p:sp>
      <p:sp>
        <p:nvSpPr>
          <p:cNvPr id="5" name="Rectangle 4">
            <a:extLst>
              <a:ext uri="{FF2B5EF4-FFF2-40B4-BE49-F238E27FC236}">
                <a16:creationId xmlns:a16="http://schemas.microsoft.com/office/drawing/2014/main" id="{2AF393C6-1414-6247-8304-3C5C2A41F6D2}"/>
              </a:ext>
            </a:extLst>
          </p:cNvPr>
          <p:cNvSpPr/>
          <p:nvPr/>
        </p:nvSpPr>
        <p:spPr>
          <a:xfrm>
            <a:off x="128016" y="1243065"/>
            <a:ext cx="9015984" cy="5262979"/>
          </a:xfrm>
          <a:prstGeom prst="rect">
            <a:avLst/>
          </a:prstGeom>
        </p:spPr>
        <p:txBody>
          <a:bodyPr wrap="square">
            <a:spAutoFit/>
          </a:bodyPr>
          <a:lstStyle/>
          <a:p>
            <a:pPr marL="457200" indent="-457200">
              <a:buFont typeface="Arial" panose="020B0604020202020204" pitchFamily="34" charset="0"/>
              <a:buChar char="•"/>
            </a:pPr>
            <a:r>
              <a:rPr lang="en-US" sz="2400" dirty="0"/>
              <a:t>The quality of software is an important aspect of system development. Delivered software needs to be ‘fit for purpose’, reliable and maintainable to meet changing requirements. </a:t>
            </a:r>
          </a:p>
          <a:p>
            <a:pPr marL="457200" indent="-457200">
              <a:buFont typeface="Arial" panose="020B0604020202020204" pitchFamily="34" charset="0"/>
              <a:buChar char="•"/>
            </a:pPr>
            <a:endParaRPr lang="en-US" sz="2400" dirty="0"/>
          </a:p>
          <a:p>
            <a:pPr marL="457200" indent="-457200">
              <a:buFont typeface="Arial" panose="020B0604020202020204" pitchFamily="34" charset="0"/>
              <a:buChar char="•"/>
            </a:pPr>
            <a:r>
              <a:rPr lang="en-US" sz="2400" dirty="0"/>
              <a:t>To achieve this, the software needs to be tested at various stages of its development to ensure that the final software product meets the desired level of quality.</a:t>
            </a:r>
          </a:p>
          <a:p>
            <a:pPr marL="457200" indent="-457200">
              <a:buFont typeface="Arial" panose="020B0604020202020204" pitchFamily="34" charset="0"/>
              <a:buChar char="•"/>
            </a:pPr>
            <a:endParaRPr lang="en-US" sz="2400" dirty="0"/>
          </a:p>
          <a:p>
            <a:pPr marL="457200" indent="-457200">
              <a:buFont typeface="Arial" panose="020B0604020202020204" pitchFamily="34" charset="0"/>
              <a:buChar char="•"/>
            </a:pPr>
            <a:r>
              <a:rPr lang="en-US" sz="2400" dirty="0"/>
              <a:t>It is always more cost-effective to build quality into the design and development of a product than it is to correct faults after the product has been built.</a:t>
            </a:r>
          </a:p>
          <a:p>
            <a:pPr marL="457200" indent="-457200">
              <a:buFont typeface="Arial" panose="020B0604020202020204" pitchFamily="34" charset="0"/>
              <a:buChar char="•"/>
            </a:pPr>
            <a:endParaRPr lang="en-US" sz="2400" dirty="0"/>
          </a:p>
          <a:p>
            <a:pPr marL="457200" indent="-457200">
              <a:buFont typeface="Arial" panose="020B0604020202020204" pitchFamily="34" charset="0"/>
              <a:buChar char="•"/>
            </a:pPr>
            <a:r>
              <a:rPr lang="en-US" sz="2400" dirty="0"/>
              <a:t>Different systems will require different levels of quality</a:t>
            </a:r>
          </a:p>
          <a:p>
            <a:pPr marL="457200" indent="-457200">
              <a:buFont typeface="Arial" panose="020B0604020202020204" pitchFamily="34" charset="0"/>
              <a:buChar char="•"/>
            </a:pPr>
            <a:endParaRPr lang="en-US" sz="2400" dirty="0"/>
          </a:p>
        </p:txBody>
      </p:sp>
    </p:spTree>
    <p:extLst>
      <p:ext uri="{BB962C8B-B14F-4D97-AF65-F5344CB8AC3E}">
        <p14:creationId xmlns:p14="http://schemas.microsoft.com/office/powerpoint/2010/main" val="31484079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0" y="0"/>
            <a:ext cx="9144000" cy="122526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Lato Light" charset="0"/>
            </a:endParaRPr>
          </a:p>
        </p:txBody>
      </p:sp>
      <p:sp>
        <p:nvSpPr>
          <p:cNvPr id="11" name="TextBox 10"/>
          <p:cNvSpPr txBox="1"/>
          <p:nvPr/>
        </p:nvSpPr>
        <p:spPr>
          <a:xfrm>
            <a:off x="570160" y="295761"/>
            <a:ext cx="8065840" cy="584775"/>
          </a:xfrm>
          <a:prstGeom prst="rect">
            <a:avLst/>
          </a:prstGeom>
          <a:noFill/>
        </p:spPr>
        <p:txBody>
          <a:bodyPr wrap="square" rtlCol="0">
            <a:spAutoFit/>
          </a:bodyPr>
          <a:lstStyle/>
          <a:p>
            <a:pPr algn="ctr"/>
            <a:r>
              <a:rPr lang="en-US" sz="3200" b="1" dirty="0">
                <a:solidFill>
                  <a:schemeClr val="bg1"/>
                </a:solidFill>
                <a:latin typeface="Lato" charset="0"/>
                <a:ea typeface="Lato" charset="0"/>
                <a:cs typeface="Lato" charset="0"/>
              </a:rPr>
              <a:t>Quality Triangle</a:t>
            </a:r>
          </a:p>
        </p:txBody>
      </p:sp>
      <p:sp>
        <p:nvSpPr>
          <p:cNvPr id="5" name="Rectangle 4">
            <a:extLst>
              <a:ext uri="{FF2B5EF4-FFF2-40B4-BE49-F238E27FC236}">
                <a16:creationId xmlns:a16="http://schemas.microsoft.com/office/drawing/2014/main" id="{2AF393C6-1414-6247-8304-3C5C2A41F6D2}"/>
              </a:ext>
            </a:extLst>
          </p:cNvPr>
          <p:cNvSpPr/>
          <p:nvPr/>
        </p:nvSpPr>
        <p:spPr>
          <a:xfrm>
            <a:off x="64007" y="4180344"/>
            <a:ext cx="9015984" cy="2677656"/>
          </a:xfrm>
          <a:prstGeom prst="rect">
            <a:avLst/>
          </a:prstGeom>
        </p:spPr>
        <p:txBody>
          <a:bodyPr wrap="square">
            <a:spAutoFit/>
          </a:bodyPr>
          <a:lstStyle/>
          <a:p>
            <a:pPr marL="457200" indent="-457200">
              <a:buFont typeface="Arial" panose="020B0604020202020204" pitchFamily="34" charset="0"/>
              <a:buChar char="•"/>
            </a:pPr>
            <a:r>
              <a:rPr lang="en-US" sz="2400" dirty="0"/>
              <a:t>When developing systems, there is inevitably a trade-off between time, cost and scope, and these factors have a direct impact on the quality of the system being developed.</a:t>
            </a:r>
          </a:p>
          <a:p>
            <a:pPr marL="457200" indent="-457200">
              <a:buFont typeface="Arial" panose="020B0604020202020204" pitchFamily="34" charset="0"/>
              <a:buChar char="•"/>
            </a:pPr>
            <a:endParaRPr lang="en-US" sz="2400" dirty="0"/>
          </a:p>
          <a:p>
            <a:pPr marL="457200" indent="-457200">
              <a:buFont typeface="Arial" panose="020B0604020202020204" pitchFamily="34" charset="0"/>
              <a:buChar char="•"/>
            </a:pPr>
            <a:r>
              <a:rPr lang="en-US" sz="2400" dirty="0"/>
              <a:t>Understanding the impacts of changes to time, cost and scope on quality is a key skill for software development managers when negotiating with key stakeholders.</a:t>
            </a:r>
          </a:p>
        </p:txBody>
      </p:sp>
      <p:pic>
        <p:nvPicPr>
          <p:cNvPr id="2" name="Picture 1">
            <a:extLst>
              <a:ext uri="{FF2B5EF4-FFF2-40B4-BE49-F238E27FC236}">
                <a16:creationId xmlns:a16="http://schemas.microsoft.com/office/drawing/2014/main" id="{5F8C9202-30DD-49A4-B490-30536B469612}"/>
              </a:ext>
            </a:extLst>
          </p:cNvPr>
          <p:cNvPicPr>
            <a:picLocks noChangeAspect="1"/>
          </p:cNvPicPr>
          <p:nvPr/>
        </p:nvPicPr>
        <p:blipFill>
          <a:blip r:embed="rId3"/>
          <a:stretch>
            <a:fillRect/>
          </a:stretch>
        </p:blipFill>
        <p:spPr>
          <a:xfrm>
            <a:off x="2360109" y="1398985"/>
            <a:ext cx="4423781" cy="2436628"/>
          </a:xfrm>
          <a:prstGeom prst="rect">
            <a:avLst/>
          </a:prstGeom>
        </p:spPr>
      </p:pic>
    </p:spTree>
    <p:extLst>
      <p:ext uri="{BB962C8B-B14F-4D97-AF65-F5344CB8AC3E}">
        <p14:creationId xmlns:p14="http://schemas.microsoft.com/office/powerpoint/2010/main" val="39820005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0" y="0"/>
            <a:ext cx="9144000" cy="122526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Lato Light" charset="0"/>
            </a:endParaRPr>
          </a:p>
        </p:txBody>
      </p:sp>
      <p:sp>
        <p:nvSpPr>
          <p:cNvPr id="11" name="TextBox 10"/>
          <p:cNvSpPr txBox="1"/>
          <p:nvPr/>
        </p:nvSpPr>
        <p:spPr>
          <a:xfrm>
            <a:off x="570160" y="295761"/>
            <a:ext cx="8065840" cy="646331"/>
          </a:xfrm>
          <a:prstGeom prst="rect">
            <a:avLst/>
          </a:prstGeom>
          <a:noFill/>
        </p:spPr>
        <p:txBody>
          <a:bodyPr wrap="square" rtlCol="0">
            <a:spAutoFit/>
          </a:bodyPr>
          <a:lstStyle/>
          <a:p>
            <a:pPr algn="ctr"/>
            <a:r>
              <a:rPr lang="en-US" sz="3600" b="1" dirty="0">
                <a:solidFill>
                  <a:schemeClr val="bg1"/>
                </a:solidFill>
                <a:latin typeface="Lato" charset="0"/>
                <a:ea typeface="Lato" charset="0"/>
                <a:cs typeface="Lato" charset="0"/>
              </a:rPr>
              <a:t>Quality Triangle</a:t>
            </a:r>
          </a:p>
        </p:txBody>
      </p:sp>
      <p:sp>
        <p:nvSpPr>
          <p:cNvPr id="5" name="Rectangle 4">
            <a:extLst>
              <a:ext uri="{FF2B5EF4-FFF2-40B4-BE49-F238E27FC236}">
                <a16:creationId xmlns:a16="http://schemas.microsoft.com/office/drawing/2014/main" id="{2AF393C6-1414-6247-8304-3C5C2A41F6D2}"/>
              </a:ext>
            </a:extLst>
          </p:cNvPr>
          <p:cNvSpPr/>
          <p:nvPr/>
        </p:nvSpPr>
        <p:spPr>
          <a:xfrm>
            <a:off x="128016" y="1243065"/>
            <a:ext cx="9015984" cy="4524315"/>
          </a:xfrm>
          <a:prstGeom prst="rect">
            <a:avLst/>
          </a:prstGeom>
        </p:spPr>
        <p:txBody>
          <a:bodyPr wrap="square">
            <a:spAutoFit/>
          </a:bodyPr>
          <a:lstStyle/>
          <a:p>
            <a:pPr marL="457200" indent="-457200">
              <a:buFont typeface="Arial" panose="020B0604020202020204" pitchFamily="34" charset="0"/>
              <a:buChar char="•"/>
            </a:pPr>
            <a:r>
              <a:rPr lang="en-US" sz="2400" b="1" dirty="0"/>
              <a:t>Time</a:t>
            </a:r>
            <a:r>
              <a:rPr lang="en-US" sz="2400" dirty="0"/>
              <a:t> – extend the deadline by, say, another week. This however, will incur additional cost, and with time pressure on the software developer, the quality of the code might reduce.</a:t>
            </a:r>
          </a:p>
          <a:p>
            <a:pPr marL="457200" indent="-457200">
              <a:buFont typeface="Arial" panose="020B0604020202020204" pitchFamily="34" charset="0"/>
              <a:buChar char="•"/>
            </a:pPr>
            <a:endParaRPr lang="en-US" sz="2400" dirty="0"/>
          </a:p>
          <a:p>
            <a:pPr marL="457200" indent="-457200">
              <a:buFont typeface="Arial" panose="020B0604020202020204" pitchFamily="34" charset="0"/>
              <a:buChar char="•"/>
            </a:pPr>
            <a:r>
              <a:rPr lang="en-US" sz="2400" b="1" dirty="0"/>
              <a:t>Cost</a:t>
            </a:r>
            <a:r>
              <a:rPr lang="en-US" sz="2400" dirty="0"/>
              <a:t> – add another software developer to the task. However, the second software developer might be inexperienced in the particular type or area of the software, which again might result in poor quality code.</a:t>
            </a:r>
          </a:p>
          <a:p>
            <a:pPr marL="457200" indent="-457200">
              <a:buFont typeface="Arial" panose="020B0604020202020204" pitchFamily="34" charset="0"/>
              <a:buChar char="•"/>
            </a:pPr>
            <a:endParaRPr lang="en-US" sz="2400" dirty="0"/>
          </a:p>
          <a:p>
            <a:pPr marL="457200" indent="-457200">
              <a:buFont typeface="Arial" panose="020B0604020202020204" pitchFamily="34" charset="0"/>
              <a:buChar char="•"/>
            </a:pPr>
            <a:r>
              <a:rPr lang="en-US" sz="2400" b="1" dirty="0"/>
              <a:t>Scope</a:t>
            </a:r>
            <a:r>
              <a:rPr lang="en-US" sz="2400" dirty="0"/>
              <a:t> – it might be possible to agree with the users and sponsor that the incomplete software program is used, with an acceptance of higher number of defects.</a:t>
            </a:r>
          </a:p>
        </p:txBody>
      </p:sp>
    </p:spTree>
    <p:extLst>
      <p:ext uri="{BB962C8B-B14F-4D97-AF65-F5344CB8AC3E}">
        <p14:creationId xmlns:p14="http://schemas.microsoft.com/office/powerpoint/2010/main" val="20853549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0" y="0"/>
            <a:ext cx="9144000" cy="122526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Lato Light" charset="0"/>
            </a:endParaRPr>
          </a:p>
        </p:txBody>
      </p:sp>
      <p:sp>
        <p:nvSpPr>
          <p:cNvPr id="11" name="TextBox 10"/>
          <p:cNvSpPr txBox="1"/>
          <p:nvPr/>
        </p:nvSpPr>
        <p:spPr>
          <a:xfrm>
            <a:off x="570160" y="295761"/>
            <a:ext cx="8065840" cy="646331"/>
          </a:xfrm>
          <a:prstGeom prst="rect">
            <a:avLst/>
          </a:prstGeom>
          <a:noFill/>
        </p:spPr>
        <p:txBody>
          <a:bodyPr wrap="square" rtlCol="0">
            <a:spAutoFit/>
          </a:bodyPr>
          <a:lstStyle/>
          <a:p>
            <a:pPr algn="ctr"/>
            <a:r>
              <a:rPr lang="en-US" sz="3600" b="1" dirty="0">
                <a:solidFill>
                  <a:schemeClr val="bg1"/>
                </a:solidFill>
                <a:latin typeface="Lato" charset="0"/>
                <a:ea typeface="Lato" charset="0"/>
                <a:cs typeface="Lato" charset="0"/>
              </a:rPr>
              <a:t>What is Quality?</a:t>
            </a:r>
          </a:p>
        </p:txBody>
      </p:sp>
      <p:sp>
        <p:nvSpPr>
          <p:cNvPr id="5" name="Rectangle 4">
            <a:extLst>
              <a:ext uri="{FF2B5EF4-FFF2-40B4-BE49-F238E27FC236}">
                <a16:creationId xmlns:a16="http://schemas.microsoft.com/office/drawing/2014/main" id="{2AF393C6-1414-6247-8304-3C5C2A41F6D2}"/>
              </a:ext>
            </a:extLst>
          </p:cNvPr>
          <p:cNvSpPr/>
          <p:nvPr/>
        </p:nvSpPr>
        <p:spPr>
          <a:xfrm>
            <a:off x="128016" y="1243065"/>
            <a:ext cx="9015984" cy="5632311"/>
          </a:xfrm>
          <a:prstGeom prst="rect">
            <a:avLst/>
          </a:prstGeom>
        </p:spPr>
        <p:txBody>
          <a:bodyPr wrap="square">
            <a:spAutoFit/>
          </a:bodyPr>
          <a:lstStyle/>
          <a:p>
            <a:pPr marL="457200" indent="-457200">
              <a:buFont typeface="Arial" panose="020B0604020202020204" pitchFamily="34" charset="0"/>
              <a:buChar char="•"/>
            </a:pPr>
            <a:r>
              <a:rPr lang="en-US" sz="2400" dirty="0"/>
              <a:t>Some terms that are sometimes used to describe quality include:</a:t>
            </a:r>
          </a:p>
          <a:p>
            <a:pPr marL="914400" lvl="1" indent="-457200">
              <a:buFont typeface="Arial" panose="020B0604020202020204" pitchFamily="34" charset="0"/>
              <a:buChar char="•"/>
            </a:pPr>
            <a:r>
              <a:rPr lang="en-US" sz="2400" dirty="0"/>
              <a:t>‘excellence’;</a:t>
            </a:r>
          </a:p>
          <a:p>
            <a:pPr marL="914400" lvl="1" indent="-457200">
              <a:buFont typeface="Arial" panose="020B0604020202020204" pitchFamily="34" charset="0"/>
              <a:buChar char="•"/>
            </a:pPr>
            <a:r>
              <a:rPr lang="en-US" sz="2400" dirty="0"/>
              <a:t>‘fitness for purpose’;</a:t>
            </a:r>
          </a:p>
          <a:p>
            <a:pPr marL="914400" lvl="1" indent="-457200">
              <a:buFont typeface="Arial" panose="020B0604020202020204" pitchFamily="34" charset="0"/>
              <a:buChar char="•"/>
            </a:pPr>
            <a:r>
              <a:rPr lang="en-US" sz="2400" dirty="0"/>
              <a:t>‘conformance to requirements’.</a:t>
            </a:r>
          </a:p>
          <a:p>
            <a:pPr marL="457200" indent="-457200">
              <a:buFont typeface="Arial" panose="020B0604020202020204" pitchFamily="34" charset="0"/>
              <a:buChar char="•"/>
            </a:pPr>
            <a:endParaRPr lang="en-US" sz="2400" dirty="0"/>
          </a:p>
          <a:p>
            <a:pPr marL="457200" indent="-457200">
              <a:buFont typeface="Arial" panose="020B0604020202020204" pitchFamily="34" charset="0"/>
              <a:buChar char="•"/>
            </a:pPr>
            <a:r>
              <a:rPr lang="en-US" sz="2400" dirty="0"/>
              <a:t>Based on ISO 8402:1994, quality is</a:t>
            </a:r>
          </a:p>
          <a:p>
            <a:pPr marL="457200" indent="-457200">
              <a:buFont typeface="Arial" panose="020B0604020202020204" pitchFamily="34" charset="0"/>
              <a:buChar char="•"/>
            </a:pPr>
            <a:endParaRPr lang="en-US" sz="2400" dirty="0"/>
          </a:p>
          <a:p>
            <a:pPr algn="ctr"/>
            <a:r>
              <a:rPr lang="en-US" sz="2400" i="1" dirty="0"/>
              <a:t>The totality of features and characteristics of a product or service that bear on its ability to satisfy stated or </a:t>
            </a:r>
            <a:r>
              <a:rPr lang="en-US" sz="2400" b="1" i="1" dirty="0"/>
              <a:t>implied needs</a:t>
            </a:r>
          </a:p>
          <a:p>
            <a:pPr marL="457200" indent="-457200">
              <a:buFont typeface="Arial" panose="020B0604020202020204" pitchFamily="34" charset="0"/>
              <a:buChar char="•"/>
            </a:pPr>
            <a:endParaRPr lang="en-US" sz="2400" dirty="0"/>
          </a:p>
          <a:p>
            <a:pPr marL="457200" indent="-457200">
              <a:buFont typeface="Arial" panose="020B0604020202020204" pitchFamily="34" charset="0"/>
              <a:buChar char="•"/>
            </a:pPr>
            <a:r>
              <a:rPr lang="en-US" sz="2400" dirty="0"/>
              <a:t>‘implied needs’ can easily be misinterpreted. For example, a user requirement for a listing of products might imply that they should be shown in some kind of sequence, for instance by product category, whereas the system might show the products listed in product code sequence</a:t>
            </a:r>
          </a:p>
        </p:txBody>
      </p:sp>
    </p:spTree>
    <p:extLst>
      <p:ext uri="{BB962C8B-B14F-4D97-AF65-F5344CB8AC3E}">
        <p14:creationId xmlns:p14="http://schemas.microsoft.com/office/powerpoint/2010/main" val="34971960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0" y="0"/>
            <a:ext cx="9144000" cy="122526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Lato Light" charset="0"/>
            </a:endParaRPr>
          </a:p>
        </p:txBody>
      </p:sp>
      <p:sp>
        <p:nvSpPr>
          <p:cNvPr id="11" name="TextBox 10"/>
          <p:cNvSpPr txBox="1"/>
          <p:nvPr/>
        </p:nvSpPr>
        <p:spPr>
          <a:xfrm>
            <a:off x="570160" y="295761"/>
            <a:ext cx="8065840" cy="646331"/>
          </a:xfrm>
          <a:prstGeom prst="rect">
            <a:avLst/>
          </a:prstGeom>
          <a:noFill/>
        </p:spPr>
        <p:txBody>
          <a:bodyPr wrap="square" rtlCol="0">
            <a:spAutoFit/>
          </a:bodyPr>
          <a:lstStyle/>
          <a:p>
            <a:pPr algn="ctr"/>
            <a:r>
              <a:rPr lang="en-US" sz="3600" b="1" dirty="0">
                <a:solidFill>
                  <a:schemeClr val="bg1"/>
                </a:solidFill>
                <a:latin typeface="Lato" charset="0"/>
                <a:ea typeface="Lato" charset="0"/>
                <a:cs typeface="Lato" charset="0"/>
              </a:rPr>
              <a:t>Good Software Characteristics</a:t>
            </a:r>
          </a:p>
        </p:txBody>
      </p:sp>
      <p:sp>
        <p:nvSpPr>
          <p:cNvPr id="5" name="Rectangle 4">
            <a:extLst>
              <a:ext uri="{FF2B5EF4-FFF2-40B4-BE49-F238E27FC236}">
                <a16:creationId xmlns:a16="http://schemas.microsoft.com/office/drawing/2014/main" id="{2AF393C6-1414-6247-8304-3C5C2A41F6D2}"/>
              </a:ext>
            </a:extLst>
          </p:cNvPr>
          <p:cNvSpPr/>
          <p:nvPr/>
        </p:nvSpPr>
        <p:spPr>
          <a:xfrm>
            <a:off x="128016" y="1243065"/>
            <a:ext cx="9015984" cy="4154984"/>
          </a:xfrm>
          <a:prstGeom prst="rect">
            <a:avLst/>
          </a:prstGeom>
        </p:spPr>
        <p:txBody>
          <a:bodyPr wrap="square">
            <a:spAutoFit/>
          </a:bodyPr>
          <a:lstStyle/>
          <a:p>
            <a:pPr marL="457200" indent="-457200">
              <a:buFont typeface="Arial" panose="020B0604020202020204" pitchFamily="34" charset="0"/>
              <a:buChar char="•"/>
            </a:pPr>
            <a:r>
              <a:rPr lang="en-US" sz="2400" b="1" dirty="0"/>
              <a:t>Meets functional requirements </a:t>
            </a:r>
          </a:p>
          <a:p>
            <a:pPr marL="914400" lvl="1" indent="-457200">
              <a:buFont typeface="Arial" panose="020B0604020202020204" pitchFamily="34" charset="0"/>
              <a:buChar char="•"/>
            </a:pPr>
            <a:r>
              <a:rPr lang="en-US" sz="2400" dirty="0"/>
              <a:t>The system must do what it is specified in the requirements document. For example, if there is a requirement to display customer details, then the system must provide this feature.</a:t>
            </a:r>
          </a:p>
          <a:p>
            <a:pPr marL="457200" indent="-457200">
              <a:buFont typeface="Arial" panose="020B0604020202020204" pitchFamily="34" charset="0"/>
              <a:buChar char="•"/>
            </a:pPr>
            <a:r>
              <a:rPr lang="en-US" sz="2400" b="1" dirty="0"/>
              <a:t>Meets non-functional requirements  </a:t>
            </a:r>
          </a:p>
          <a:p>
            <a:pPr marL="914400" lvl="1" indent="-457200">
              <a:buFont typeface="Arial" panose="020B0604020202020204" pitchFamily="34" charset="0"/>
              <a:buChar char="•"/>
            </a:pPr>
            <a:r>
              <a:rPr lang="en-US" sz="2400" dirty="0"/>
              <a:t>This includes characteristics such as reliability, response time, availability, ease of use, and security.</a:t>
            </a:r>
          </a:p>
          <a:p>
            <a:pPr marL="457200" indent="-457200">
              <a:buFont typeface="Arial" panose="020B0604020202020204" pitchFamily="34" charset="0"/>
              <a:buChar char="•"/>
            </a:pPr>
            <a:r>
              <a:rPr lang="en-US" sz="2400" b="1" dirty="0"/>
              <a:t>Has inherent qualities</a:t>
            </a:r>
          </a:p>
          <a:p>
            <a:pPr marL="914400" lvl="1" indent="-457200">
              <a:buFont typeface="Arial" panose="020B0604020202020204" pitchFamily="34" charset="0"/>
              <a:buChar char="•"/>
            </a:pPr>
            <a:r>
              <a:rPr lang="en-US" sz="2400" dirty="0"/>
              <a:t>This includes characteristics such as maintainability, efficiency, flexibility/expandability (scalability), reusability, testability, modularity, well-documented, portability, and so on.</a:t>
            </a:r>
          </a:p>
        </p:txBody>
      </p:sp>
    </p:spTree>
    <p:extLst>
      <p:ext uri="{BB962C8B-B14F-4D97-AF65-F5344CB8AC3E}">
        <p14:creationId xmlns:p14="http://schemas.microsoft.com/office/powerpoint/2010/main" val="22654133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0" y="0"/>
            <a:ext cx="9144000" cy="122526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Lato Light" charset="0"/>
            </a:endParaRPr>
          </a:p>
        </p:txBody>
      </p:sp>
      <p:sp>
        <p:nvSpPr>
          <p:cNvPr id="11" name="TextBox 10"/>
          <p:cNvSpPr txBox="1"/>
          <p:nvPr/>
        </p:nvSpPr>
        <p:spPr>
          <a:xfrm>
            <a:off x="570160" y="295761"/>
            <a:ext cx="8065840" cy="646331"/>
          </a:xfrm>
          <a:prstGeom prst="rect">
            <a:avLst/>
          </a:prstGeom>
          <a:noFill/>
        </p:spPr>
        <p:txBody>
          <a:bodyPr wrap="square" rtlCol="0">
            <a:spAutoFit/>
          </a:bodyPr>
          <a:lstStyle/>
          <a:p>
            <a:pPr algn="ctr"/>
            <a:r>
              <a:rPr lang="en-US" sz="3600" b="1" dirty="0">
                <a:solidFill>
                  <a:schemeClr val="bg1"/>
                </a:solidFill>
                <a:latin typeface="Lato" charset="0"/>
                <a:ea typeface="Lato" charset="0"/>
                <a:cs typeface="Lato" charset="0"/>
              </a:rPr>
              <a:t>Testing</a:t>
            </a:r>
          </a:p>
        </p:txBody>
      </p:sp>
      <p:sp>
        <p:nvSpPr>
          <p:cNvPr id="5" name="Rectangle 4">
            <a:extLst>
              <a:ext uri="{FF2B5EF4-FFF2-40B4-BE49-F238E27FC236}">
                <a16:creationId xmlns:a16="http://schemas.microsoft.com/office/drawing/2014/main" id="{2AF393C6-1414-6247-8304-3C5C2A41F6D2}"/>
              </a:ext>
            </a:extLst>
          </p:cNvPr>
          <p:cNvSpPr/>
          <p:nvPr/>
        </p:nvSpPr>
        <p:spPr>
          <a:xfrm>
            <a:off x="128016" y="1243065"/>
            <a:ext cx="9015984" cy="3785652"/>
          </a:xfrm>
          <a:prstGeom prst="rect">
            <a:avLst/>
          </a:prstGeom>
        </p:spPr>
        <p:txBody>
          <a:bodyPr wrap="square">
            <a:spAutoFit/>
          </a:bodyPr>
          <a:lstStyle/>
          <a:p>
            <a:pPr marL="457200" indent="-457200">
              <a:buFont typeface="Arial" panose="020B0604020202020204" pitchFamily="34" charset="0"/>
              <a:buChar char="•"/>
            </a:pPr>
            <a:r>
              <a:rPr lang="en-US" sz="2400" dirty="0"/>
              <a:t>Once the required level of quality characteristics has been defined and agreed, the question then remains how to ensure, or test, that the software exhibits these characteristics.</a:t>
            </a:r>
          </a:p>
          <a:p>
            <a:pPr marL="457200" indent="-457200">
              <a:buFont typeface="Arial" panose="020B0604020202020204" pitchFamily="34" charset="0"/>
              <a:buChar char="•"/>
            </a:pPr>
            <a:endParaRPr lang="en-US" sz="2400" dirty="0"/>
          </a:p>
          <a:p>
            <a:pPr marL="457200" indent="-457200">
              <a:buFont typeface="Arial" panose="020B0604020202020204" pitchFamily="34" charset="0"/>
              <a:buChar char="•"/>
            </a:pPr>
            <a:r>
              <a:rPr lang="en-US" sz="2400" dirty="0"/>
              <a:t>Testing is a crucial activity in the Systems Development lifecycle, but many people mistakenly believe that software programs can be fully tested and that, with this complete testing, programs will work correctly and with all errors removed.</a:t>
            </a:r>
          </a:p>
          <a:p>
            <a:pPr marL="457200" indent="-457200">
              <a:buFont typeface="Arial" panose="020B0604020202020204" pitchFamily="34" charset="0"/>
              <a:buChar char="•"/>
            </a:pPr>
            <a:endParaRPr lang="en-US" sz="2400" dirty="0"/>
          </a:p>
          <a:p>
            <a:pPr marL="457200" indent="-457200">
              <a:buFont typeface="Arial" panose="020B0604020202020204" pitchFamily="34" charset="0"/>
              <a:buChar char="•"/>
            </a:pPr>
            <a:endParaRPr lang="en-US" sz="2400" dirty="0"/>
          </a:p>
        </p:txBody>
      </p:sp>
    </p:spTree>
    <p:extLst>
      <p:ext uri="{BB962C8B-B14F-4D97-AF65-F5344CB8AC3E}">
        <p14:creationId xmlns:p14="http://schemas.microsoft.com/office/powerpoint/2010/main" val="664598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0" y="0"/>
            <a:ext cx="9144000" cy="122526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Lato Light" charset="0"/>
            </a:endParaRPr>
          </a:p>
        </p:txBody>
      </p:sp>
      <p:sp>
        <p:nvSpPr>
          <p:cNvPr id="11" name="TextBox 10"/>
          <p:cNvSpPr txBox="1"/>
          <p:nvPr/>
        </p:nvSpPr>
        <p:spPr>
          <a:xfrm>
            <a:off x="570160" y="295761"/>
            <a:ext cx="8065840" cy="523220"/>
          </a:xfrm>
          <a:prstGeom prst="rect">
            <a:avLst/>
          </a:prstGeom>
          <a:noFill/>
        </p:spPr>
        <p:txBody>
          <a:bodyPr wrap="square" rtlCol="0">
            <a:spAutoFit/>
          </a:bodyPr>
          <a:lstStyle/>
          <a:p>
            <a:pPr algn="ctr"/>
            <a:r>
              <a:rPr lang="en-US" sz="2800" b="1" dirty="0">
                <a:solidFill>
                  <a:schemeClr val="bg1"/>
                </a:solidFill>
                <a:latin typeface="Lato" charset="0"/>
                <a:ea typeface="Lato" charset="0"/>
                <a:cs typeface="Lato" charset="0"/>
              </a:rPr>
              <a:t>Complete testing is impossible</a:t>
            </a:r>
          </a:p>
        </p:txBody>
      </p:sp>
      <p:sp>
        <p:nvSpPr>
          <p:cNvPr id="5" name="Rectangle 4">
            <a:extLst>
              <a:ext uri="{FF2B5EF4-FFF2-40B4-BE49-F238E27FC236}">
                <a16:creationId xmlns:a16="http://schemas.microsoft.com/office/drawing/2014/main" id="{2AF393C6-1414-6247-8304-3C5C2A41F6D2}"/>
              </a:ext>
            </a:extLst>
          </p:cNvPr>
          <p:cNvSpPr/>
          <p:nvPr/>
        </p:nvSpPr>
        <p:spPr>
          <a:xfrm>
            <a:off x="128016" y="1243065"/>
            <a:ext cx="9015984" cy="4893647"/>
          </a:xfrm>
          <a:prstGeom prst="rect">
            <a:avLst/>
          </a:prstGeom>
        </p:spPr>
        <p:txBody>
          <a:bodyPr wrap="square">
            <a:spAutoFit/>
          </a:bodyPr>
          <a:lstStyle/>
          <a:p>
            <a:pPr marL="457200" indent="-457200">
              <a:buFont typeface="Arial" panose="020B0604020202020204" pitchFamily="34" charset="0"/>
              <a:buChar char="•"/>
            </a:pPr>
            <a:r>
              <a:rPr lang="en-US" sz="2400" dirty="0"/>
              <a:t>there are too many paths and combinations of paths through the software to test completely;</a:t>
            </a:r>
          </a:p>
          <a:p>
            <a:pPr marL="457200" indent="-457200">
              <a:buFont typeface="Arial" panose="020B0604020202020204" pitchFamily="34" charset="0"/>
              <a:buChar char="•"/>
            </a:pPr>
            <a:r>
              <a:rPr lang="en-US" sz="2400" dirty="0"/>
              <a:t>the domain of possible inputs is too large;</a:t>
            </a:r>
          </a:p>
          <a:p>
            <a:pPr marL="457200" indent="-457200">
              <a:buFont typeface="Arial" panose="020B0604020202020204" pitchFamily="34" charset="0"/>
              <a:buChar char="•"/>
            </a:pPr>
            <a:r>
              <a:rPr lang="en-US" sz="2400" dirty="0"/>
              <a:t>user interface issues are too complex;</a:t>
            </a:r>
          </a:p>
          <a:p>
            <a:pPr marL="457200" indent="-457200">
              <a:buFont typeface="Arial" panose="020B0604020202020204" pitchFamily="34" charset="0"/>
              <a:buChar char="•"/>
            </a:pPr>
            <a:r>
              <a:rPr lang="en-US" sz="2400" dirty="0"/>
              <a:t>there are too many layers of interconnecting hardware components and software applications and modules to replicate into a test environment;</a:t>
            </a:r>
          </a:p>
          <a:p>
            <a:pPr marL="457200" indent="-457200">
              <a:buFont typeface="Arial" panose="020B0604020202020204" pitchFamily="34" charset="0"/>
              <a:buChar char="•"/>
            </a:pPr>
            <a:r>
              <a:rPr lang="en-US" sz="2400" dirty="0"/>
              <a:t>the budget, time and resources that are available limit the amount and extent of testing that can be carried out.</a:t>
            </a:r>
          </a:p>
          <a:p>
            <a:pPr marL="457200" indent="-457200">
              <a:buFont typeface="Arial" panose="020B0604020202020204" pitchFamily="34" charset="0"/>
              <a:buChar char="•"/>
            </a:pPr>
            <a:endParaRPr lang="en-US" sz="2400" dirty="0"/>
          </a:p>
          <a:p>
            <a:pPr marL="457200" indent="-457200">
              <a:buFont typeface="Arial" panose="020B0604020202020204" pitchFamily="34" charset="0"/>
              <a:buChar char="•"/>
            </a:pPr>
            <a:r>
              <a:rPr lang="en-US" sz="2400" dirty="0"/>
              <a:t>While most hardware and software components nowadays are developed and tested using software tools, these tools themselves would have to be tested </a:t>
            </a:r>
            <a:r>
              <a:rPr lang="en-US" sz="2400" dirty="0">
                <a:sym typeface="Wingdings" panose="05000000000000000000" pitchFamily="2" charset="2"/>
              </a:rPr>
              <a:t></a:t>
            </a:r>
            <a:endParaRPr lang="en-US" sz="2400" dirty="0"/>
          </a:p>
        </p:txBody>
      </p:sp>
    </p:spTree>
    <p:extLst>
      <p:ext uri="{BB962C8B-B14F-4D97-AF65-F5344CB8AC3E}">
        <p14:creationId xmlns:p14="http://schemas.microsoft.com/office/powerpoint/2010/main" val="20114309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0" y="0"/>
            <a:ext cx="9144000" cy="122526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Lato Light" charset="0"/>
            </a:endParaRPr>
          </a:p>
        </p:txBody>
      </p:sp>
      <p:sp>
        <p:nvSpPr>
          <p:cNvPr id="11" name="TextBox 10"/>
          <p:cNvSpPr txBox="1"/>
          <p:nvPr/>
        </p:nvSpPr>
        <p:spPr>
          <a:xfrm>
            <a:off x="570160" y="295761"/>
            <a:ext cx="8065840" cy="523220"/>
          </a:xfrm>
          <a:prstGeom prst="rect">
            <a:avLst/>
          </a:prstGeom>
          <a:noFill/>
        </p:spPr>
        <p:txBody>
          <a:bodyPr wrap="square" rtlCol="0">
            <a:spAutoFit/>
          </a:bodyPr>
          <a:lstStyle/>
          <a:p>
            <a:pPr algn="ctr"/>
            <a:r>
              <a:rPr lang="en-US" sz="2800" b="1" dirty="0">
                <a:solidFill>
                  <a:schemeClr val="bg1"/>
                </a:solidFill>
                <a:latin typeface="Lato" charset="0"/>
                <a:ea typeface="Lato" charset="0"/>
                <a:cs typeface="Lato" charset="0"/>
              </a:rPr>
              <a:t>Complexity Example</a:t>
            </a:r>
          </a:p>
        </p:txBody>
      </p:sp>
      <p:sp>
        <p:nvSpPr>
          <p:cNvPr id="5" name="Rectangle 4">
            <a:extLst>
              <a:ext uri="{FF2B5EF4-FFF2-40B4-BE49-F238E27FC236}">
                <a16:creationId xmlns:a16="http://schemas.microsoft.com/office/drawing/2014/main" id="{2AF393C6-1414-6247-8304-3C5C2A41F6D2}"/>
              </a:ext>
            </a:extLst>
          </p:cNvPr>
          <p:cNvSpPr/>
          <p:nvPr/>
        </p:nvSpPr>
        <p:spPr>
          <a:xfrm>
            <a:off x="128016" y="1243065"/>
            <a:ext cx="9015984" cy="4524315"/>
          </a:xfrm>
          <a:prstGeom prst="rect">
            <a:avLst/>
          </a:prstGeom>
        </p:spPr>
        <p:txBody>
          <a:bodyPr wrap="square">
            <a:spAutoFit/>
          </a:bodyPr>
          <a:lstStyle/>
          <a:p>
            <a:pPr marL="457200" indent="-457200">
              <a:buFont typeface="Arial" panose="020B0604020202020204" pitchFamily="34" charset="0"/>
              <a:buChar char="•"/>
            </a:pPr>
            <a:r>
              <a:rPr lang="en-US" sz="2400" b="1" dirty="0"/>
              <a:t>An internet-based application running on a mobile phone</a:t>
            </a:r>
          </a:p>
          <a:p>
            <a:pPr marL="914400" lvl="1" indent="-457200">
              <a:buFont typeface="Arial" panose="020B0604020202020204" pitchFamily="34" charset="0"/>
              <a:buChar char="•"/>
            </a:pPr>
            <a:r>
              <a:rPr lang="en-US" sz="2200" dirty="0"/>
              <a:t>The layers of software and hardware include:</a:t>
            </a:r>
          </a:p>
          <a:p>
            <a:pPr marL="1371600" lvl="2" indent="-457200">
              <a:buFont typeface="Arial" panose="020B0604020202020204" pitchFamily="34" charset="0"/>
              <a:buChar char="•"/>
            </a:pPr>
            <a:r>
              <a:rPr lang="en-US" sz="2200" dirty="0"/>
              <a:t>the software application itself;</a:t>
            </a:r>
          </a:p>
          <a:p>
            <a:pPr marL="1371600" lvl="2" indent="-457200">
              <a:buFont typeface="Arial" panose="020B0604020202020204" pitchFamily="34" charset="0"/>
              <a:buChar char="•"/>
            </a:pPr>
            <a:r>
              <a:rPr lang="en-US" sz="2200" dirty="0"/>
              <a:t>the mobile phone’s operating system;</a:t>
            </a:r>
          </a:p>
          <a:p>
            <a:pPr marL="1371600" lvl="2" indent="-457200">
              <a:buFont typeface="Arial" panose="020B0604020202020204" pitchFamily="34" charset="0"/>
              <a:buChar char="•"/>
            </a:pPr>
            <a:r>
              <a:rPr lang="en-US" sz="2200" dirty="0"/>
              <a:t>the user interface;</a:t>
            </a:r>
          </a:p>
          <a:p>
            <a:pPr marL="1371600" lvl="2" indent="-457200">
              <a:buFont typeface="Arial" panose="020B0604020202020204" pitchFamily="34" charset="0"/>
              <a:buChar char="•"/>
            </a:pPr>
            <a:r>
              <a:rPr lang="en-US" sz="2200" dirty="0"/>
              <a:t>the physical connectivity of key depressions, swipe, screen-touch sensitivity;</a:t>
            </a:r>
          </a:p>
          <a:p>
            <a:pPr marL="1371600" lvl="2" indent="-457200">
              <a:buFont typeface="Arial" panose="020B0604020202020204" pitchFamily="34" charset="0"/>
              <a:buChar char="•"/>
            </a:pPr>
            <a:r>
              <a:rPr lang="en-US" sz="2200" dirty="0"/>
              <a:t>connectivity to the local internet access points and routers;</a:t>
            </a:r>
          </a:p>
          <a:p>
            <a:pPr marL="1371600" lvl="2" indent="-457200">
              <a:buFont typeface="Arial" panose="020B0604020202020204" pitchFamily="34" charset="0"/>
              <a:buChar char="•"/>
            </a:pPr>
            <a:r>
              <a:rPr lang="en-US" sz="2200" dirty="0"/>
              <a:t>the hardware, software and operating system on the router;</a:t>
            </a:r>
          </a:p>
          <a:p>
            <a:pPr marL="1371600" lvl="2" indent="-457200">
              <a:buFont typeface="Arial" panose="020B0604020202020204" pitchFamily="34" charset="0"/>
              <a:buChar char="•"/>
            </a:pPr>
            <a:r>
              <a:rPr lang="en-US" sz="2200" dirty="0"/>
              <a:t>connectivity to the internet service provider, and onward connectivity to the host service provider, and all of the associated hardware and software.</a:t>
            </a:r>
          </a:p>
          <a:p>
            <a:pPr marL="914400" lvl="1" indent="-457200">
              <a:buFont typeface="Arial" panose="020B0604020202020204" pitchFamily="34" charset="0"/>
              <a:buChar char="•"/>
            </a:pPr>
            <a:endParaRPr lang="en-US" sz="2200" dirty="0"/>
          </a:p>
        </p:txBody>
      </p:sp>
    </p:spTree>
    <p:extLst>
      <p:ext uri="{BB962C8B-B14F-4D97-AF65-F5344CB8AC3E}">
        <p14:creationId xmlns:p14="http://schemas.microsoft.com/office/powerpoint/2010/main" val="38439969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0" y="0"/>
            <a:ext cx="9144000" cy="122526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Lato Light" charset="0"/>
            </a:endParaRPr>
          </a:p>
        </p:txBody>
      </p:sp>
      <p:sp>
        <p:nvSpPr>
          <p:cNvPr id="11" name="TextBox 10"/>
          <p:cNvSpPr txBox="1"/>
          <p:nvPr/>
        </p:nvSpPr>
        <p:spPr>
          <a:xfrm>
            <a:off x="570160" y="295761"/>
            <a:ext cx="8065840" cy="523220"/>
          </a:xfrm>
          <a:prstGeom prst="rect">
            <a:avLst/>
          </a:prstGeom>
          <a:noFill/>
        </p:spPr>
        <p:txBody>
          <a:bodyPr wrap="square" rtlCol="0">
            <a:spAutoFit/>
          </a:bodyPr>
          <a:lstStyle/>
          <a:p>
            <a:pPr algn="ctr"/>
            <a:r>
              <a:rPr lang="en-US" sz="2800" b="1" dirty="0">
                <a:solidFill>
                  <a:schemeClr val="bg1"/>
                </a:solidFill>
                <a:latin typeface="Lato" charset="0"/>
                <a:ea typeface="Lato" charset="0"/>
                <a:cs typeface="Lato" charset="0"/>
              </a:rPr>
              <a:t>Testing Principle</a:t>
            </a:r>
          </a:p>
        </p:txBody>
      </p:sp>
      <p:sp>
        <p:nvSpPr>
          <p:cNvPr id="5" name="Rectangle 4">
            <a:extLst>
              <a:ext uri="{FF2B5EF4-FFF2-40B4-BE49-F238E27FC236}">
                <a16:creationId xmlns:a16="http://schemas.microsoft.com/office/drawing/2014/main" id="{2AF393C6-1414-6247-8304-3C5C2A41F6D2}"/>
              </a:ext>
            </a:extLst>
          </p:cNvPr>
          <p:cNvSpPr/>
          <p:nvPr/>
        </p:nvSpPr>
        <p:spPr>
          <a:xfrm>
            <a:off x="128016" y="1243065"/>
            <a:ext cx="9015984" cy="2677656"/>
          </a:xfrm>
          <a:prstGeom prst="rect">
            <a:avLst/>
          </a:prstGeom>
        </p:spPr>
        <p:txBody>
          <a:bodyPr wrap="square">
            <a:spAutoFit/>
          </a:bodyPr>
          <a:lstStyle/>
          <a:p>
            <a:pPr marL="457200" indent="-457200">
              <a:buFont typeface="Arial" panose="020B0604020202020204" pitchFamily="34" charset="0"/>
              <a:buChar char="•"/>
            </a:pPr>
            <a:r>
              <a:rPr lang="en-US" sz="2400" dirty="0"/>
              <a:t>Therefore, a system cannot be guaranteed to be fault-free. This means that the users’ expectations have to be carefully managed and the testing activity itself has to be focused towards identifying as many defects as possible, or picking up critical defects, within the time and budget available.</a:t>
            </a:r>
          </a:p>
          <a:p>
            <a:pPr marL="457200" indent="-457200">
              <a:buFont typeface="Arial" panose="020B0604020202020204" pitchFamily="34" charset="0"/>
              <a:buChar char="•"/>
            </a:pPr>
            <a:endParaRPr lang="en-US" sz="2400" dirty="0"/>
          </a:p>
          <a:p>
            <a:pPr marL="457200" indent="-457200">
              <a:buFont typeface="Arial" panose="020B0604020202020204" pitchFamily="34" charset="0"/>
              <a:buChar char="•"/>
            </a:pPr>
            <a:endParaRPr lang="en-US" sz="2400" dirty="0"/>
          </a:p>
        </p:txBody>
      </p:sp>
    </p:spTree>
    <p:extLst>
      <p:ext uri="{BB962C8B-B14F-4D97-AF65-F5344CB8AC3E}">
        <p14:creationId xmlns:p14="http://schemas.microsoft.com/office/powerpoint/2010/main" val="27457148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0" y="0"/>
            <a:ext cx="9144000" cy="122526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Lato Light" charset="0"/>
            </a:endParaRPr>
          </a:p>
        </p:txBody>
      </p:sp>
      <p:sp>
        <p:nvSpPr>
          <p:cNvPr id="11" name="TextBox 10"/>
          <p:cNvSpPr txBox="1"/>
          <p:nvPr/>
        </p:nvSpPr>
        <p:spPr>
          <a:xfrm>
            <a:off x="570160" y="295761"/>
            <a:ext cx="8065840" cy="646331"/>
          </a:xfrm>
          <a:prstGeom prst="rect">
            <a:avLst/>
          </a:prstGeom>
          <a:noFill/>
        </p:spPr>
        <p:txBody>
          <a:bodyPr wrap="square" rtlCol="0">
            <a:spAutoFit/>
          </a:bodyPr>
          <a:lstStyle/>
          <a:p>
            <a:pPr algn="ctr"/>
            <a:r>
              <a:rPr lang="en-US" sz="3600" b="1" dirty="0">
                <a:solidFill>
                  <a:schemeClr val="bg1"/>
                </a:solidFill>
                <a:latin typeface="Lato" charset="0"/>
                <a:ea typeface="Lato" charset="0"/>
                <a:cs typeface="Lato" charset="0"/>
              </a:rPr>
              <a:t>Testing Principle</a:t>
            </a:r>
          </a:p>
        </p:txBody>
      </p:sp>
      <p:sp>
        <p:nvSpPr>
          <p:cNvPr id="5" name="Rectangle 4">
            <a:extLst>
              <a:ext uri="{FF2B5EF4-FFF2-40B4-BE49-F238E27FC236}">
                <a16:creationId xmlns:a16="http://schemas.microsoft.com/office/drawing/2014/main" id="{2AF393C6-1414-6247-8304-3C5C2A41F6D2}"/>
              </a:ext>
            </a:extLst>
          </p:cNvPr>
          <p:cNvSpPr/>
          <p:nvPr/>
        </p:nvSpPr>
        <p:spPr>
          <a:xfrm>
            <a:off x="128016" y="1243065"/>
            <a:ext cx="9015984" cy="4524315"/>
          </a:xfrm>
          <a:prstGeom prst="rect">
            <a:avLst/>
          </a:prstGeom>
        </p:spPr>
        <p:txBody>
          <a:bodyPr wrap="square">
            <a:spAutoFit/>
          </a:bodyPr>
          <a:lstStyle/>
          <a:p>
            <a:pPr marL="457200" indent="-457200">
              <a:buFont typeface="Arial" panose="020B0604020202020204" pitchFamily="34" charset="0"/>
              <a:buChar char="•"/>
            </a:pPr>
            <a:r>
              <a:rPr lang="en-US" sz="2400" dirty="0"/>
              <a:t>Testing principle according to ISTQB (International Software Testing Qualifications Board):</a:t>
            </a:r>
          </a:p>
          <a:p>
            <a:pPr marL="914400" lvl="1" indent="-457200">
              <a:buFont typeface="+mj-lt"/>
              <a:buAutoNum type="arabicPeriod"/>
            </a:pPr>
            <a:r>
              <a:rPr lang="en-US" sz="2000" dirty="0"/>
              <a:t>Testing shows the presence of defects</a:t>
            </a:r>
          </a:p>
          <a:p>
            <a:pPr marL="1371600" lvl="2" indent="-457200">
              <a:buFont typeface="Arial" panose="020B0604020202020204" pitchFamily="34" charset="0"/>
              <a:buChar char="•"/>
            </a:pPr>
            <a:r>
              <a:rPr lang="en-US" dirty="0"/>
              <a:t>Testing can show that defects exist, but it cannot prove that the software has no defects. Successive testing reduces the probability of defects, but cannot guarantee that all defects have been removed.</a:t>
            </a:r>
          </a:p>
          <a:p>
            <a:pPr marL="1371600" lvl="2" indent="-457200">
              <a:buFont typeface="Arial" panose="020B0604020202020204" pitchFamily="34" charset="0"/>
              <a:buChar char="•"/>
            </a:pPr>
            <a:endParaRPr lang="en-US" dirty="0"/>
          </a:p>
          <a:p>
            <a:pPr marL="914400" lvl="1" indent="-457200">
              <a:buFont typeface="+mj-lt"/>
              <a:buAutoNum type="arabicPeriod"/>
            </a:pPr>
            <a:r>
              <a:rPr lang="en-US" sz="2000" dirty="0"/>
              <a:t>Exhaustive testing is impossible</a:t>
            </a:r>
          </a:p>
          <a:p>
            <a:pPr marL="1371600" lvl="2" indent="-457200">
              <a:buFont typeface="Arial" panose="020B0604020202020204" pitchFamily="34" charset="0"/>
              <a:buChar char="•"/>
            </a:pPr>
            <a:r>
              <a:rPr lang="en-US" dirty="0"/>
              <a:t>Even with enough time to allow every path through the software to be tested, the variety of user inputs, and complexity of layers of hardware and software components and interconnections makes exhaustive testing impossible.</a:t>
            </a:r>
          </a:p>
          <a:p>
            <a:pPr marL="1371600" lvl="2" indent="-457200">
              <a:buFont typeface="Arial" panose="020B0604020202020204" pitchFamily="34" charset="0"/>
              <a:buChar char="•"/>
            </a:pPr>
            <a:endParaRPr lang="en-US" dirty="0"/>
          </a:p>
          <a:p>
            <a:pPr marL="914400" lvl="1" indent="-457200">
              <a:buFont typeface="+mj-lt"/>
              <a:buAutoNum type="arabicPeriod"/>
            </a:pPr>
            <a:r>
              <a:rPr lang="en-US" sz="2000" dirty="0"/>
              <a:t>Early testing is beneficial</a:t>
            </a:r>
          </a:p>
          <a:p>
            <a:pPr marL="1371600" lvl="2" indent="-457200">
              <a:buFont typeface="Arial" panose="020B0604020202020204" pitchFamily="34" charset="0"/>
              <a:buChar char="•"/>
            </a:pPr>
            <a:r>
              <a:rPr lang="en-US" dirty="0"/>
              <a:t>Errors and faults found earlier in the development process are easier and cheaper to fix than if found later in the process.</a:t>
            </a:r>
          </a:p>
        </p:txBody>
      </p:sp>
    </p:spTree>
    <p:extLst>
      <p:ext uri="{BB962C8B-B14F-4D97-AF65-F5344CB8AC3E}">
        <p14:creationId xmlns:p14="http://schemas.microsoft.com/office/powerpoint/2010/main" val="14264491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0" y="0"/>
            <a:ext cx="9144000" cy="122526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Lato Light" charset="0"/>
            </a:endParaRPr>
          </a:p>
        </p:txBody>
      </p:sp>
      <p:sp>
        <p:nvSpPr>
          <p:cNvPr id="11" name="TextBox 10"/>
          <p:cNvSpPr txBox="1"/>
          <p:nvPr/>
        </p:nvSpPr>
        <p:spPr>
          <a:xfrm>
            <a:off x="570160" y="295761"/>
            <a:ext cx="8065840" cy="646331"/>
          </a:xfrm>
          <a:prstGeom prst="rect">
            <a:avLst/>
          </a:prstGeom>
          <a:noFill/>
        </p:spPr>
        <p:txBody>
          <a:bodyPr wrap="square" rtlCol="0">
            <a:spAutoFit/>
          </a:bodyPr>
          <a:lstStyle/>
          <a:p>
            <a:pPr algn="ctr"/>
            <a:r>
              <a:rPr lang="en-US" sz="3600" b="1" dirty="0">
                <a:solidFill>
                  <a:schemeClr val="bg1"/>
                </a:solidFill>
                <a:latin typeface="Lato" charset="0"/>
                <a:ea typeface="Lato" charset="0"/>
                <a:cs typeface="Lato" charset="0"/>
              </a:rPr>
              <a:t>Testing Principle</a:t>
            </a:r>
          </a:p>
        </p:txBody>
      </p:sp>
      <p:sp>
        <p:nvSpPr>
          <p:cNvPr id="5" name="Rectangle 4">
            <a:extLst>
              <a:ext uri="{FF2B5EF4-FFF2-40B4-BE49-F238E27FC236}">
                <a16:creationId xmlns:a16="http://schemas.microsoft.com/office/drawing/2014/main" id="{2AF393C6-1414-6247-8304-3C5C2A41F6D2}"/>
              </a:ext>
            </a:extLst>
          </p:cNvPr>
          <p:cNvSpPr/>
          <p:nvPr/>
        </p:nvSpPr>
        <p:spPr>
          <a:xfrm>
            <a:off x="64008" y="1225267"/>
            <a:ext cx="9015984" cy="5201424"/>
          </a:xfrm>
          <a:prstGeom prst="rect">
            <a:avLst/>
          </a:prstGeom>
        </p:spPr>
        <p:txBody>
          <a:bodyPr wrap="square">
            <a:spAutoFit/>
          </a:bodyPr>
          <a:lstStyle/>
          <a:p>
            <a:pPr marL="914400" lvl="1" indent="-457200">
              <a:buFont typeface="+mj-lt"/>
              <a:buAutoNum type="arabicPeriod" startAt="4"/>
            </a:pPr>
            <a:r>
              <a:rPr lang="en-US" sz="2000" dirty="0"/>
              <a:t>Defect clustering</a:t>
            </a:r>
          </a:p>
          <a:p>
            <a:pPr marL="1371600" lvl="2" indent="-457200">
              <a:buFont typeface="Arial" panose="020B0604020202020204" pitchFamily="34" charset="0"/>
              <a:buChar char="•"/>
            </a:pPr>
            <a:r>
              <a:rPr lang="en-US" dirty="0"/>
              <a:t>Defects are not evenly spread through a system – they tend to cluster together. This could be because modules have been written by a particular programmer or a particular software package or interface may exhibit similar defects. </a:t>
            </a:r>
          </a:p>
          <a:p>
            <a:pPr marL="1371600" lvl="2" indent="-457200">
              <a:buFont typeface="Arial" panose="020B0604020202020204" pitchFamily="34" charset="0"/>
              <a:buChar char="•"/>
            </a:pPr>
            <a:endParaRPr lang="en-US" dirty="0"/>
          </a:p>
          <a:p>
            <a:pPr marL="914400" lvl="1" indent="-457200">
              <a:buFont typeface="+mj-lt"/>
              <a:buAutoNum type="arabicPeriod" startAt="4"/>
            </a:pPr>
            <a:r>
              <a:rPr lang="en-US" sz="2000" dirty="0"/>
              <a:t>There is a ‘pesticide paradox’</a:t>
            </a:r>
          </a:p>
          <a:p>
            <a:pPr marL="1371600" lvl="2" indent="-457200">
              <a:buFont typeface="Arial" panose="020B0604020202020204" pitchFamily="34" charset="0"/>
              <a:buChar char="•"/>
            </a:pPr>
            <a:r>
              <a:rPr lang="en-US" dirty="0"/>
              <a:t>Using the same tests over and over again is unlikely to reveal new defects. To overcome this, test cases need to be reviewed and revised, and new test cases need to be written to test different paths and areas of the software.</a:t>
            </a:r>
          </a:p>
          <a:p>
            <a:pPr marL="1371600" lvl="2" indent="-457200">
              <a:buFont typeface="Arial" panose="020B0604020202020204" pitchFamily="34" charset="0"/>
              <a:buChar char="•"/>
            </a:pPr>
            <a:endParaRPr lang="en-US" dirty="0"/>
          </a:p>
          <a:p>
            <a:pPr marL="914400" lvl="1" indent="-457200">
              <a:buFont typeface="+mj-lt"/>
              <a:buAutoNum type="arabicPeriod" startAt="4"/>
            </a:pPr>
            <a:r>
              <a:rPr lang="en-US" sz="2000" dirty="0"/>
              <a:t>Testing is context dependent</a:t>
            </a:r>
          </a:p>
          <a:p>
            <a:pPr marL="1371600" lvl="2" indent="-457200">
              <a:buFont typeface="Arial" panose="020B0604020202020204" pitchFamily="34" charset="0"/>
              <a:buChar char="•"/>
            </a:pPr>
            <a:r>
              <a:rPr lang="en-US" dirty="0"/>
              <a:t>The type of tests will depend on the system being tested. For example, the tests needed for an internet application mortgage application system will be different to the tests needed for an aircraft navigation system.</a:t>
            </a:r>
          </a:p>
          <a:p>
            <a:pPr marL="1371600" lvl="2" indent="-457200">
              <a:buFont typeface="Arial" panose="020B0604020202020204" pitchFamily="34" charset="0"/>
              <a:buChar char="•"/>
            </a:pPr>
            <a:endParaRPr lang="en-US" dirty="0"/>
          </a:p>
          <a:p>
            <a:pPr marL="914400" lvl="1" indent="-457200">
              <a:buFont typeface="+mj-lt"/>
              <a:buAutoNum type="arabicPeriod" startAt="4"/>
            </a:pPr>
            <a:r>
              <a:rPr lang="en-US" sz="2000" dirty="0"/>
              <a:t>Absence of errors fallacy</a:t>
            </a:r>
          </a:p>
          <a:p>
            <a:pPr marL="1371600" lvl="2" indent="-457200">
              <a:buFont typeface="Arial" panose="020B0604020202020204" pitchFamily="34" charset="0"/>
              <a:buChar char="•"/>
            </a:pPr>
            <a:r>
              <a:rPr lang="en-US" dirty="0"/>
              <a:t>The system must meet the needs of the users; having a defect-free system is not in itself sufficient.</a:t>
            </a:r>
          </a:p>
        </p:txBody>
      </p:sp>
    </p:spTree>
    <p:extLst>
      <p:ext uri="{BB962C8B-B14F-4D97-AF65-F5344CB8AC3E}">
        <p14:creationId xmlns:p14="http://schemas.microsoft.com/office/powerpoint/2010/main" val="94973348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0" y="0"/>
            <a:ext cx="9144000" cy="122526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Lato Light" charset="0"/>
            </a:endParaRPr>
          </a:p>
        </p:txBody>
      </p:sp>
      <p:sp>
        <p:nvSpPr>
          <p:cNvPr id="11" name="TextBox 10"/>
          <p:cNvSpPr txBox="1"/>
          <p:nvPr/>
        </p:nvSpPr>
        <p:spPr>
          <a:xfrm>
            <a:off x="570160" y="295761"/>
            <a:ext cx="8065840" cy="523220"/>
          </a:xfrm>
          <a:prstGeom prst="rect">
            <a:avLst/>
          </a:prstGeom>
          <a:noFill/>
        </p:spPr>
        <p:txBody>
          <a:bodyPr wrap="square" rtlCol="0">
            <a:spAutoFit/>
          </a:bodyPr>
          <a:lstStyle/>
          <a:p>
            <a:pPr algn="ctr"/>
            <a:r>
              <a:rPr lang="en-US" sz="2800" b="1" dirty="0">
                <a:solidFill>
                  <a:schemeClr val="bg1"/>
                </a:solidFill>
                <a:latin typeface="Lato" charset="0"/>
                <a:ea typeface="Lato" charset="0"/>
                <a:cs typeface="Lato" charset="0"/>
              </a:rPr>
              <a:t>Testing Goals</a:t>
            </a:r>
          </a:p>
        </p:txBody>
      </p:sp>
      <p:sp>
        <p:nvSpPr>
          <p:cNvPr id="5" name="Rectangle 4">
            <a:extLst>
              <a:ext uri="{FF2B5EF4-FFF2-40B4-BE49-F238E27FC236}">
                <a16:creationId xmlns:a16="http://schemas.microsoft.com/office/drawing/2014/main" id="{2AF393C6-1414-6247-8304-3C5C2A41F6D2}"/>
              </a:ext>
            </a:extLst>
          </p:cNvPr>
          <p:cNvSpPr/>
          <p:nvPr/>
        </p:nvSpPr>
        <p:spPr>
          <a:xfrm>
            <a:off x="128016" y="1243065"/>
            <a:ext cx="9015984" cy="3785652"/>
          </a:xfrm>
          <a:prstGeom prst="rect">
            <a:avLst/>
          </a:prstGeom>
        </p:spPr>
        <p:txBody>
          <a:bodyPr wrap="square">
            <a:spAutoFit/>
          </a:bodyPr>
          <a:lstStyle/>
          <a:p>
            <a:pPr marL="457200" indent="-457200">
              <a:buFont typeface="Arial" panose="020B0604020202020204" pitchFamily="34" charset="0"/>
              <a:buChar char="•"/>
            </a:pPr>
            <a:r>
              <a:rPr lang="en-US" sz="2400" dirty="0"/>
              <a:t>ensure that the quality of the final system is as high as possible by:</a:t>
            </a:r>
          </a:p>
          <a:p>
            <a:pPr marL="457200" indent="-457200">
              <a:buFont typeface="Arial" panose="020B0604020202020204" pitchFamily="34" charset="0"/>
              <a:buChar char="•"/>
            </a:pPr>
            <a:endParaRPr lang="en-US" sz="2400" dirty="0"/>
          </a:p>
          <a:p>
            <a:pPr marL="914400" lvl="1" indent="-457200">
              <a:buFont typeface="Arial" panose="020B0604020202020204" pitchFamily="34" charset="0"/>
              <a:buChar char="•"/>
            </a:pPr>
            <a:r>
              <a:rPr lang="en-US" sz="2400" b="1" dirty="0"/>
              <a:t>removing errors </a:t>
            </a:r>
            <a:r>
              <a:rPr lang="en-US" sz="2400" dirty="0"/>
              <a:t>– mistakes made by humans;</a:t>
            </a:r>
          </a:p>
          <a:p>
            <a:pPr marL="914400" lvl="1" indent="-457200">
              <a:buFont typeface="Arial" panose="020B0604020202020204" pitchFamily="34" charset="0"/>
              <a:buChar char="•"/>
            </a:pPr>
            <a:endParaRPr lang="en-US" sz="2400" dirty="0"/>
          </a:p>
          <a:p>
            <a:pPr marL="914400" lvl="1" indent="-457200">
              <a:buFont typeface="Arial" panose="020B0604020202020204" pitchFamily="34" charset="0"/>
              <a:buChar char="•"/>
            </a:pPr>
            <a:r>
              <a:rPr lang="en-US" sz="2400" b="1" dirty="0"/>
              <a:t>removing defects </a:t>
            </a:r>
            <a:r>
              <a:rPr lang="en-US" sz="2400" dirty="0"/>
              <a:t>– faults in software code, also known as bugs;</a:t>
            </a:r>
          </a:p>
          <a:p>
            <a:pPr marL="914400" lvl="1" indent="-457200">
              <a:buFont typeface="Arial" panose="020B0604020202020204" pitchFamily="34" charset="0"/>
              <a:buChar char="•"/>
            </a:pPr>
            <a:endParaRPr lang="en-US" sz="2400" b="1" dirty="0"/>
          </a:p>
          <a:p>
            <a:pPr marL="914400" lvl="1" indent="-457200">
              <a:buFont typeface="Arial" panose="020B0604020202020204" pitchFamily="34" charset="0"/>
              <a:buChar char="•"/>
            </a:pPr>
            <a:r>
              <a:rPr lang="en-US" sz="2400" b="1" dirty="0"/>
              <a:t>preventing failure </a:t>
            </a:r>
            <a:r>
              <a:rPr lang="en-US" sz="2400" dirty="0"/>
              <a:t>– preventing the system from failing to do what it should do, and preventing the system from doing something it should not do.</a:t>
            </a:r>
          </a:p>
          <a:p>
            <a:pPr marL="457200" indent="-457200">
              <a:buFont typeface="Arial" panose="020B0604020202020204" pitchFamily="34" charset="0"/>
              <a:buChar char="•"/>
            </a:pPr>
            <a:endParaRPr lang="en-US" sz="2400" dirty="0"/>
          </a:p>
        </p:txBody>
      </p:sp>
    </p:spTree>
    <p:extLst>
      <p:ext uri="{BB962C8B-B14F-4D97-AF65-F5344CB8AC3E}">
        <p14:creationId xmlns:p14="http://schemas.microsoft.com/office/powerpoint/2010/main" val="216404155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0" y="0"/>
            <a:ext cx="9144000" cy="122526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Lato Light" charset="0"/>
            </a:endParaRPr>
          </a:p>
        </p:txBody>
      </p:sp>
      <p:sp>
        <p:nvSpPr>
          <p:cNvPr id="11" name="TextBox 10"/>
          <p:cNvSpPr txBox="1"/>
          <p:nvPr/>
        </p:nvSpPr>
        <p:spPr>
          <a:xfrm>
            <a:off x="570160" y="295761"/>
            <a:ext cx="8065840" cy="646331"/>
          </a:xfrm>
          <a:prstGeom prst="rect">
            <a:avLst/>
          </a:prstGeom>
          <a:noFill/>
        </p:spPr>
        <p:txBody>
          <a:bodyPr wrap="square" rtlCol="0">
            <a:spAutoFit/>
          </a:bodyPr>
          <a:lstStyle/>
          <a:p>
            <a:pPr algn="ctr"/>
            <a:r>
              <a:rPr lang="en-US" sz="3600" b="1" dirty="0">
                <a:solidFill>
                  <a:schemeClr val="bg1"/>
                </a:solidFill>
                <a:latin typeface="Lato" charset="0"/>
                <a:ea typeface="Lato" charset="0"/>
                <a:cs typeface="Lato" charset="0"/>
              </a:rPr>
              <a:t>Static Testing vs Dynamic Testing</a:t>
            </a:r>
          </a:p>
        </p:txBody>
      </p:sp>
      <p:sp>
        <p:nvSpPr>
          <p:cNvPr id="5" name="Rectangle 4">
            <a:extLst>
              <a:ext uri="{FF2B5EF4-FFF2-40B4-BE49-F238E27FC236}">
                <a16:creationId xmlns:a16="http://schemas.microsoft.com/office/drawing/2014/main" id="{2AF393C6-1414-6247-8304-3C5C2A41F6D2}"/>
              </a:ext>
            </a:extLst>
          </p:cNvPr>
          <p:cNvSpPr/>
          <p:nvPr/>
        </p:nvSpPr>
        <p:spPr>
          <a:xfrm>
            <a:off x="128016" y="1243065"/>
            <a:ext cx="9015984" cy="3416320"/>
          </a:xfrm>
          <a:prstGeom prst="rect">
            <a:avLst/>
          </a:prstGeom>
        </p:spPr>
        <p:txBody>
          <a:bodyPr wrap="square">
            <a:spAutoFit/>
          </a:bodyPr>
          <a:lstStyle/>
          <a:p>
            <a:pPr marL="457200" indent="-457200">
              <a:buFont typeface="Arial" panose="020B0604020202020204" pitchFamily="34" charset="0"/>
              <a:buChar char="•"/>
            </a:pPr>
            <a:r>
              <a:rPr lang="en-US" sz="2400" b="1" dirty="0"/>
              <a:t>Static testing </a:t>
            </a:r>
            <a:r>
              <a:rPr lang="en-US" sz="2400" dirty="0"/>
              <a:t>is the term used to identify and correct errors, that is, mistakes made by humans, such as in the production of documents, writing of program source code, creation of lists of data, and so on. Static testing specifically applies to any form of testing where the program code itself is not exercised.</a:t>
            </a:r>
          </a:p>
          <a:p>
            <a:pPr marL="457200" indent="-457200">
              <a:buFont typeface="Arial" panose="020B0604020202020204" pitchFamily="34" charset="0"/>
              <a:buChar char="•"/>
            </a:pPr>
            <a:endParaRPr lang="en-US" sz="2400" dirty="0"/>
          </a:p>
          <a:p>
            <a:pPr marL="457200" indent="-457200">
              <a:buFont typeface="Arial" panose="020B0604020202020204" pitchFamily="34" charset="0"/>
              <a:buChar char="•"/>
            </a:pPr>
            <a:r>
              <a:rPr lang="en-US" sz="2400" b="1" dirty="0"/>
              <a:t>Dynamic testing</a:t>
            </a:r>
            <a:r>
              <a:rPr lang="en-US" sz="2400" dirty="0"/>
              <a:t> is the term used to identify and correct defects, and specifically applies to any form of testing where the program code is exercised with the use of test data.</a:t>
            </a:r>
          </a:p>
        </p:txBody>
      </p:sp>
    </p:spTree>
    <p:extLst>
      <p:ext uri="{BB962C8B-B14F-4D97-AF65-F5344CB8AC3E}">
        <p14:creationId xmlns:p14="http://schemas.microsoft.com/office/powerpoint/2010/main" val="332204879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0" y="0"/>
            <a:ext cx="9144000" cy="122526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Lato Light" charset="0"/>
            </a:endParaRPr>
          </a:p>
        </p:txBody>
      </p:sp>
      <p:sp>
        <p:nvSpPr>
          <p:cNvPr id="11" name="TextBox 10"/>
          <p:cNvSpPr txBox="1"/>
          <p:nvPr/>
        </p:nvSpPr>
        <p:spPr>
          <a:xfrm>
            <a:off x="570160" y="295761"/>
            <a:ext cx="8065840" cy="523220"/>
          </a:xfrm>
          <a:prstGeom prst="rect">
            <a:avLst/>
          </a:prstGeom>
          <a:noFill/>
        </p:spPr>
        <p:txBody>
          <a:bodyPr wrap="square" rtlCol="0">
            <a:spAutoFit/>
          </a:bodyPr>
          <a:lstStyle/>
          <a:p>
            <a:pPr algn="ctr"/>
            <a:r>
              <a:rPr lang="en-US" sz="2800" b="1" dirty="0">
                <a:solidFill>
                  <a:schemeClr val="bg1"/>
                </a:solidFill>
                <a:latin typeface="Lato" charset="0"/>
                <a:ea typeface="Lato" charset="0"/>
                <a:cs typeface="Lato" charset="0"/>
              </a:rPr>
              <a:t>Static Testing &amp; Dynamic Testing in V Model</a:t>
            </a:r>
          </a:p>
        </p:txBody>
      </p:sp>
      <p:pic>
        <p:nvPicPr>
          <p:cNvPr id="2" name="Picture 1">
            <a:extLst>
              <a:ext uri="{FF2B5EF4-FFF2-40B4-BE49-F238E27FC236}">
                <a16:creationId xmlns:a16="http://schemas.microsoft.com/office/drawing/2014/main" id="{5C40FAED-E48B-4FBA-A5FA-76260C27C9DA}"/>
              </a:ext>
            </a:extLst>
          </p:cNvPr>
          <p:cNvPicPr>
            <a:picLocks noChangeAspect="1"/>
          </p:cNvPicPr>
          <p:nvPr/>
        </p:nvPicPr>
        <p:blipFill>
          <a:blip r:embed="rId3"/>
          <a:stretch>
            <a:fillRect/>
          </a:stretch>
        </p:blipFill>
        <p:spPr>
          <a:xfrm>
            <a:off x="1061156" y="1521028"/>
            <a:ext cx="6616157" cy="4785018"/>
          </a:xfrm>
          <a:prstGeom prst="rect">
            <a:avLst/>
          </a:prstGeom>
        </p:spPr>
      </p:pic>
    </p:spTree>
    <p:extLst>
      <p:ext uri="{BB962C8B-B14F-4D97-AF65-F5344CB8AC3E}">
        <p14:creationId xmlns:p14="http://schemas.microsoft.com/office/powerpoint/2010/main" val="22737952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0" y="0"/>
            <a:ext cx="9144000" cy="122526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Lato Light" charset="0"/>
            </a:endParaRPr>
          </a:p>
        </p:txBody>
      </p:sp>
      <p:sp>
        <p:nvSpPr>
          <p:cNvPr id="11" name="TextBox 10"/>
          <p:cNvSpPr txBox="1"/>
          <p:nvPr/>
        </p:nvSpPr>
        <p:spPr>
          <a:xfrm>
            <a:off x="570160" y="295761"/>
            <a:ext cx="8065840" cy="646331"/>
          </a:xfrm>
          <a:prstGeom prst="rect">
            <a:avLst/>
          </a:prstGeom>
          <a:noFill/>
        </p:spPr>
        <p:txBody>
          <a:bodyPr wrap="square" rtlCol="0">
            <a:spAutoFit/>
          </a:bodyPr>
          <a:lstStyle/>
          <a:p>
            <a:pPr algn="ctr"/>
            <a:r>
              <a:rPr lang="en-US" sz="3600" b="1" dirty="0">
                <a:solidFill>
                  <a:schemeClr val="bg1"/>
                </a:solidFill>
                <a:latin typeface="Lato" charset="0"/>
                <a:ea typeface="Lato" charset="0"/>
                <a:cs typeface="Lato" charset="0"/>
              </a:rPr>
              <a:t>Static Testing</a:t>
            </a:r>
          </a:p>
        </p:txBody>
      </p:sp>
      <p:sp>
        <p:nvSpPr>
          <p:cNvPr id="5" name="Rectangle 4">
            <a:extLst>
              <a:ext uri="{FF2B5EF4-FFF2-40B4-BE49-F238E27FC236}">
                <a16:creationId xmlns:a16="http://schemas.microsoft.com/office/drawing/2014/main" id="{2AF393C6-1414-6247-8304-3C5C2A41F6D2}"/>
              </a:ext>
            </a:extLst>
          </p:cNvPr>
          <p:cNvSpPr/>
          <p:nvPr/>
        </p:nvSpPr>
        <p:spPr>
          <a:xfrm>
            <a:off x="128016" y="1243065"/>
            <a:ext cx="9015984" cy="3785652"/>
          </a:xfrm>
          <a:prstGeom prst="rect">
            <a:avLst/>
          </a:prstGeom>
        </p:spPr>
        <p:txBody>
          <a:bodyPr wrap="square">
            <a:spAutoFit/>
          </a:bodyPr>
          <a:lstStyle/>
          <a:p>
            <a:pPr marL="457200" indent="-457200">
              <a:buFont typeface="Arial" panose="020B0604020202020204" pitchFamily="34" charset="0"/>
              <a:buChar char="•"/>
            </a:pPr>
            <a:r>
              <a:rPr lang="en-US" sz="2400" dirty="0"/>
              <a:t>Static testing uses techniques that do not exercise the program code, and as such can be applied early in the lifecycle before the code is even written.</a:t>
            </a:r>
          </a:p>
          <a:p>
            <a:pPr marL="457200" indent="-457200">
              <a:buFont typeface="Arial" panose="020B0604020202020204" pitchFamily="34" charset="0"/>
              <a:buChar char="•"/>
            </a:pPr>
            <a:endParaRPr lang="en-US" sz="2400" dirty="0"/>
          </a:p>
          <a:p>
            <a:pPr marL="457200" indent="-457200">
              <a:buFont typeface="Arial" panose="020B0604020202020204" pitchFamily="34" charset="0"/>
              <a:buChar char="•"/>
            </a:pPr>
            <a:r>
              <a:rPr lang="en-US" sz="2400" dirty="0"/>
              <a:t>Static testing primarily involves the use of reviews of documents and other artefacts as they are produced. These are compared against documents and artefacts produced in earlier stages of the lifecycle for completeness and correctness. </a:t>
            </a:r>
          </a:p>
          <a:p>
            <a:pPr marL="457200" indent="-457200">
              <a:buFont typeface="Arial" panose="020B0604020202020204" pitchFamily="34" charset="0"/>
              <a:buChar char="•"/>
            </a:pPr>
            <a:endParaRPr lang="en-US" sz="2400" dirty="0"/>
          </a:p>
          <a:p>
            <a:pPr marL="457200" indent="-457200">
              <a:buFont typeface="Arial" panose="020B0604020202020204" pitchFamily="34" charset="0"/>
              <a:buChar char="•"/>
            </a:pPr>
            <a:endParaRPr lang="en-US" sz="2400" dirty="0"/>
          </a:p>
        </p:txBody>
      </p:sp>
    </p:spTree>
    <p:extLst>
      <p:ext uri="{BB962C8B-B14F-4D97-AF65-F5344CB8AC3E}">
        <p14:creationId xmlns:p14="http://schemas.microsoft.com/office/powerpoint/2010/main" val="119086753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0" y="0"/>
            <a:ext cx="9144000" cy="122526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Lato Light" charset="0"/>
            </a:endParaRPr>
          </a:p>
        </p:txBody>
      </p:sp>
      <p:sp>
        <p:nvSpPr>
          <p:cNvPr id="11" name="TextBox 10"/>
          <p:cNvSpPr txBox="1"/>
          <p:nvPr/>
        </p:nvSpPr>
        <p:spPr>
          <a:xfrm>
            <a:off x="570160" y="295761"/>
            <a:ext cx="8065840" cy="646331"/>
          </a:xfrm>
          <a:prstGeom prst="rect">
            <a:avLst/>
          </a:prstGeom>
          <a:noFill/>
        </p:spPr>
        <p:txBody>
          <a:bodyPr wrap="square" rtlCol="0">
            <a:spAutoFit/>
          </a:bodyPr>
          <a:lstStyle/>
          <a:p>
            <a:pPr algn="ctr"/>
            <a:r>
              <a:rPr lang="en-US" sz="3600" b="1" dirty="0">
                <a:solidFill>
                  <a:schemeClr val="bg1"/>
                </a:solidFill>
                <a:latin typeface="Lato" charset="0"/>
                <a:ea typeface="Lato" charset="0"/>
                <a:cs typeface="Lato" charset="0"/>
              </a:rPr>
              <a:t>Static Testing</a:t>
            </a:r>
          </a:p>
        </p:txBody>
      </p:sp>
      <p:sp>
        <p:nvSpPr>
          <p:cNvPr id="5" name="Rectangle 4">
            <a:extLst>
              <a:ext uri="{FF2B5EF4-FFF2-40B4-BE49-F238E27FC236}">
                <a16:creationId xmlns:a16="http://schemas.microsoft.com/office/drawing/2014/main" id="{2AF393C6-1414-6247-8304-3C5C2A41F6D2}"/>
              </a:ext>
            </a:extLst>
          </p:cNvPr>
          <p:cNvSpPr/>
          <p:nvPr/>
        </p:nvSpPr>
        <p:spPr>
          <a:xfrm>
            <a:off x="128016" y="1243065"/>
            <a:ext cx="9015984" cy="4678204"/>
          </a:xfrm>
          <a:prstGeom prst="rect">
            <a:avLst/>
          </a:prstGeom>
        </p:spPr>
        <p:txBody>
          <a:bodyPr wrap="square">
            <a:spAutoFit/>
          </a:bodyPr>
          <a:lstStyle/>
          <a:p>
            <a:pPr marL="457200" indent="-457200">
              <a:buFont typeface="Arial" panose="020B0604020202020204" pitchFamily="34" charset="0"/>
              <a:buChar char="•"/>
            </a:pPr>
            <a:r>
              <a:rPr lang="en-US" sz="2000" dirty="0"/>
              <a:t>The products that should be reviewed using static testing include:</a:t>
            </a:r>
          </a:p>
          <a:p>
            <a:pPr marL="914400" lvl="1" indent="-457200">
              <a:buFont typeface="Arial" panose="020B0604020202020204" pitchFamily="34" charset="0"/>
              <a:buChar char="•"/>
            </a:pPr>
            <a:r>
              <a:rPr lang="en-US" sz="2000" b="1" dirty="0"/>
              <a:t>Requirements specification</a:t>
            </a:r>
          </a:p>
          <a:p>
            <a:pPr marL="1371600" lvl="2" indent="-457200">
              <a:buFont typeface="Arial" panose="020B0604020202020204" pitchFamily="34" charset="0"/>
              <a:buChar char="•"/>
            </a:pPr>
            <a:r>
              <a:rPr lang="en-US" dirty="0"/>
              <a:t>checked against the project initiation document (PID) or terms of reference (TOR), and against the business case,</a:t>
            </a:r>
          </a:p>
          <a:p>
            <a:pPr marL="914400" lvl="1" indent="-457200">
              <a:buFont typeface="Arial" panose="020B0604020202020204" pitchFamily="34" charset="0"/>
              <a:buChar char="•"/>
            </a:pPr>
            <a:r>
              <a:rPr lang="en-US" sz="2000" b="1" dirty="0"/>
              <a:t>Functional specification</a:t>
            </a:r>
          </a:p>
          <a:p>
            <a:pPr marL="1371600" lvl="2" indent="-457200">
              <a:buFont typeface="Arial" panose="020B0604020202020204" pitchFamily="34" charset="0"/>
              <a:buChar char="•"/>
            </a:pPr>
            <a:r>
              <a:rPr lang="en-US" dirty="0"/>
              <a:t>checked against the requirements specification for technical correctness and feasibility, and to ensure that they correctly specify how the system is to be built.</a:t>
            </a:r>
          </a:p>
          <a:p>
            <a:pPr marL="914400" lvl="1" indent="-457200">
              <a:buFont typeface="Arial" panose="020B0604020202020204" pitchFamily="34" charset="0"/>
              <a:buChar char="•"/>
            </a:pPr>
            <a:r>
              <a:rPr lang="en-US" sz="2000" b="1" dirty="0"/>
              <a:t>Design specification</a:t>
            </a:r>
          </a:p>
          <a:p>
            <a:pPr marL="1371600" lvl="2" indent="-457200">
              <a:buFont typeface="Arial" panose="020B0604020202020204" pitchFamily="34" charset="0"/>
              <a:buChar char="•"/>
            </a:pPr>
            <a:r>
              <a:rPr lang="en-US" dirty="0"/>
              <a:t>checked against the functional specification and requirements specification for technical accuracy and completeness and to ensure that the design will lead to the system features and </a:t>
            </a:r>
            <a:r>
              <a:rPr lang="en-US" dirty="0" err="1"/>
              <a:t>behaviour</a:t>
            </a:r>
            <a:r>
              <a:rPr lang="en-US" dirty="0"/>
              <a:t> as envisaged in the functional specification.</a:t>
            </a:r>
          </a:p>
          <a:p>
            <a:pPr marL="914400" lvl="1" indent="-457200">
              <a:buFont typeface="Arial" panose="020B0604020202020204" pitchFamily="34" charset="0"/>
              <a:buChar char="•"/>
            </a:pPr>
            <a:r>
              <a:rPr lang="en-US" sz="2000" b="1" dirty="0"/>
              <a:t>Module or program specification</a:t>
            </a:r>
          </a:p>
          <a:p>
            <a:pPr marL="1371600" lvl="2" indent="-457200">
              <a:buFont typeface="Arial" panose="020B0604020202020204" pitchFamily="34" charset="0"/>
              <a:buChar char="•"/>
            </a:pPr>
            <a:r>
              <a:rPr lang="en-US" dirty="0"/>
              <a:t>checked against the design specification to ensure completeness, maintainability, efficiency, reliability, and so on. They should also be checked to verify that data is correctly passed to and from other programs.</a:t>
            </a:r>
          </a:p>
        </p:txBody>
      </p:sp>
    </p:spTree>
    <p:extLst>
      <p:ext uri="{BB962C8B-B14F-4D97-AF65-F5344CB8AC3E}">
        <p14:creationId xmlns:p14="http://schemas.microsoft.com/office/powerpoint/2010/main" val="211996469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0" y="0"/>
            <a:ext cx="9144000" cy="122526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Lato Light" charset="0"/>
            </a:endParaRPr>
          </a:p>
        </p:txBody>
      </p:sp>
      <p:sp>
        <p:nvSpPr>
          <p:cNvPr id="11" name="TextBox 10"/>
          <p:cNvSpPr txBox="1"/>
          <p:nvPr/>
        </p:nvSpPr>
        <p:spPr>
          <a:xfrm>
            <a:off x="570160" y="295761"/>
            <a:ext cx="8065840" cy="646331"/>
          </a:xfrm>
          <a:prstGeom prst="rect">
            <a:avLst/>
          </a:prstGeom>
          <a:noFill/>
        </p:spPr>
        <p:txBody>
          <a:bodyPr wrap="square" rtlCol="0">
            <a:spAutoFit/>
          </a:bodyPr>
          <a:lstStyle/>
          <a:p>
            <a:pPr algn="ctr"/>
            <a:r>
              <a:rPr lang="en-US" sz="3600" b="1" dirty="0">
                <a:solidFill>
                  <a:schemeClr val="bg1"/>
                </a:solidFill>
                <a:latin typeface="Lato" charset="0"/>
                <a:ea typeface="Lato" charset="0"/>
                <a:cs typeface="Lato" charset="0"/>
              </a:rPr>
              <a:t>Review Technique for Static Testing</a:t>
            </a:r>
          </a:p>
        </p:txBody>
      </p:sp>
      <p:sp>
        <p:nvSpPr>
          <p:cNvPr id="5" name="Rectangle 4">
            <a:extLst>
              <a:ext uri="{FF2B5EF4-FFF2-40B4-BE49-F238E27FC236}">
                <a16:creationId xmlns:a16="http://schemas.microsoft.com/office/drawing/2014/main" id="{2AF393C6-1414-6247-8304-3C5C2A41F6D2}"/>
              </a:ext>
            </a:extLst>
          </p:cNvPr>
          <p:cNvSpPr/>
          <p:nvPr/>
        </p:nvSpPr>
        <p:spPr>
          <a:xfrm>
            <a:off x="128016" y="1243065"/>
            <a:ext cx="9015984" cy="3970318"/>
          </a:xfrm>
          <a:prstGeom prst="rect">
            <a:avLst/>
          </a:prstGeom>
        </p:spPr>
        <p:txBody>
          <a:bodyPr wrap="square">
            <a:spAutoFit/>
          </a:bodyPr>
          <a:lstStyle/>
          <a:p>
            <a:pPr marL="457200" indent="-457200">
              <a:buFont typeface="Arial" panose="020B0604020202020204" pitchFamily="34" charset="0"/>
              <a:buChar char="•"/>
            </a:pPr>
            <a:r>
              <a:rPr lang="en-US" sz="2400" b="1" dirty="0"/>
              <a:t>Informal review</a:t>
            </a:r>
          </a:p>
          <a:p>
            <a:pPr marL="914400" lvl="1" indent="-457200">
              <a:buFont typeface="Arial" panose="020B0604020202020204" pitchFamily="34" charset="0"/>
              <a:buChar char="•"/>
            </a:pPr>
            <a:r>
              <a:rPr lang="en-US" sz="2000" dirty="0"/>
              <a:t>This is usually a peer review, for example by one analyst reviewing another analyst’s work, or one programmer reviewing a source code listing produced by another programmer.</a:t>
            </a:r>
          </a:p>
          <a:p>
            <a:pPr marL="457200" indent="-457200">
              <a:buFont typeface="Arial" panose="020B0604020202020204" pitchFamily="34" charset="0"/>
              <a:buChar char="•"/>
            </a:pPr>
            <a:r>
              <a:rPr lang="en-US" sz="2200" b="1" dirty="0"/>
              <a:t>Walkthrough</a:t>
            </a:r>
          </a:p>
          <a:p>
            <a:pPr marL="914400" lvl="1" indent="-457200">
              <a:buFont typeface="Arial" panose="020B0604020202020204" pitchFamily="34" charset="0"/>
              <a:buChar char="•"/>
            </a:pPr>
            <a:r>
              <a:rPr lang="en-US" sz="2000" dirty="0"/>
              <a:t>the product (for example, the requirements specification) is walked through line by line, section by section, or page by page, to identify any errors.</a:t>
            </a:r>
          </a:p>
          <a:p>
            <a:pPr marL="457200" indent="-457200">
              <a:buFont typeface="Arial" panose="020B0604020202020204" pitchFamily="34" charset="0"/>
              <a:buChar char="•"/>
            </a:pPr>
            <a:r>
              <a:rPr lang="en-US" sz="2200" b="1" dirty="0"/>
              <a:t>Technical review</a:t>
            </a:r>
          </a:p>
          <a:p>
            <a:pPr marL="914400" lvl="1" indent="-457200">
              <a:buFont typeface="Arial" panose="020B0604020202020204" pitchFamily="34" charset="0"/>
              <a:buChar char="•"/>
            </a:pPr>
            <a:r>
              <a:rPr lang="en-US" sz="2000" dirty="0"/>
              <a:t>the product is reviewed by a group of technical experts typically using checklists of common problems to identify errors.</a:t>
            </a:r>
          </a:p>
          <a:p>
            <a:pPr marL="457200" indent="-457200">
              <a:buFont typeface="Arial" panose="020B0604020202020204" pitchFamily="34" charset="0"/>
              <a:buChar char="•"/>
            </a:pPr>
            <a:r>
              <a:rPr lang="en-US" sz="2200" b="1" dirty="0"/>
              <a:t>Inspection</a:t>
            </a:r>
          </a:p>
          <a:p>
            <a:pPr marL="914400" lvl="1" indent="-457200">
              <a:buFont typeface="Arial" panose="020B0604020202020204" pitchFamily="34" charset="0"/>
              <a:buChar char="•"/>
            </a:pPr>
            <a:r>
              <a:rPr lang="en-US" sz="2000" dirty="0"/>
              <a:t>formal review meeting, with clearly defined roles and objectives</a:t>
            </a:r>
            <a:endParaRPr lang="en-US" sz="2200" dirty="0"/>
          </a:p>
        </p:txBody>
      </p:sp>
    </p:spTree>
    <p:extLst>
      <p:ext uri="{BB962C8B-B14F-4D97-AF65-F5344CB8AC3E}">
        <p14:creationId xmlns:p14="http://schemas.microsoft.com/office/powerpoint/2010/main" val="125520820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0" y="0"/>
            <a:ext cx="9144000" cy="122526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Lato Light" charset="0"/>
            </a:endParaRPr>
          </a:p>
        </p:txBody>
      </p:sp>
      <p:sp>
        <p:nvSpPr>
          <p:cNvPr id="11" name="TextBox 10"/>
          <p:cNvSpPr txBox="1"/>
          <p:nvPr/>
        </p:nvSpPr>
        <p:spPr>
          <a:xfrm>
            <a:off x="570160" y="295761"/>
            <a:ext cx="8065840" cy="646331"/>
          </a:xfrm>
          <a:prstGeom prst="rect">
            <a:avLst/>
          </a:prstGeom>
          <a:noFill/>
        </p:spPr>
        <p:txBody>
          <a:bodyPr wrap="square" rtlCol="0">
            <a:spAutoFit/>
          </a:bodyPr>
          <a:lstStyle/>
          <a:p>
            <a:pPr algn="ctr"/>
            <a:r>
              <a:rPr lang="en-US" sz="3600" b="1" dirty="0">
                <a:solidFill>
                  <a:schemeClr val="bg1"/>
                </a:solidFill>
                <a:latin typeface="Lato" charset="0"/>
                <a:ea typeface="Lato" charset="0"/>
                <a:cs typeface="Lato" charset="0"/>
              </a:rPr>
              <a:t>Dynamic Testing</a:t>
            </a:r>
          </a:p>
        </p:txBody>
      </p:sp>
      <p:sp>
        <p:nvSpPr>
          <p:cNvPr id="5" name="Rectangle 4">
            <a:extLst>
              <a:ext uri="{FF2B5EF4-FFF2-40B4-BE49-F238E27FC236}">
                <a16:creationId xmlns:a16="http://schemas.microsoft.com/office/drawing/2014/main" id="{2AF393C6-1414-6247-8304-3C5C2A41F6D2}"/>
              </a:ext>
            </a:extLst>
          </p:cNvPr>
          <p:cNvSpPr/>
          <p:nvPr/>
        </p:nvSpPr>
        <p:spPr>
          <a:xfrm>
            <a:off x="128016" y="1243065"/>
            <a:ext cx="9015984" cy="3416320"/>
          </a:xfrm>
          <a:prstGeom prst="rect">
            <a:avLst/>
          </a:prstGeom>
        </p:spPr>
        <p:txBody>
          <a:bodyPr wrap="square">
            <a:spAutoFit/>
          </a:bodyPr>
          <a:lstStyle/>
          <a:p>
            <a:pPr marL="457200" indent="-457200">
              <a:buFont typeface="Arial" panose="020B0604020202020204" pitchFamily="34" charset="0"/>
              <a:buChar char="•"/>
            </a:pPr>
            <a:r>
              <a:rPr lang="en-US" sz="2400" dirty="0"/>
              <a:t>The purpose of dynamic testing is to check the quality of the software by executing the program modules to identify any defects found in them.</a:t>
            </a:r>
          </a:p>
          <a:p>
            <a:pPr marL="457200" indent="-457200">
              <a:buFont typeface="Arial" panose="020B0604020202020204" pitchFamily="34" charset="0"/>
              <a:buChar char="•"/>
            </a:pPr>
            <a:endParaRPr lang="en-US" sz="2400" dirty="0"/>
          </a:p>
          <a:p>
            <a:pPr marL="457200" indent="-457200">
              <a:buFont typeface="Arial" panose="020B0604020202020204" pitchFamily="34" charset="0"/>
              <a:buChar char="•"/>
            </a:pPr>
            <a:r>
              <a:rPr lang="en-US" sz="2400" dirty="0"/>
              <a:t>The software is executed in a number of progressive stages, with each stage building on the confidence of the system gained in preceding stages.</a:t>
            </a:r>
          </a:p>
          <a:p>
            <a:pPr marL="457200" indent="-457200">
              <a:buFont typeface="Arial" panose="020B0604020202020204" pitchFamily="34" charset="0"/>
              <a:buChar char="•"/>
            </a:pPr>
            <a:endParaRPr lang="en-US" sz="2400" dirty="0"/>
          </a:p>
          <a:p>
            <a:pPr marL="457200" indent="-457200">
              <a:buFont typeface="Arial" panose="020B0604020202020204" pitchFamily="34" charset="0"/>
              <a:buChar char="•"/>
            </a:pPr>
            <a:endParaRPr lang="en-US" sz="2400" dirty="0"/>
          </a:p>
        </p:txBody>
      </p:sp>
    </p:spTree>
    <p:extLst>
      <p:ext uri="{BB962C8B-B14F-4D97-AF65-F5344CB8AC3E}">
        <p14:creationId xmlns:p14="http://schemas.microsoft.com/office/powerpoint/2010/main" val="224005560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0" y="0"/>
            <a:ext cx="9144000" cy="122526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Lato Light" charset="0"/>
            </a:endParaRPr>
          </a:p>
        </p:txBody>
      </p:sp>
      <p:sp>
        <p:nvSpPr>
          <p:cNvPr id="11" name="TextBox 10"/>
          <p:cNvSpPr txBox="1"/>
          <p:nvPr/>
        </p:nvSpPr>
        <p:spPr>
          <a:xfrm>
            <a:off x="570160" y="295761"/>
            <a:ext cx="8065840" cy="646331"/>
          </a:xfrm>
          <a:prstGeom prst="rect">
            <a:avLst/>
          </a:prstGeom>
          <a:noFill/>
        </p:spPr>
        <p:txBody>
          <a:bodyPr wrap="square" rtlCol="0">
            <a:spAutoFit/>
          </a:bodyPr>
          <a:lstStyle/>
          <a:p>
            <a:pPr algn="ctr"/>
            <a:r>
              <a:rPr lang="en-US" sz="3600" b="1" dirty="0">
                <a:solidFill>
                  <a:schemeClr val="bg1"/>
                </a:solidFill>
                <a:latin typeface="Lato" charset="0"/>
                <a:ea typeface="Lato" charset="0"/>
                <a:cs typeface="Lato" charset="0"/>
              </a:rPr>
              <a:t>Type of Dynamic Testing</a:t>
            </a:r>
          </a:p>
        </p:txBody>
      </p:sp>
      <p:sp>
        <p:nvSpPr>
          <p:cNvPr id="5" name="Rectangle 4">
            <a:extLst>
              <a:ext uri="{FF2B5EF4-FFF2-40B4-BE49-F238E27FC236}">
                <a16:creationId xmlns:a16="http://schemas.microsoft.com/office/drawing/2014/main" id="{2AF393C6-1414-6247-8304-3C5C2A41F6D2}"/>
              </a:ext>
            </a:extLst>
          </p:cNvPr>
          <p:cNvSpPr/>
          <p:nvPr/>
        </p:nvSpPr>
        <p:spPr>
          <a:xfrm>
            <a:off x="128016" y="1243065"/>
            <a:ext cx="9015984" cy="4924425"/>
          </a:xfrm>
          <a:prstGeom prst="rect">
            <a:avLst/>
          </a:prstGeom>
        </p:spPr>
        <p:txBody>
          <a:bodyPr wrap="square">
            <a:spAutoFit/>
          </a:bodyPr>
          <a:lstStyle/>
          <a:p>
            <a:pPr marL="457200" indent="-457200">
              <a:buFont typeface="Arial" panose="020B0604020202020204" pitchFamily="34" charset="0"/>
              <a:buChar char="•"/>
            </a:pPr>
            <a:r>
              <a:rPr lang="en-US" sz="2000" b="1" dirty="0"/>
              <a:t>Unit testing, or module or component testing</a:t>
            </a:r>
          </a:p>
          <a:p>
            <a:pPr marL="914400" lvl="1" indent="-457200">
              <a:buFont typeface="Arial" panose="020B0604020202020204" pitchFamily="34" charset="0"/>
              <a:buChar char="•"/>
            </a:pPr>
            <a:r>
              <a:rPr lang="en-US" dirty="0"/>
              <a:t>Each completed program module, or unit, is tested against its module or program specification to check that, in isolation, it does what it is supposed to do</a:t>
            </a:r>
          </a:p>
          <a:p>
            <a:pPr marL="457200" indent="-457200">
              <a:buFont typeface="Arial" panose="020B0604020202020204" pitchFamily="34" charset="0"/>
              <a:buChar char="•"/>
            </a:pPr>
            <a:r>
              <a:rPr lang="en-US" sz="2000" b="1" dirty="0"/>
              <a:t>Integration testing</a:t>
            </a:r>
          </a:p>
          <a:p>
            <a:pPr marL="914400" lvl="1" indent="-457200">
              <a:buFont typeface="Arial" panose="020B0604020202020204" pitchFamily="34" charset="0"/>
              <a:buChar char="•"/>
            </a:pPr>
            <a:r>
              <a:rPr lang="en-US" dirty="0"/>
              <a:t>The individual modules are progressively integrated together and tests are carried out to ensure that, for example, the modules pass data back and forth between themselves correctly, and that they comply with the design specification.</a:t>
            </a:r>
          </a:p>
          <a:p>
            <a:pPr marL="457200" indent="-457200">
              <a:buFont typeface="Arial" panose="020B0604020202020204" pitchFamily="34" charset="0"/>
              <a:buChar char="•"/>
            </a:pPr>
            <a:r>
              <a:rPr lang="en-US" sz="2000" b="1" dirty="0"/>
              <a:t>System testing</a:t>
            </a:r>
          </a:p>
          <a:p>
            <a:pPr marL="914400" lvl="1" indent="-457200">
              <a:buFont typeface="Arial" panose="020B0604020202020204" pitchFamily="34" charset="0"/>
              <a:buChar char="•"/>
            </a:pPr>
            <a:r>
              <a:rPr lang="en-US" dirty="0"/>
              <a:t>The system is tested as a whole by testers who check that the system does what it is supposed to do, and as detailed in the functional specification</a:t>
            </a:r>
          </a:p>
          <a:p>
            <a:pPr marL="914400" lvl="1" indent="-457200">
              <a:buFont typeface="Arial" panose="020B0604020202020204" pitchFamily="34" charset="0"/>
              <a:buChar char="•"/>
            </a:pPr>
            <a:r>
              <a:rPr lang="en-US" dirty="0"/>
              <a:t>Tests are designed to ‘break’ the system as well as to check its correct functioning, and include testing the system against non-functional requirements such as performance, reliability, security, and so on.</a:t>
            </a:r>
          </a:p>
          <a:p>
            <a:pPr marL="457200" indent="-457200">
              <a:buFont typeface="Arial" panose="020B0604020202020204" pitchFamily="34" charset="0"/>
              <a:buChar char="•"/>
            </a:pPr>
            <a:r>
              <a:rPr lang="en-US" sz="2000" b="1" dirty="0"/>
              <a:t>User acceptance testing</a:t>
            </a:r>
          </a:p>
          <a:p>
            <a:pPr marL="914400" lvl="1" indent="-457200">
              <a:buFont typeface="Arial" panose="020B0604020202020204" pitchFamily="34" charset="0"/>
              <a:buChar char="•"/>
            </a:pPr>
            <a:r>
              <a:rPr lang="en-US" dirty="0"/>
              <a:t>the users test the system with the aim of ensuring that the system delivers the features needed to support business processes and data, and that the system conforms to the requirements specification.</a:t>
            </a:r>
          </a:p>
        </p:txBody>
      </p:sp>
    </p:spTree>
    <p:extLst>
      <p:ext uri="{BB962C8B-B14F-4D97-AF65-F5344CB8AC3E}">
        <p14:creationId xmlns:p14="http://schemas.microsoft.com/office/powerpoint/2010/main" val="309903276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0" y="0"/>
            <a:ext cx="9144000" cy="122526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Lato Light" charset="0"/>
            </a:endParaRPr>
          </a:p>
        </p:txBody>
      </p:sp>
      <p:sp>
        <p:nvSpPr>
          <p:cNvPr id="11" name="TextBox 10"/>
          <p:cNvSpPr txBox="1"/>
          <p:nvPr/>
        </p:nvSpPr>
        <p:spPr>
          <a:xfrm>
            <a:off x="570160" y="295761"/>
            <a:ext cx="8065840" cy="646331"/>
          </a:xfrm>
          <a:prstGeom prst="rect">
            <a:avLst/>
          </a:prstGeom>
          <a:noFill/>
        </p:spPr>
        <p:txBody>
          <a:bodyPr wrap="square" rtlCol="0">
            <a:spAutoFit/>
          </a:bodyPr>
          <a:lstStyle/>
          <a:p>
            <a:pPr algn="ctr"/>
            <a:r>
              <a:rPr lang="en-US" sz="3600" b="1" dirty="0">
                <a:solidFill>
                  <a:schemeClr val="bg1"/>
                </a:solidFill>
                <a:latin typeface="Lato" charset="0"/>
                <a:ea typeface="Lato" charset="0"/>
                <a:cs typeface="Lato" charset="0"/>
              </a:rPr>
              <a:t>Technique of Dynamic Testing</a:t>
            </a:r>
          </a:p>
        </p:txBody>
      </p:sp>
      <p:sp>
        <p:nvSpPr>
          <p:cNvPr id="5" name="Rectangle 4">
            <a:extLst>
              <a:ext uri="{FF2B5EF4-FFF2-40B4-BE49-F238E27FC236}">
                <a16:creationId xmlns:a16="http://schemas.microsoft.com/office/drawing/2014/main" id="{2AF393C6-1414-6247-8304-3C5C2A41F6D2}"/>
              </a:ext>
            </a:extLst>
          </p:cNvPr>
          <p:cNvSpPr/>
          <p:nvPr/>
        </p:nvSpPr>
        <p:spPr>
          <a:xfrm>
            <a:off x="128016" y="1243065"/>
            <a:ext cx="9015984" cy="4893647"/>
          </a:xfrm>
          <a:prstGeom prst="rect">
            <a:avLst/>
          </a:prstGeom>
        </p:spPr>
        <p:txBody>
          <a:bodyPr wrap="square">
            <a:spAutoFit/>
          </a:bodyPr>
          <a:lstStyle/>
          <a:p>
            <a:pPr marL="457200" indent="-457200">
              <a:buFont typeface="Arial" panose="020B0604020202020204" pitchFamily="34" charset="0"/>
              <a:buChar char="•"/>
            </a:pPr>
            <a:r>
              <a:rPr lang="en-US" sz="2000" b="1" dirty="0"/>
              <a:t>Black-box techniques</a:t>
            </a:r>
          </a:p>
          <a:p>
            <a:pPr marL="914400" lvl="1" indent="-457200">
              <a:buFont typeface="Arial" panose="020B0604020202020204" pitchFamily="34" charset="0"/>
              <a:buChar char="•"/>
            </a:pPr>
            <a:r>
              <a:rPr lang="en-US" dirty="0"/>
              <a:t>The tester is not concerned with how the program works, but is only interested in whether the outputs are correct based on the inputs.</a:t>
            </a:r>
          </a:p>
          <a:p>
            <a:pPr marL="914400" lvl="1" indent="-457200">
              <a:buFont typeface="Arial" panose="020B0604020202020204" pitchFamily="34" charset="0"/>
              <a:buChar char="•"/>
            </a:pPr>
            <a:r>
              <a:rPr lang="en-US" dirty="0"/>
              <a:t>Black-box testing is typically used in </a:t>
            </a:r>
            <a:r>
              <a:rPr lang="en-US" b="1" dirty="0"/>
              <a:t>user acceptance testing</a:t>
            </a:r>
            <a:r>
              <a:rPr lang="en-US" dirty="0"/>
              <a:t>, </a:t>
            </a:r>
            <a:r>
              <a:rPr lang="en-US" b="1" dirty="0"/>
              <a:t>system testing</a:t>
            </a:r>
            <a:r>
              <a:rPr lang="en-US" dirty="0"/>
              <a:t>, and </a:t>
            </a:r>
            <a:r>
              <a:rPr lang="en-US" b="1" dirty="0"/>
              <a:t>integration testing</a:t>
            </a:r>
            <a:r>
              <a:rPr lang="en-US" dirty="0"/>
              <a:t>.</a:t>
            </a:r>
          </a:p>
          <a:p>
            <a:pPr marL="457200" indent="-457200">
              <a:buFont typeface="Arial" panose="020B0604020202020204" pitchFamily="34" charset="0"/>
              <a:buChar char="•"/>
            </a:pPr>
            <a:r>
              <a:rPr lang="en-US" sz="2000" b="1" dirty="0"/>
              <a:t>White-box techniques</a:t>
            </a:r>
          </a:p>
          <a:p>
            <a:pPr marL="914400" lvl="1" indent="-457200">
              <a:buFont typeface="Arial" panose="020B0604020202020204" pitchFamily="34" charset="0"/>
              <a:buChar char="•"/>
            </a:pPr>
            <a:r>
              <a:rPr lang="en-US" dirty="0"/>
              <a:t>White-box testing is concerned with the internal working of the system. By examining the program code or module specification, the tester would design tests and test data that would exercise the program logic and data processing.</a:t>
            </a:r>
          </a:p>
          <a:p>
            <a:pPr marL="914400" lvl="1" indent="-457200">
              <a:buFont typeface="Arial" panose="020B0604020202020204" pitchFamily="34" charset="0"/>
              <a:buChar char="•"/>
            </a:pPr>
            <a:r>
              <a:rPr lang="en-US" dirty="0"/>
              <a:t>White-box testing is usually employed in </a:t>
            </a:r>
            <a:r>
              <a:rPr lang="en-US" b="1" dirty="0"/>
              <a:t>unit testing</a:t>
            </a:r>
            <a:r>
              <a:rPr lang="en-US" dirty="0"/>
              <a:t>.</a:t>
            </a:r>
          </a:p>
          <a:p>
            <a:pPr marL="457200" indent="-457200">
              <a:buFont typeface="Arial" panose="020B0604020202020204" pitchFamily="34" charset="0"/>
              <a:buChar char="•"/>
            </a:pPr>
            <a:r>
              <a:rPr lang="en-US" sz="2000" b="1" dirty="0"/>
              <a:t>Experience-based techniques</a:t>
            </a:r>
          </a:p>
          <a:p>
            <a:pPr marL="914400" lvl="1" indent="-457200">
              <a:buFont typeface="Arial" panose="020B0604020202020204" pitchFamily="34" charset="0"/>
              <a:buChar char="•"/>
            </a:pPr>
            <a:r>
              <a:rPr lang="en-US" dirty="0"/>
              <a:t>The experience of key techniques stakeholders is used to identify areas of the system that are likely to uncover defects.</a:t>
            </a:r>
          </a:p>
          <a:p>
            <a:pPr marL="914400" lvl="1" indent="-457200">
              <a:buFont typeface="Arial" panose="020B0604020202020204" pitchFamily="34" charset="0"/>
              <a:buChar char="•"/>
            </a:pPr>
            <a:r>
              <a:rPr lang="en-US" dirty="0"/>
              <a:t>For example, users may know of particular business processes and scenarios that are complex, or service managers may identify certain areas that impact service levels; designers might know of interfaces with external system that have proved problematic in the past.</a:t>
            </a:r>
          </a:p>
        </p:txBody>
      </p:sp>
    </p:spTree>
    <p:extLst>
      <p:ext uri="{BB962C8B-B14F-4D97-AF65-F5344CB8AC3E}">
        <p14:creationId xmlns:p14="http://schemas.microsoft.com/office/powerpoint/2010/main" val="248266346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0" y="0"/>
            <a:ext cx="9144000" cy="122526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Lato Light" charset="0"/>
            </a:endParaRPr>
          </a:p>
        </p:txBody>
      </p:sp>
      <p:sp>
        <p:nvSpPr>
          <p:cNvPr id="11" name="TextBox 10"/>
          <p:cNvSpPr txBox="1"/>
          <p:nvPr/>
        </p:nvSpPr>
        <p:spPr>
          <a:xfrm>
            <a:off x="570160" y="295761"/>
            <a:ext cx="8065840" cy="646331"/>
          </a:xfrm>
          <a:prstGeom prst="rect">
            <a:avLst/>
          </a:prstGeom>
          <a:noFill/>
        </p:spPr>
        <p:txBody>
          <a:bodyPr wrap="square" rtlCol="0">
            <a:spAutoFit/>
          </a:bodyPr>
          <a:lstStyle/>
          <a:p>
            <a:pPr algn="ctr"/>
            <a:r>
              <a:rPr lang="en-US" sz="3600" b="1" dirty="0">
                <a:solidFill>
                  <a:schemeClr val="bg1"/>
                </a:solidFill>
                <a:latin typeface="Lato" charset="0"/>
                <a:ea typeface="Lato" charset="0"/>
                <a:cs typeface="Lato" charset="0"/>
              </a:rPr>
              <a:t>Re-testing</a:t>
            </a:r>
          </a:p>
        </p:txBody>
      </p:sp>
      <p:sp>
        <p:nvSpPr>
          <p:cNvPr id="5" name="Rectangle 4">
            <a:extLst>
              <a:ext uri="{FF2B5EF4-FFF2-40B4-BE49-F238E27FC236}">
                <a16:creationId xmlns:a16="http://schemas.microsoft.com/office/drawing/2014/main" id="{2AF393C6-1414-6247-8304-3C5C2A41F6D2}"/>
              </a:ext>
            </a:extLst>
          </p:cNvPr>
          <p:cNvSpPr/>
          <p:nvPr/>
        </p:nvSpPr>
        <p:spPr>
          <a:xfrm>
            <a:off x="128016" y="1243065"/>
            <a:ext cx="9015984" cy="3046988"/>
          </a:xfrm>
          <a:prstGeom prst="rect">
            <a:avLst/>
          </a:prstGeom>
        </p:spPr>
        <p:txBody>
          <a:bodyPr wrap="square">
            <a:spAutoFit/>
          </a:bodyPr>
          <a:lstStyle/>
          <a:p>
            <a:pPr marL="457200" indent="-457200">
              <a:buFont typeface="Arial" panose="020B0604020202020204" pitchFamily="34" charset="0"/>
              <a:buChar char="•"/>
            </a:pPr>
            <a:r>
              <a:rPr lang="en-US" sz="2400" dirty="0"/>
              <a:t>Re-testing is the term that is used to describe the test applied to any part of a system that has been changed. Its purpose is to check that changes have been made correctly.</a:t>
            </a:r>
          </a:p>
          <a:p>
            <a:pPr marL="457200" indent="-457200">
              <a:buFont typeface="Arial" panose="020B0604020202020204" pitchFamily="34" charset="0"/>
              <a:buChar char="•"/>
            </a:pPr>
            <a:endParaRPr lang="en-US" sz="2400" dirty="0"/>
          </a:p>
          <a:p>
            <a:pPr marL="457200" indent="-457200">
              <a:buFont typeface="Arial" panose="020B0604020202020204" pitchFamily="34" charset="0"/>
              <a:buChar char="•"/>
            </a:pPr>
            <a:r>
              <a:rPr lang="en-US" sz="2400" dirty="0"/>
              <a:t>Quite often, as a result of carrying out dynamic testing, programs need to be corrected and re-tested in order to remove any defects found.</a:t>
            </a:r>
          </a:p>
          <a:p>
            <a:pPr marL="457200" indent="-457200">
              <a:buFont typeface="Arial" panose="020B0604020202020204" pitchFamily="34" charset="0"/>
              <a:buChar char="•"/>
            </a:pPr>
            <a:endParaRPr lang="en-US" sz="2400" dirty="0"/>
          </a:p>
        </p:txBody>
      </p:sp>
    </p:spTree>
    <p:extLst>
      <p:ext uri="{BB962C8B-B14F-4D97-AF65-F5344CB8AC3E}">
        <p14:creationId xmlns:p14="http://schemas.microsoft.com/office/powerpoint/2010/main" val="356206671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0" y="0"/>
            <a:ext cx="9144000" cy="122526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Lato Light" charset="0"/>
            </a:endParaRPr>
          </a:p>
        </p:txBody>
      </p:sp>
      <p:sp>
        <p:nvSpPr>
          <p:cNvPr id="11" name="TextBox 10"/>
          <p:cNvSpPr txBox="1"/>
          <p:nvPr/>
        </p:nvSpPr>
        <p:spPr>
          <a:xfrm>
            <a:off x="570160" y="295761"/>
            <a:ext cx="8065840" cy="646331"/>
          </a:xfrm>
          <a:prstGeom prst="rect">
            <a:avLst/>
          </a:prstGeom>
          <a:noFill/>
        </p:spPr>
        <p:txBody>
          <a:bodyPr wrap="square" rtlCol="0">
            <a:spAutoFit/>
          </a:bodyPr>
          <a:lstStyle/>
          <a:p>
            <a:pPr algn="ctr"/>
            <a:r>
              <a:rPr lang="en-US" sz="3600" b="1" dirty="0">
                <a:solidFill>
                  <a:schemeClr val="bg1"/>
                </a:solidFill>
                <a:latin typeface="Lato" charset="0"/>
                <a:ea typeface="Lato" charset="0"/>
                <a:cs typeface="Lato" charset="0"/>
              </a:rPr>
              <a:t>Regression Testing</a:t>
            </a:r>
          </a:p>
        </p:txBody>
      </p:sp>
      <p:sp>
        <p:nvSpPr>
          <p:cNvPr id="5" name="Rectangle 4">
            <a:extLst>
              <a:ext uri="{FF2B5EF4-FFF2-40B4-BE49-F238E27FC236}">
                <a16:creationId xmlns:a16="http://schemas.microsoft.com/office/drawing/2014/main" id="{2AF393C6-1414-6247-8304-3C5C2A41F6D2}"/>
              </a:ext>
            </a:extLst>
          </p:cNvPr>
          <p:cNvSpPr/>
          <p:nvPr/>
        </p:nvSpPr>
        <p:spPr>
          <a:xfrm>
            <a:off x="128016" y="1243065"/>
            <a:ext cx="9015984" cy="3785652"/>
          </a:xfrm>
          <a:prstGeom prst="rect">
            <a:avLst/>
          </a:prstGeom>
        </p:spPr>
        <p:txBody>
          <a:bodyPr wrap="square">
            <a:spAutoFit/>
          </a:bodyPr>
          <a:lstStyle/>
          <a:p>
            <a:pPr marL="457200" indent="-457200">
              <a:buFont typeface="Arial" panose="020B0604020202020204" pitchFamily="34" charset="0"/>
              <a:buChar char="•"/>
            </a:pPr>
            <a:r>
              <a:rPr lang="en-US" sz="2400" dirty="0"/>
              <a:t>Unlike re-testing, which is concerned with testing the changed parts of a system, regression testing is concerned with making sure that the unchanged parts of the system have not inadvertently been affected and still function as they should.</a:t>
            </a:r>
          </a:p>
          <a:p>
            <a:pPr marL="457200" indent="-457200">
              <a:buFont typeface="Arial" panose="020B0604020202020204" pitchFamily="34" charset="0"/>
              <a:buChar char="•"/>
            </a:pPr>
            <a:endParaRPr lang="en-US" sz="2400" dirty="0"/>
          </a:p>
          <a:p>
            <a:pPr marL="457200" indent="-457200">
              <a:buFont typeface="Arial" panose="020B0604020202020204" pitchFamily="34" charset="0"/>
              <a:buChar char="•"/>
            </a:pPr>
            <a:r>
              <a:rPr lang="en-US" sz="2400" dirty="0"/>
              <a:t>As regression tests are based on the unchanged parts of the system, they lend themselves to be designed and built once and then used repeatedly. Therefore, regression tests are ideal candidates for automation, using a test tool. The tests can be stored within the tool and executed whenever they are needed.</a:t>
            </a:r>
          </a:p>
        </p:txBody>
      </p:sp>
    </p:spTree>
    <p:extLst>
      <p:ext uri="{BB962C8B-B14F-4D97-AF65-F5344CB8AC3E}">
        <p14:creationId xmlns:p14="http://schemas.microsoft.com/office/powerpoint/2010/main" val="253705777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0" y="0"/>
            <a:ext cx="9144000" cy="122526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Lato Light" charset="0"/>
            </a:endParaRPr>
          </a:p>
        </p:txBody>
      </p:sp>
      <p:sp>
        <p:nvSpPr>
          <p:cNvPr id="11" name="TextBox 10"/>
          <p:cNvSpPr txBox="1"/>
          <p:nvPr/>
        </p:nvSpPr>
        <p:spPr>
          <a:xfrm>
            <a:off x="570160" y="295761"/>
            <a:ext cx="8065840" cy="646331"/>
          </a:xfrm>
          <a:prstGeom prst="rect">
            <a:avLst/>
          </a:prstGeom>
          <a:noFill/>
        </p:spPr>
        <p:txBody>
          <a:bodyPr wrap="square" rtlCol="0">
            <a:spAutoFit/>
          </a:bodyPr>
          <a:lstStyle/>
          <a:p>
            <a:pPr algn="ctr"/>
            <a:r>
              <a:rPr lang="en-US" sz="3600" b="1" dirty="0">
                <a:solidFill>
                  <a:schemeClr val="bg1"/>
                </a:solidFill>
                <a:latin typeface="Lato" charset="0"/>
                <a:ea typeface="Lato" charset="0"/>
                <a:cs typeface="Lato" charset="0"/>
              </a:rPr>
              <a:t>Example</a:t>
            </a:r>
          </a:p>
        </p:txBody>
      </p:sp>
      <p:pic>
        <p:nvPicPr>
          <p:cNvPr id="3" name="Picture 2">
            <a:extLst>
              <a:ext uri="{FF2B5EF4-FFF2-40B4-BE49-F238E27FC236}">
                <a16:creationId xmlns:a16="http://schemas.microsoft.com/office/drawing/2014/main" id="{AF2B6D12-5BD3-4998-83DF-808AA4621503}"/>
              </a:ext>
            </a:extLst>
          </p:cNvPr>
          <p:cNvPicPr>
            <a:picLocks noChangeAspect="1"/>
          </p:cNvPicPr>
          <p:nvPr/>
        </p:nvPicPr>
        <p:blipFill>
          <a:blip r:embed="rId3"/>
          <a:stretch>
            <a:fillRect/>
          </a:stretch>
        </p:blipFill>
        <p:spPr>
          <a:xfrm>
            <a:off x="136289" y="1698172"/>
            <a:ext cx="8871421" cy="4739740"/>
          </a:xfrm>
          <a:prstGeom prst="rect">
            <a:avLst/>
          </a:prstGeom>
        </p:spPr>
      </p:pic>
    </p:spTree>
    <p:extLst>
      <p:ext uri="{BB962C8B-B14F-4D97-AF65-F5344CB8AC3E}">
        <p14:creationId xmlns:p14="http://schemas.microsoft.com/office/powerpoint/2010/main" val="369104382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0" y="0"/>
            <a:ext cx="9144000" cy="122526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Lato Light" charset="0"/>
            </a:endParaRPr>
          </a:p>
        </p:txBody>
      </p:sp>
      <p:sp>
        <p:nvSpPr>
          <p:cNvPr id="11" name="TextBox 10"/>
          <p:cNvSpPr txBox="1"/>
          <p:nvPr/>
        </p:nvSpPr>
        <p:spPr>
          <a:xfrm>
            <a:off x="570160" y="295761"/>
            <a:ext cx="8065840" cy="646331"/>
          </a:xfrm>
          <a:prstGeom prst="rect">
            <a:avLst/>
          </a:prstGeom>
          <a:noFill/>
        </p:spPr>
        <p:txBody>
          <a:bodyPr wrap="square" rtlCol="0">
            <a:spAutoFit/>
          </a:bodyPr>
          <a:lstStyle/>
          <a:p>
            <a:pPr algn="ctr"/>
            <a:r>
              <a:rPr lang="en-US" sz="3600" b="1" dirty="0">
                <a:solidFill>
                  <a:schemeClr val="bg1"/>
                </a:solidFill>
                <a:latin typeface="Lato" charset="0"/>
                <a:ea typeface="Lato" charset="0"/>
                <a:cs typeface="Lato" charset="0"/>
              </a:rPr>
              <a:t>Testing in SDLC</a:t>
            </a:r>
          </a:p>
        </p:txBody>
      </p:sp>
      <p:sp>
        <p:nvSpPr>
          <p:cNvPr id="5" name="Rectangle 4">
            <a:extLst>
              <a:ext uri="{FF2B5EF4-FFF2-40B4-BE49-F238E27FC236}">
                <a16:creationId xmlns:a16="http://schemas.microsoft.com/office/drawing/2014/main" id="{2AF393C6-1414-6247-8304-3C5C2A41F6D2}"/>
              </a:ext>
            </a:extLst>
          </p:cNvPr>
          <p:cNvSpPr/>
          <p:nvPr/>
        </p:nvSpPr>
        <p:spPr>
          <a:xfrm>
            <a:off x="128016" y="1243065"/>
            <a:ext cx="9015984" cy="4401205"/>
          </a:xfrm>
          <a:prstGeom prst="rect">
            <a:avLst/>
          </a:prstGeom>
        </p:spPr>
        <p:txBody>
          <a:bodyPr wrap="square">
            <a:spAutoFit/>
          </a:bodyPr>
          <a:lstStyle/>
          <a:p>
            <a:pPr marL="457200" indent="-457200">
              <a:buFont typeface="Arial" panose="020B0604020202020204" pitchFamily="34" charset="0"/>
              <a:buChar char="•"/>
            </a:pPr>
            <a:r>
              <a:rPr lang="en-US" sz="2000" dirty="0"/>
              <a:t>In the Waterfall model, testing is shown as a discrete stage, between development and implementation, indicating that all testing activity is carried out after the solution has been developed and before it is deployed for operational use.</a:t>
            </a:r>
          </a:p>
          <a:p>
            <a:pPr marL="457200" indent="-457200">
              <a:buFont typeface="Arial" panose="020B0604020202020204" pitchFamily="34" charset="0"/>
              <a:buChar char="•"/>
            </a:pPr>
            <a:endParaRPr lang="en-US" sz="2000" dirty="0"/>
          </a:p>
          <a:p>
            <a:pPr marL="457200" indent="-457200">
              <a:buFont typeface="Arial" panose="020B0604020202020204" pitchFamily="34" charset="0"/>
              <a:buChar char="•"/>
            </a:pPr>
            <a:r>
              <a:rPr lang="en-US" sz="2000" dirty="0"/>
              <a:t>In the Incremental model, testing also takes place at the stage between development and implementation but is repeated for each increment.</a:t>
            </a:r>
          </a:p>
          <a:p>
            <a:pPr marL="457200" indent="-457200">
              <a:buFont typeface="Arial" panose="020B0604020202020204" pitchFamily="34" charset="0"/>
              <a:buChar char="•"/>
            </a:pPr>
            <a:endParaRPr lang="en-US" sz="2000" dirty="0"/>
          </a:p>
          <a:p>
            <a:pPr marL="457200" indent="-457200">
              <a:buFont typeface="Arial" panose="020B0604020202020204" pitchFamily="34" charset="0"/>
              <a:buChar char="•"/>
            </a:pPr>
            <a:r>
              <a:rPr lang="en-US" sz="2000" dirty="0"/>
              <a:t>In the Agile model, testing is a continuous activity and, through the building of prototypes, is used to help develop an understanding of the requirements as well as the capability of the technology. Successive prototypes are put through greater and more rigorous tests, which are based on two key principles:</a:t>
            </a:r>
          </a:p>
          <a:p>
            <a:pPr marL="914400" lvl="1" indent="-457200">
              <a:buFont typeface="Arial" panose="020B0604020202020204" pitchFamily="34" charset="0"/>
              <a:buChar char="•"/>
            </a:pPr>
            <a:r>
              <a:rPr lang="en-US" sz="2000" b="1" dirty="0"/>
              <a:t>Verification</a:t>
            </a:r>
            <a:r>
              <a:rPr lang="en-US" sz="2000" dirty="0"/>
              <a:t> – that the system is being built in the right way; and</a:t>
            </a:r>
          </a:p>
          <a:p>
            <a:pPr marL="914400" lvl="1" indent="-457200">
              <a:buFont typeface="Arial" panose="020B0604020202020204" pitchFamily="34" charset="0"/>
              <a:buChar char="•"/>
            </a:pPr>
            <a:r>
              <a:rPr lang="en-US" sz="2000" b="1" dirty="0"/>
              <a:t>Validation</a:t>
            </a:r>
            <a:r>
              <a:rPr lang="en-US" sz="2000" dirty="0"/>
              <a:t> – that the right system is being built.</a:t>
            </a:r>
          </a:p>
        </p:txBody>
      </p:sp>
    </p:spTree>
    <p:extLst>
      <p:ext uri="{BB962C8B-B14F-4D97-AF65-F5344CB8AC3E}">
        <p14:creationId xmlns:p14="http://schemas.microsoft.com/office/powerpoint/2010/main" val="334305101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0" y="0"/>
            <a:ext cx="9144000" cy="122526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Lato Light" charset="0"/>
            </a:endParaRPr>
          </a:p>
        </p:txBody>
      </p:sp>
      <p:sp>
        <p:nvSpPr>
          <p:cNvPr id="11" name="TextBox 10"/>
          <p:cNvSpPr txBox="1"/>
          <p:nvPr/>
        </p:nvSpPr>
        <p:spPr>
          <a:xfrm>
            <a:off x="570160" y="295761"/>
            <a:ext cx="8065840" cy="646331"/>
          </a:xfrm>
          <a:prstGeom prst="rect">
            <a:avLst/>
          </a:prstGeom>
          <a:noFill/>
        </p:spPr>
        <p:txBody>
          <a:bodyPr wrap="square" rtlCol="0">
            <a:spAutoFit/>
          </a:bodyPr>
          <a:lstStyle/>
          <a:p>
            <a:pPr algn="ctr"/>
            <a:r>
              <a:rPr lang="en-US" sz="3600" b="1" dirty="0">
                <a:solidFill>
                  <a:schemeClr val="bg1"/>
                </a:solidFill>
                <a:latin typeface="Lato" charset="0"/>
                <a:ea typeface="Lato" charset="0"/>
                <a:cs typeface="Lato" charset="0"/>
              </a:rPr>
              <a:t>Testing in Lifecycle</a:t>
            </a:r>
          </a:p>
        </p:txBody>
      </p:sp>
      <p:pic>
        <p:nvPicPr>
          <p:cNvPr id="2" name="Picture 1">
            <a:extLst>
              <a:ext uri="{FF2B5EF4-FFF2-40B4-BE49-F238E27FC236}">
                <a16:creationId xmlns:a16="http://schemas.microsoft.com/office/drawing/2014/main" id="{1549BF46-00EE-4712-AAF5-050A9D6E59DA}"/>
              </a:ext>
            </a:extLst>
          </p:cNvPr>
          <p:cNvPicPr>
            <a:picLocks noChangeAspect="1"/>
          </p:cNvPicPr>
          <p:nvPr/>
        </p:nvPicPr>
        <p:blipFill>
          <a:blip r:embed="rId3"/>
          <a:stretch>
            <a:fillRect/>
          </a:stretch>
        </p:blipFill>
        <p:spPr>
          <a:xfrm>
            <a:off x="552101" y="1770915"/>
            <a:ext cx="8039797" cy="4404742"/>
          </a:xfrm>
          <a:prstGeom prst="rect">
            <a:avLst/>
          </a:prstGeom>
        </p:spPr>
      </p:pic>
    </p:spTree>
    <p:extLst>
      <p:ext uri="{BB962C8B-B14F-4D97-AF65-F5344CB8AC3E}">
        <p14:creationId xmlns:p14="http://schemas.microsoft.com/office/powerpoint/2010/main" val="36634685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0" y="0"/>
            <a:ext cx="9144000" cy="122526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Lato Light" charset="0"/>
            </a:endParaRPr>
          </a:p>
        </p:txBody>
      </p:sp>
      <p:sp>
        <p:nvSpPr>
          <p:cNvPr id="11" name="TextBox 10"/>
          <p:cNvSpPr txBox="1"/>
          <p:nvPr/>
        </p:nvSpPr>
        <p:spPr>
          <a:xfrm>
            <a:off x="570160" y="295761"/>
            <a:ext cx="8065840" cy="646331"/>
          </a:xfrm>
          <a:prstGeom prst="rect">
            <a:avLst/>
          </a:prstGeom>
          <a:noFill/>
        </p:spPr>
        <p:txBody>
          <a:bodyPr wrap="square" rtlCol="0">
            <a:spAutoFit/>
          </a:bodyPr>
          <a:lstStyle/>
          <a:p>
            <a:pPr algn="ctr"/>
            <a:r>
              <a:rPr lang="en-US" sz="3600" b="1" dirty="0">
                <a:solidFill>
                  <a:schemeClr val="bg1"/>
                </a:solidFill>
                <a:latin typeface="Lato" charset="0"/>
                <a:ea typeface="Lato" charset="0"/>
                <a:cs typeface="Lato" charset="0"/>
              </a:rPr>
              <a:t>Test Plan</a:t>
            </a:r>
          </a:p>
        </p:txBody>
      </p:sp>
      <p:sp>
        <p:nvSpPr>
          <p:cNvPr id="5" name="Rectangle 4">
            <a:extLst>
              <a:ext uri="{FF2B5EF4-FFF2-40B4-BE49-F238E27FC236}">
                <a16:creationId xmlns:a16="http://schemas.microsoft.com/office/drawing/2014/main" id="{2AF393C6-1414-6247-8304-3C5C2A41F6D2}"/>
              </a:ext>
            </a:extLst>
          </p:cNvPr>
          <p:cNvSpPr/>
          <p:nvPr/>
        </p:nvSpPr>
        <p:spPr>
          <a:xfrm>
            <a:off x="128016" y="1243065"/>
            <a:ext cx="9015984" cy="6001643"/>
          </a:xfrm>
          <a:prstGeom prst="rect">
            <a:avLst/>
          </a:prstGeom>
        </p:spPr>
        <p:txBody>
          <a:bodyPr wrap="square" numCol="2">
            <a:spAutoFit/>
          </a:bodyPr>
          <a:lstStyle/>
          <a:p>
            <a:pPr marL="457200" indent="-457200">
              <a:buFont typeface="Arial" panose="020B0604020202020204" pitchFamily="34" charset="0"/>
              <a:buChar char="•"/>
            </a:pPr>
            <a:r>
              <a:rPr lang="en-US" sz="2000" dirty="0"/>
              <a:t>Author and sign-offs</a:t>
            </a:r>
          </a:p>
          <a:p>
            <a:pPr marL="457200" indent="-457200">
              <a:buFont typeface="Arial" panose="020B0604020202020204" pitchFamily="34" charset="0"/>
              <a:buChar char="•"/>
            </a:pPr>
            <a:r>
              <a:rPr lang="en-US" sz="2000" dirty="0"/>
              <a:t>Revision history</a:t>
            </a:r>
          </a:p>
          <a:p>
            <a:pPr marL="457200" indent="-457200">
              <a:buFont typeface="Arial" panose="020B0604020202020204" pitchFamily="34" charset="0"/>
              <a:buChar char="•"/>
            </a:pPr>
            <a:r>
              <a:rPr lang="en-US" sz="2000" dirty="0"/>
              <a:t>Purpose</a:t>
            </a:r>
          </a:p>
          <a:p>
            <a:pPr marL="457200" indent="-457200">
              <a:buFont typeface="Arial" panose="020B0604020202020204" pitchFamily="34" charset="0"/>
              <a:buChar char="•"/>
            </a:pPr>
            <a:r>
              <a:rPr lang="en-US" sz="2000" dirty="0"/>
              <a:t>System overview</a:t>
            </a:r>
          </a:p>
          <a:p>
            <a:pPr marL="457200" indent="-457200">
              <a:buFont typeface="Arial" panose="020B0604020202020204" pitchFamily="34" charset="0"/>
              <a:buChar char="•"/>
            </a:pPr>
            <a:r>
              <a:rPr lang="en-US" sz="2000" dirty="0"/>
              <a:t>Stakeholders</a:t>
            </a:r>
          </a:p>
          <a:p>
            <a:pPr marL="457200" indent="-457200">
              <a:buFont typeface="Arial" panose="020B0604020202020204" pitchFamily="34" charset="0"/>
              <a:buChar char="•"/>
            </a:pPr>
            <a:r>
              <a:rPr lang="en-US" sz="2000" dirty="0"/>
              <a:t>Roles and responsibilities</a:t>
            </a:r>
          </a:p>
          <a:p>
            <a:pPr marL="457200" indent="-457200">
              <a:buFont typeface="Arial" panose="020B0604020202020204" pitchFamily="34" charset="0"/>
              <a:buChar char="•"/>
            </a:pPr>
            <a:r>
              <a:rPr lang="en-US" sz="2000" dirty="0"/>
              <a:t>Test schedule</a:t>
            </a:r>
          </a:p>
          <a:p>
            <a:pPr marL="914400" lvl="1" indent="-457200">
              <a:buFont typeface="Arial" panose="020B0604020202020204" pitchFamily="34" charset="0"/>
              <a:buChar char="•"/>
            </a:pPr>
            <a:r>
              <a:rPr lang="en-US" sz="1600" dirty="0"/>
              <a:t>which dynamic test stages will be carried out;</a:t>
            </a:r>
          </a:p>
          <a:p>
            <a:pPr marL="914400" lvl="1" indent="-457200">
              <a:buFont typeface="Arial" panose="020B0604020202020204" pitchFamily="34" charset="0"/>
              <a:buChar char="•"/>
            </a:pPr>
            <a:r>
              <a:rPr lang="en-US" sz="1600" dirty="0"/>
              <a:t>when each stage will start and end, and how long each stage is expected to last;</a:t>
            </a:r>
          </a:p>
          <a:p>
            <a:pPr marL="914400" lvl="1" indent="-457200">
              <a:buFont typeface="Arial" panose="020B0604020202020204" pitchFamily="34" charset="0"/>
              <a:buChar char="•"/>
            </a:pPr>
            <a:r>
              <a:rPr lang="en-US" sz="1600" dirty="0"/>
              <a:t>how many cycles, or passes, are planned for in each stage;</a:t>
            </a:r>
          </a:p>
          <a:p>
            <a:pPr marL="914400" lvl="1" indent="-457200">
              <a:buFont typeface="Arial" panose="020B0604020202020204" pitchFamily="34" charset="0"/>
              <a:buChar char="•"/>
            </a:pPr>
            <a:r>
              <a:rPr lang="en-US" sz="1600" dirty="0"/>
              <a:t>for each stage and cycle, a detailed schedule describes when each test will be carried out, and by who.</a:t>
            </a:r>
          </a:p>
          <a:p>
            <a:pPr marL="457200" indent="-457200">
              <a:buFont typeface="Arial" panose="020B0604020202020204" pitchFamily="34" charset="0"/>
              <a:buChar char="•"/>
            </a:pPr>
            <a:r>
              <a:rPr lang="en-US" sz="2000" dirty="0"/>
              <a:t>Defect management</a:t>
            </a:r>
          </a:p>
          <a:p>
            <a:pPr marL="457200" indent="-457200">
              <a:buFont typeface="Arial" panose="020B0604020202020204" pitchFamily="34" charset="0"/>
              <a:buChar char="•"/>
            </a:pPr>
            <a:endParaRPr lang="en-US" sz="2000" dirty="0"/>
          </a:p>
          <a:p>
            <a:pPr marL="457200" indent="-457200">
              <a:buFont typeface="Arial" panose="020B0604020202020204" pitchFamily="34" charset="0"/>
              <a:buChar char="•"/>
            </a:pPr>
            <a:endParaRPr lang="en-US" sz="2000" dirty="0"/>
          </a:p>
          <a:p>
            <a:pPr marL="457200" indent="-457200">
              <a:buFont typeface="Arial" panose="020B0604020202020204" pitchFamily="34" charset="0"/>
              <a:buChar char="•"/>
            </a:pPr>
            <a:endParaRPr lang="en-US" sz="2000" dirty="0"/>
          </a:p>
          <a:p>
            <a:pPr marL="457200" indent="-457200">
              <a:buFont typeface="Arial" panose="020B0604020202020204" pitchFamily="34" charset="0"/>
              <a:buChar char="•"/>
            </a:pPr>
            <a:endParaRPr lang="en-US" sz="2000" dirty="0"/>
          </a:p>
          <a:p>
            <a:pPr marL="457200" indent="-457200">
              <a:buFont typeface="Arial" panose="020B0604020202020204" pitchFamily="34" charset="0"/>
              <a:buChar char="•"/>
            </a:pPr>
            <a:r>
              <a:rPr lang="en-US" sz="2000" dirty="0"/>
              <a:t>Test data</a:t>
            </a:r>
          </a:p>
          <a:p>
            <a:pPr marL="914400" lvl="1" indent="-457200">
              <a:buFont typeface="Arial" panose="020B0604020202020204" pitchFamily="34" charset="0"/>
              <a:buChar char="•"/>
            </a:pPr>
            <a:r>
              <a:rPr lang="en-US" sz="1600" dirty="0"/>
              <a:t>This provides definitions for the </a:t>
            </a:r>
            <a:r>
              <a:rPr lang="en-US" sz="1600" dirty="0" err="1"/>
              <a:t>categorisation</a:t>
            </a:r>
            <a:r>
              <a:rPr lang="en-US" sz="1600" dirty="0"/>
              <a:t> of defects, for example, a critical defect is one which prevents testing from continuing. It also describes how defects will be recorded, and allocated to developers for correction.</a:t>
            </a:r>
          </a:p>
          <a:p>
            <a:pPr marL="457200" indent="-457200">
              <a:buFont typeface="Arial" panose="020B0604020202020204" pitchFamily="34" charset="0"/>
              <a:buChar char="•"/>
            </a:pPr>
            <a:r>
              <a:rPr lang="en-US" sz="2000" dirty="0"/>
              <a:t>Test scenarios and test scripts</a:t>
            </a:r>
          </a:p>
          <a:p>
            <a:pPr marL="457200" indent="-457200">
              <a:buFont typeface="Arial" panose="020B0604020202020204" pitchFamily="34" charset="0"/>
              <a:buChar char="•"/>
            </a:pPr>
            <a:r>
              <a:rPr lang="en-US" sz="2000" dirty="0"/>
              <a:t>Traceability</a:t>
            </a:r>
          </a:p>
          <a:p>
            <a:pPr marL="457200" indent="-457200">
              <a:buFont typeface="Arial" panose="020B0604020202020204" pitchFamily="34" charset="0"/>
              <a:buChar char="•"/>
            </a:pPr>
            <a:r>
              <a:rPr lang="en-US" sz="2000" dirty="0"/>
              <a:t>Test tools</a:t>
            </a:r>
          </a:p>
          <a:p>
            <a:pPr marL="457200" indent="-457200">
              <a:buFont typeface="Arial" panose="020B0604020202020204" pitchFamily="34" charset="0"/>
              <a:buChar char="•"/>
            </a:pPr>
            <a:r>
              <a:rPr lang="en-US" sz="2000" dirty="0"/>
              <a:t>Test reports</a:t>
            </a:r>
          </a:p>
          <a:p>
            <a:pPr marL="457200" indent="-457200">
              <a:buFont typeface="Arial" panose="020B0604020202020204" pitchFamily="34" charset="0"/>
              <a:buChar char="•"/>
            </a:pPr>
            <a:r>
              <a:rPr lang="en-US" sz="2000" dirty="0"/>
              <a:t>Entry Criteria</a:t>
            </a:r>
          </a:p>
          <a:p>
            <a:pPr marL="914400" lvl="1" indent="-457200">
              <a:buFont typeface="Arial" panose="020B0604020202020204" pitchFamily="34" charset="0"/>
              <a:buChar char="•"/>
            </a:pPr>
            <a:r>
              <a:rPr lang="en-US" sz="1600" dirty="0"/>
              <a:t>the detailed checks that must be successfully completed before each test stage can be given the go-ahead to proceed.</a:t>
            </a:r>
          </a:p>
          <a:p>
            <a:pPr marL="457200" indent="-457200">
              <a:buFont typeface="Arial" panose="020B0604020202020204" pitchFamily="34" charset="0"/>
              <a:buChar char="•"/>
            </a:pPr>
            <a:r>
              <a:rPr lang="en-US" sz="2000" dirty="0"/>
              <a:t>Exit Criteria</a:t>
            </a:r>
          </a:p>
          <a:p>
            <a:pPr marL="914400" lvl="1" indent="-457200">
              <a:buFont typeface="Arial" panose="020B0604020202020204" pitchFamily="34" charset="0"/>
              <a:buChar char="•"/>
            </a:pPr>
            <a:r>
              <a:rPr lang="en-US" sz="1600" dirty="0"/>
              <a:t>the checks that must be successfully completed before the each test stage can be considered to be complete.</a:t>
            </a:r>
          </a:p>
        </p:txBody>
      </p:sp>
    </p:spTree>
    <p:extLst>
      <p:ext uri="{BB962C8B-B14F-4D97-AF65-F5344CB8AC3E}">
        <p14:creationId xmlns:p14="http://schemas.microsoft.com/office/powerpoint/2010/main" val="2803687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3344</TotalTime>
  <Words>2501</Words>
  <Application>Microsoft Macintosh PowerPoint</Application>
  <PresentationFormat>On-screen Show (4:3)</PresentationFormat>
  <Paragraphs>219</Paragraphs>
  <Slides>27</Slides>
  <Notes>27</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27</vt:i4>
      </vt:variant>
    </vt:vector>
  </HeadingPairs>
  <TitlesOfParts>
    <vt:vector size="34" baseType="lpstr">
      <vt:lpstr>Arial</vt:lpstr>
      <vt:lpstr>Calibri</vt:lpstr>
      <vt:lpstr>Lato</vt:lpstr>
      <vt:lpstr>Lato Heavy</vt:lpstr>
      <vt:lpstr>Lato Light</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ITB</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IF4043 Sistem Informasi Lanjut</dc:title>
  <dc:creator>W G</dc:creator>
  <cp:lastModifiedBy>Ir. Windy Gambetta, M.B.A.</cp:lastModifiedBy>
  <cp:revision>98</cp:revision>
  <dcterms:created xsi:type="dcterms:W3CDTF">2016-08-24T04:55:45Z</dcterms:created>
  <dcterms:modified xsi:type="dcterms:W3CDTF">2025-05-07T01:00:54Z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38b525e5-f3da-4501-8f1e-526b6769fc56_Enabled">
    <vt:lpwstr>true</vt:lpwstr>
  </property>
  <property fmtid="{D5CDD505-2E9C-101B-9397-08002B2CF9AE}" pid="3" name="MSIP_Label_38b525e5-f3da-4501-8f1e-526b6769fc56_SetDate">
    <vt:lpwstr>2025-05-07T01:00:41Z</vt:lpwstr>
  </property>
  <property fmtid="{D5CDD505-2E9C-101B-9397-08002B2CF9AE}" pid="4" name="MSIP_Label_38b525e5-f3da-4501-8f1e-526b6769fc56_Method">
    <vt:lpwstr>Standard</vt:lpwstr>
  </property>
  <property fmtid="{D5CDD505-2E9C-101B-9397-08002B2CF9AE}" pid="5" name="MSIP_Label_38b525e5-f3da-4501-8f1e-526b6769fc56_Name">
    <vt:lpwstr>defa4170-0d19-0005-0004-bc88714345d2</vt:lpwstr>
  </property>
  <property fmtid="{D5CDD505-2E9C-101B-9397-08002B2CF9AE}" pid="6" name="MSIP_Label_38b525e5-f3da-4501-8f1e-526b6769fc56_SiteId">
    <vt:lpwstr>db6e1183-4c65-405c-82ce-7cd53fa6e9dc</vt:lpwstr>
  </property>
  <property fmtid="{D5CDD505-2E9C-101B-9397-08002B2CF9AE}" pid="7" name="MSIP_Label_38b525e5-f3da-4501-8f1e-526b6769fc56_ActionId">
    <vt:lpwstr>0685fea3-bff1-4313-840a-5cbc87023e02</vt:lpwstr>
  </property>
  <property fmtid="{D5CDD505-2E9C-101B-9397-08002B2CF9AE}" pid="8" name="MSIP_Label_38b525e5-f3da-4501-8f1e-526b6769fc56_ContentBits">
    <vt:lpwstr>0</vt:lpwstr>
  </property>
  <property fmtid="{D5CDD505-2E9C-101B-9397-08002B2CF9AE}" pid="9" name="MSIP_Label_38b525e5-f3da-4501-8f1e-526b6769fc56_Tag">
    <vt:lpwstr>50, 3, 0, 1</vt:lpwstr>
  </property>
</Properties>
</file>