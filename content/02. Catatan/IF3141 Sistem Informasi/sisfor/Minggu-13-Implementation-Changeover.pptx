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Lato" panose="020F0502020204030203" pitchFamily="34" charset="0"/>
      <p:regular r:id="rId25"/>
      <p:bold r:id="rId26"/>
      <p:italic r:id="rId27"/>
      <p:boldItalic r:id="rId28"/>
    </p:embeddedFont>
    <p:embeddedFont>
      <p:font typeface="Lato Black" panose="020F0502020204030203" pitchFamily="34" charset="0"/>
      <p:bold r:id="rId29"/>
      <p:italic r:id="rId30"/>
      <p:boldItalic r:id="rId31"/>
    </p:embeddedFont>
    <p:embeddedFont>
      <p:font typeface="Lato Light" panose="020F0502020204030203"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i5jARoGcd6OujQkV6jFE8u7MzrX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6"/>
    <p:restoredTop sz="94623"/>
  </p:normalViewPr>
  <p:slideViewPr>
    <p:cSldViewPr snapToGrid="0">
      <p:cViewPr varScale="1">
        <p:scale>
          <a:sx n="117" d="100"/>
          <a:sy n="117" d="100"/>
        </p:scale>
        <p:origin x="1664" y="1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01" name="Google Shape;10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09" name="Google Shape;10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17" name="Google Shape;11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25" name="Google Shape;12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34" name="Google Shape;13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42" name="Google Shape;14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51" name="Google Shape;15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59" name="Google Shape;15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67" name="Google Shape;16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77" name="Google Shape;17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85" name="Google Shape;18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93" name="Google Shape;19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01" name="Google Shape;201;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09" name="Google Shape;20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17" name="Google Shape;21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25" name="Google Shape;225;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35" name="Google Shape;23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45" name="Google Shape;245;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55" name="Google Shape;255;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65" name="Google Shape;26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73" name="Google Shape;273;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sign">
  <p:cSld name="Design">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Design">
  <p:cSld name="3_Design">
    <p:spTree>
      <p:nvGrpSpPr>
        <p:cNvPr id="1" name="Shape 16"/>
        <p:cNvGrpSpPr/>
        <p:nvPr/>
      </p:nvGrpSpPr>
      <p:grpSpPr>
        <a:xfrm>
          <a:off x="0" y="0"/>
          <a:ext cx="0" cy="0"/>
          <a:chOff x="0" y="0"/>
          <a:chExt cx="0" cy="0"/>
        </a:xfrm>
      </p:grpSpPr>
      <p:sp>
        <p:nvSpPr>
          <p:cNvPr id="17" name="Google Shape;17;p25"/>
          <p:cNvSpPr>
            <a:spLocks noGrp="1"/>
          </p:cNvSpPr>
          <p:nvPr>
            <p:ph type="pic" idx="2"/>
          </p:nvPr>
        </p:nvSpPr>
        <p:spPr>
          <a:xfrm>
            <a:off x="4658500" y="3429001"/>
            <a:ext cx="4485500" cy="3429000"/>
          </a:xfrm>
          <a:prstGeom prst="rect">
            <a:avLst/>
          </a:prstGeom>
          <a:solidFill>
            <a:srgbClr val="F2F2F2"/>
          </a:solidFill>
          <a:ln>
            <a:noFill/>
          </a:ln>
        </p:spPr>
      </p:sp>
      <p:sp>
        <p:nvSpPr>
          <p:cNvPr id="18" name="Google Shape;18;p25"/>
          <p:cNvSpPr>
            <a:spLocks noGrp="1"/>
          </p:cNvSpPr>
          <p:nvPr>
            <p:ph type="pic" idx="3"/>
          </p:nvPr>
        </p:nvSpPr>
        <p:spPr>
          <a:xfrm>
            <a:off x="0" y="3429001"/>
            <a:ext cx="4485500" cy="3429000"/>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2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3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3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3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3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3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5" name="Google Shape;65;p3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6" name="Google Shape;66;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3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34"/>
          <p:cNvSpPr>
            <a:spLocks noGrp="1"/>
          </p:cNvSpPr>
          <p:nvPr>
            <p:ph type="pic" idx="2"/>
          </p:nvPr>
        </p:nvSpPr>
        <p:spPr>
          <a:xfrm>
            <a:off x="1792288" y="612775"/>
            <a:ext cx="5486400" cy="4114800"/>
          </a:xfrm>
          <a:prstGeom prst="rect">
            <a:avLst/>
          </a:prstGeom>
          <a:noFill/>
          <a:ln>
            <a:noFill/>
          </a:ln>
        </p:spPr>
      </p:sp>
      <p:sp>
        <p:nvSpPr>
          <p:cNvPr id="72" name="Google Shape;72;p3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3" name="Google Shape;7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3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3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3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p:nvPr/>
        </p:nvSpPr>
        <p:spPr>
          <a:xfrm>
            <a:off x="0" y="461665"/>
            <a:ext cx="9143999" cy="6096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ato Light"/>
              <a:ea typeface="Lato Light"/>
              <a:cs typeface="Lato Light"/>
              <a:sym typeface="Lato Light"/>
            </a:endParaRPr>
          </a:p>
        </p:txBody>
      </p:sp>
      <p:grpSp>
        <p:nvGrpSpPr>
          <p:cNvPr id="94" name="Google Shape;94;p1"/>
          <p:cNvGrpSpPr/>
          <p:nvPr/>
        </p:nvGrpSpPr>
        <p:grpSpPr>
          <a:xfrm>
            <a:off x="597195" y="1489570"/>
            <a:ext cx="8546804" cy="3139320"/>
            <a:chOff x="597195" y="1417888"/>
            <a:chExt cx="5391623" cy="3139320"/>
          </a:xfrm>
        </p:grpSpPr>
        <p:sp>
          <p:nvSpPr>
            <p:cNvPr id="95" name="Google Shape;95;p1"/>
            <p:cNvSpPr txBox="1"/>
            <p:nvPr/>
          </p:nvSpPr>
          <p:spPr>
            <a:xfrm>
              <a:off x="597195" y="1417888"/>
              <a:ext cx="5391623"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i="0" u="none" strike="noStrike" cap="none">
                  <a:solidFill>
                    <a:schemeClr val="lt1"/>
                  </a:solidFill>
                  <a:latin typeface="Lato Black"/>
                  <a:ea typeface="Lato Black"/>
                  <a:cs typeface="Lato Black"/>
                  <a:sym typeface="Lato Black"/>
                </a:rPr>
                <a:t>IF3141</a:t>
              </a:r>
              <a:endParaRPr/>
            </a:p>
            <a:p>
              <a:pPr marL="0" marR="0" lvl="0" indent="0" algn="l" rtl="0">
                <a:spcBef>
                  <a:spcPts val="0"/>
                </a:spcBef>
                <a:spcAft>
                  <a:spcPts val="0"/>
                </a:spcAft>
                <a:buNone/>
              </a:pPr>
              <a:r>
                <a:rPr lang="en-US" sz="5400" b="1">
                  <a:solidFill>
                    <a:schemeClr val="lt1"/>
                  </a:solidFill>
                  <a:latin typeface="Lato Black"/>
                  <a:ea typeface="Lato Black"/>
                  <a:cs typeface="Lato Black"/>
                  <a:sym typeface="Lato Black"/>
                </a:rPr>
                <a:t>SISTEM INFORMASI</a:t>
              </a:r>
              <a:endParaRPr/>
            </a:p>
            <a:p>
              <a:pPr marL="0" marR="0" lvl="0" indent="0" algn="l" rtl="0">
                <a:spcBef>
                  <a:spcPts val="0"/>
                </a:spcBef>
                <a:spcAft>
                  <a:spcPts val="0"/>
                </a:spcAft>
                <a:buNone/>
              </a:pPr>
              <a:r>
                <a:rPr lang="en-US" sz="3200" b="1">
                  <a:solidFill>
                    <a:schemeClr val="lt1"/>
                  </a:solidFill>
                  <a:latin typeface="Lato Black"/>
                  <a:ea typeface="Lato Black"/>
                  <a:cs typeface="Lato Black"/>
                  <a:sym typeface="Lato Black"/>
                </a:rPr>
                <a:t>Implementation and Changeover</a:t>
              </a:r>
              <a:endParaRPr sz="4000" b="1">
                <a:solidFill>
                  <a:schemeClr val="lt1"/>
                </a:solidFill>
                <a:latin typeface="Lato Black"/>
                <a:ea typeface="Lato Black"/>
                <a:cs typeface="Lato Black"/>
                <a:sym typeface="Lato Black"/>
              </a:endParaRPr>
            </a:p>
          </p:txBody>
        </p:sp>
        <p:sp>
          <p:nvSpPr>
            <p:cNvPr id="96" name="Google Shape;96;p1"/>
            <p:cNvSpPr/>
            <p:nvPr/>
          </p:nvSpPr>
          <p:spPr>
            <a:xfrm>
              <a:off x="607242" y="3972433"/>
              <a:ext cx="538157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rgbClr val="B7CCE4"/>
                  </a:solidFill>
                  <a:latin typeface="Lato"/>
                  <a:ea typeface="Lato"/>
                  <a:cs typeface="Lato"/>
                  <a:sym typeface="Lato"/>
                </a:rPr>
                <a:t>Semester I 2024/2025</a:t>
              </a:r>
              <a:endParaRPr sz="3200">
                <a:solidFill>
                  <a:srgbClr val="B7CCE4"/>
                </a:solidFill>
                <a:latin typeface="Lato"/>
                <a:ea typeface="Lato"/>
                <a:cs typeface="Lato"/>
                <a:sym typeface="Lato"/>
              </a:endParaRPr>
            </a:p>
          </p:txBody>
        </p:sp>
      </p:grpSp>
      <p:sp>
        <p:nvSpPr>
          <p:cNvPr id="97" name="Google Shape;97;p1"/>
          <p:cNvSpPr/>
          <p:nvPr/>
        </p:nvSpPr>
        <p:spPr>
          <a:xfrm>
            <a:off x="597195" y="6217230"/>
            <a:ext cx="3762104" cy="46166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200">
                <a:solidFill>
                  <a:srgbClr val="7F7F7F"/>
                </a:solidFill>
                <a:latin typeface="Lato"/>
                <a:ea typeface="Lato"/>
                <a:cs typeface="Lato"/>
                <a:sym typeface="Lato"/>
              </a:rPr>
              <a:t>IF3141 </a:t>
            </a:r>
            <a:r>
              <a:rPr lang="en-US" sz="1600" b="1">
                <a:solidFill>
                  <a:srgbClr val="7F7F7F"/>
                </a:solidFill>
                <a:latin typeface="Lato"/>
                <a:ea typeface="Lato"/>
                <a:cs typeface="Lato"/>
                <a:sym typeface="Lato"/>
              </a:rPr>
              <a:t>|</a:t>
            </a:r>
            <a:r>
              <a:rPr lang="en-US" sz="1200" b="1">
                <a:solidFill>
                  <a:srgbClr val="7F7F7F"/>
                </a:solidFill>
                <a:latin typeface="Lato"/>
                <a:ea typeface="Lato"/>
                <a:cs typeface="Lato"/>
                <a:sym typeface="Lato"/>
              </a:rPr>
              <a:t> </a:t>
            </a:r>
            <a:r>
              <a:rPr lang="en-US" sz="1200">
                <a:solidFill>
                  <a:srgbClr val="7F7F7F"/>
                </a:solidFill>
                <a:latin typeface="Lato"/>
                <a:ea typeface="Lato"/>
                <a:cs typeface="Lato"/>
                <a:sym typeface="Lato"/>
              </a:rPr>
              <a:t>TEKNIK INFORMATIKA ITB</a:t>
            </a:r>
            <a:endParaRPr sz="1200">
              <a:solidFill>
                <a:srgbClr val="7F7F7F"/>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04" name="Google Shape;104;p2"/>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Implementation in the Lifecycle</a:t>
            </a:r>
            <a:endParaRPr/>
          </a:p>
        </p:txBody>
      </p:sp>
      <p:sp>
        <p:nvSpPr>
          <p:cNvPr id="105" name="Google Shape;105;p2"/>
          <p:cNvSpPr/>
          <p:nvPr/>
        </p:nvSpPr>
        <p:spPr>
          <a:xfrm>
            <a:off x="128016" y="1243065"/>
            <a:ext cx="9015984" cy="230832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purpose of the implementation stage is </a:t>
            </a:r>
            <a:r>
              <a:rPr lang="en-US" sz="2400" b="1">
                <a:solidFill>
                  <a:schemeClr val="dk1"/>
                </a:solidFill>
                <a:latin typeface="Calibri"/>
                <a:ea typeface="Calibri"/>
                <a:cs typeface="Calibri"/>
                <a:sym typeface="Calibri"/>
              </a:rPr>
              <a:t>to make a new system operational.</a:t>
            </a:r>
            <a:r>
              <a:rPr lang="en-US" sz="2400">
                <a:solidFill>
                  <a:schemeClr val="dk1"/>
                </a:solidFill>
                <a:latin typeface="Calibri"/>
                <a:ea typeface="Calibri"/>
                <a:cs typeface="Calibri"/>
                <a:sym typeface="Calibri"/>
              </a:rPr>
              <a:t> This is achieved through the transfer of the </a:t>
            </a:r>
            <a:r>
              <a:rPr lang="en-US" sz="2400" b="1">
                <a:solidFill>
                  <a:schemeClr val="dk1"/>
                </a:solidFill>
                <a:latin typeface="Calibri"/>
                <a:ea typeface="Calibri"/>
                <a:cs typeface="Calibri"/>
                <a:sym typeface="Calibri"/>
              </a:rPr>
              <a:t>tested</a:t>
            </a:r>
            <a:r>
              <a:rPr lang="en-US" sz="2400">
                <a:solidFill>
                  <a:schemeClr val="dk1"/>
                </a:solidFill>
                <a:latin typeface="Calibri"/>
                <a:ea typeface="Calibri"/>
                <a:cs typeface="Calibri"/>
                <a:sym typeface="Calibri"/>
              </a:rPr>
              <a:t> software modules </a:t>
            </a:r>
            <a:r>
              <a:rPr lang="en-US" sz="2400" b="1">
                <a:solidFill>
                  <a:schemeClr val="dk1"/>
                </a:solidFill>
                <a:latin typeface="Calibri"/>
                <a:ea typeface="Calibri"/>
                <a:cs typeface="Calibri"/>
                <a:sym typeface="Calibri"/>
              </a:rPr>
              <a:t>to the operational or ‘live’ environment</a:t>
            </a:r>
            <a:r>
              <a:rPr lang="en-US" sz="2400">
                <a:solidFill>
                  <a:schemeClr val="dk1"/>
                </a:solidFill>
                <a:latin typeface="Calibri"/>
                <a:ea typeface="Calibri"/>
                <a:cs typeface="Calibri"/>
                <a:sym typeface="Calibri"/>
              </a:rPr>
              <a:t>, along with setting up of the data required for the new system.</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Implementation is carried out after the solution has been fully tested, accepted, and signed off by the sponsor.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12" name="Google Shape;112;p3"/>
          <p:cNvSpPr txBox="1"/>
          <p:nvPr/>
        </p:nvSpPr>
        <p:spPr>
          <a:xfrm>
            <a:off x="0" y="295761"/>
            <a:ext cx="91440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Lato"/>
                <a:ea typeface="Lato"/>
                <a:cs typeface="Lato"/>
                <a:sym typeface="Lato"/>
              </a:rPr>
              <a:t>Planning for Implementation and Changeover</a:t>
            </a:r>
            <a:endParaRPr/>
          </a:p>
        </p:txBody>
      </p:sp>
      <p:sp>
        <p:nvSpPr>
          <p:cNvPr id="113" name="Google Shape;113;p3"/>
          <p:cNvSpPr/>
          <p:nvPr/>
        </p:nvSpPr>
        <p:spPr>
          <a:xfrm>
            <a:off x="128016" y="1243065"/>
            <a:ext cx="9015984" cy="5632311"/>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Planning for implementation and changeover should begin as early as possible in the systems development lifecycle so that issues, timings, training, resources and so on can be considered and planned for. Failure to carry out a successful implementation can have severe consequences for the organization. </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Implementation planning is an important responsibility of the project manager. In order to determine all of the relevant factors, input will be needed from key stakeholders, including:</a:t>
            </a:r>
            <a:endParaRPr/>
          </a:p>
          <a:p>
            <a:pPr marL="800100" marR="0" lvl="1" indent="-342900" algn="l" rtl="0">
              <a:spcBef>
                <a:spcPts val="0"/>
              </a:spcBef>
              <a:spcAft>
                <a:spcPts val="0"/>
              </a:spcAft>
              <a:buClr>
                <a:schemeClr val="dk1"/>
              </a:buClr>
              <a:buSzPts val="2400"/>
              <a:buFont typeface="Arial"/>
              <a:buChar char="•"/>
            </a:pPr>
            <a:r>
              <a:rPr lang="en-US" sz="2400" b="1" i="0" u="none" strike="noStrike" cap="none">
                <a:solidFill>
                  <a:schemeClr val="dk1"/>
                </a:solidFill>
                <a:latin typeface="Calibri"/>
                <a:ea typeface="Calibri"/>
                <a:cs typeface="Calibri"/>
                <a:sym typeface="Calibri"/>
              </a:rPr>
              <a:t>Service manager</a:t>
            </a:r>
            <a:r>
              <a:rPr lang="en-US" sz="2400" b="0" i="0" u="none" strike="noStrike" cap="none">
                <a:solidFill>
                  <a:schemeClr val="dk1"/>
                </a:solidFill>
                <a:latin typeface="Calibri"/>
                <a:ea typeface="Calibri"/>
                <a:cs typeface="Calibri"/>
                <a:sym typeface="Calibri"/>
              </a:rPr>
              <a:t>: understanding possible impact on service level</a:t>
            </a:r>
            <a:endParaRPr/>
          </a:p>
          <a:p>
            <a:pPr marL="800100" marR="0" lvl="1" indent="-342900" algn="l" rtl="0">
              <a:spcBef>
                <a:spcPts val="0"/>
              </a:spcBef>
              <a:spcAft>
                <a:spcPts val="0"/>
              </a:spcAft>
              <a:buClr>
                <a:schemeClr val="dk1"/>
              </a:buClr>
              <a:buSzPts val="2400"/>
              <a:buFont typeface="Arial"/>
              <a:buChar char="•"/>
            </a:pPr>
            <a:r>
              <a:rPr lang="en-US" sz="2400" b="1" i="0" u="none" strike="noStrike" cap="none">
                <a:solidFill>
                  <a:schemeClr val="dk1"/>
                </a:solidFill>
                <a:latin typeface="Calibri"/>
                <a:ea typeface="Calibri"/>
                <a:cs typeface="Calibri"/>
                <a:sym typeface="Calibri"/>
              </a:rPr>
              <a:t>Users</a:t>
            </a:r>
            <a:r>
              <a:rPr lang="en-US" sz="2400" b="0" i="0" u="none" strike="noStrike" cap="none">
                <a:solidFill>
                  <a:schemeClr val="dk1"/>
                </a:solidFill>
                <a:latin typeface="Calibri"/>
                <a:ea typeface="Calibri"/>
                <a:cs typeface="Calibri"/>
                <a:sym typeface="Calibri"/>
              </a:rPr>
              <a:t>: for determining training needs and delivery, business and financial implications, etc</a:t>
            </a:r>
            <a:endParaRPr sz="2400" b="0" i="0" u="none" strike="noStrike" cap="none">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Arial"/>
              <a:buChar char="•"/>
            </a:pPr>
            <a:r>
              <a:rPr lang="en-US" sz="2400" b="1" i="0" u="none" strike="noStrike" cap="none">
                <a:solidFill>
                  <a:schemeClr val="dk1"/>
                </a:solidFill>
                <a:latin typeface="Calibri"/>
                <a:ea typeface="Calibri"/>
                <a:cs typeface="Calibri"/>
                <a:sym typeface="Calibri"/>
              </a:rPr>
              <a:t>Sponsor</a:t>
            </a:r>
            <a:r>
              <a:rPr lang="en-US" sz="2400" b="0" i="0" u="none" strike="noStrike" cap="none">
                <a:solidFill>
                  <a:schemeClr val="dk1"/>
                </a:solidFill>
                <a:latin typeface="Calibri"/>
                <a:ea typeface="Calibri"/>
                <a:cs typeface="Calibri"/>
                <a:sym typeface="Calibri"/>
              </a:rPr>
              <a:t>: for agreeing any business risks and impacts</a:t>
            </a:r>
            <a:endParaRPr/>
          </a:p>
          <a:p>
            <a:pPr marL="800100" marR="0" lvl="1" indent="-342900" algn="l" rtl="0">
              <a:spcBef>
                <a:spcPts val="0"/>
              </a:spcBef>
              <a:spcAft>
                <a:spcPts val="0"/>
              </a:spcAft>
              <a:buClr>
                <a:schemeClr val="dk1"/>
              </a:buClr>
              <a:buSzPts val="2400"/>
              <a:buFont typeface="Arial"/>
              <a:buChar char="•"/>
            </a:pPr>
            <a:r>
              <a:rPr lang="en-US" sz="2400" b="1" i="0" u="none" strike="noStrike" cap="none">
                <a:solidFill>
                  <a:schemeClr val="dk1"/>
                </a:solidFill>
                <a:latin typeface="Calibri"/>
                <a:ea typeface="Calibri"/>
                <a:cs typeface="Calibri"/>
                <a:sym typeface="Calibri"/>
              </a:rPr>
              <a:t>Business analysts</a:t>
            </a:r>
            <a:r>
              <a:rPr lang="en-US" sz="2400" b="0" i="0" u="none" strike="noStrike" cap="none">
                <a:solidFill>
                  <a:schemeClr val="dk1"/>
                </a:solidFill>
                <a:latin typeface="Calibri"/>
                <a:ea typeface="Calibri"/>
                <a:cs typeface="Calibri"/>
                <a:sym typeface="Calibri"/>
              </a:rPr>
              <a:t>: validation of business data and processes</a:t>
            </a:r>
            <a:endParaRPr/>
          </a:p>
          <a:p>
            <a:pPr marL="800100" marR="0" lvl="1" indent="-342900" algn="l" rtl="0">
              <a:spcBef>
                <a:spcPts val="0"/>
              </a:spcBef>
              <a:spcAft>
                <a:spcPts val="0"/>
              </a:spcAft>
              <a:buClr>
                <a:schemeClr val="dk1"/>
              </a:buClr>
              <a:buSzPts val="2400"/>
              <a:buFont typeface="Arial"/>
              <a:buChar char="•"/>
            </a:pPr>
            <a:r>
              <a:rPr lang="en-US" sz="2400" b="1" i="0" u="none" strike="noStrike" cap="none">
                <a:solidFill>
                  <a:schemeClr val="dk1"/>
                </a:solidFill>
                <a:latin typeface="Calibri"/>
                <a:ea typeface="Calibri"/>
                <a:cs typeface="Calibri"/>
                <a:sym typeface="Calibri"/>
              </a:rPr>
              <a:t>Technical specialists</a:t>
            </a:r>
            <a:r>
              <a:rPr lang="en-US" sz="2400" b="0" i="0" u="none" strike="noStrike" cap="none">
                <a:solidFill>
                  <a:schemeClr val="dk1"/>
                </a:solidFill>
                <a:latin typeface="Calibri"/>
                <a:ea typeface="Calibri"/>
                <a:cs typeface="Calibri"/>
                <a:sym typeface="Calibri"/>
              </a:rPr>
              <a:t>: the best method for file and data conversion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20" name="Google Shape;120;p4"/>
          <p:cNvSpPr txBox="1"/>
          <p:nvPr/>
        </p:nvSpPr>
        <p:spPr>
          <a:xfrm>
            <a:off x="0" y="295761"/>
            <a:ext cx="91440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Lato"/>
                <a:ea typeface="Lato"/>
                <a:cs typeface="Lato"/>
                <a:sym typeface="Lato"/>
              </a:rPr>
              <a:t>Planning for Implementation and Changeover</a:t>
            </a:r>
            <a:endParaRPr/>
          </a:p>
        </p:txBody>
      </p:sp>
      <p:sp>
        <p:nvSpPr>
          <p:cNvPr id="121" name="Google Shape;121;p4"/>
          <p:cNvSpPr/>
          <p:nvPr/>
        </p:nvSpPr>
        <p:spPr>
          <a:xfrm>
            <a:off x="128016" y="1243065"/>
            <a:ext cx="9015984" cy="5632311"/>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Some of the planning considerations include: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How to set up data in the new system</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Which software modules should be migrated from the test environments to the operational environments, and when?</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What checks are needed to confirm that the migration has been successful?</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Exactly when will the implementation occur?</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How long will the implementation take?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What documentation will be needed to manage and operate the new system?</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What new skills and training will the users and operators of the new system need and what is the best mechanism for delivering this training?</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What is the best way of changing over to the new system from the old system?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5"/>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28" name="Google Shape;128;p5"/>
          <p:cNvSpPr txBox="1"/>
          <p:nvPr/>
        </p:nvSpPr>
        <p:spPr>
          <a:xfrm>
            <a:off x="0" y="295761"/>
            <a:ext cx="9144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File and Data Conversion or Creation</a:t>
            </a:r>
            <a:endParaRPr/>
          </a:p>
        </p:txBody>
      </p:sp>
      <p:sp>
        <p:nvSpPr>
          <p:cNvPr id="129" name="Google Shape;129;p5"/>
          <p:cNvSpPr/>
          <p:nvPr/>
        </p:nvSpPr>
        <p:spPr>
          <a:xfrm>
            <a:off x="128016" y="1243065"/>
            <a:ext cx="9015984" cy="3046988"/>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Implementing a new system will inevitably require new data. If the system is entirely new, then data will need to be created manually or from paper records such as existing invoices or customer orders</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Nowadays, most implementations are an upgrade to, or replacement of, an existing system. The existing data will need to be converted to the new format, and a data mapping exercise is needed to determine how best to convert the old data to the new and to identify potential issues. </a:t>
            </a:r>
            <a:endParaRPr/>
          </a:p>
        </p:txBody>
      </p:sp>
      <p:pic>
        <p:nvPicPr>
          <p:cNvPr id="130" name="Google Shape;130;p5"/>
          <p:cNvPicPr preferRelativeResize="0"/>
          <p:nvPr/>
        </p:nvPicPr>
        <p:blipFill rotWithShape="1">
          <a:blip r:embed="rId3">
            <a:alphaModFix/>
          </a:blip>
          <a:srcRect/>
          <a:stretch/>
        </p:blipFill>
        <p:spPr>
          <a:xfrm>
            <a:off x="581024" y="4290053"/>
            <a:ext cx="8124825" cy="254442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6"/>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37" name="Google Shape;137;p6"/>
          <p:cNvSpPr txBox="1"/>
          <p:nvPr/>
        </p:nvSpPr>
        <p:spPr>
          <a:xfrm>
            <a:off x="0" y="295761"/>
            <a:ext cx="9144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File and Data Conversion or Creation</a:t>
            </a:r>
            <a:endParaRPr/>
          </a:p>
        </p:txBody>
      </p:sp>
      <p:sp>
        <p:nvSpPr>
          <p:cNvPr id="138" name="Google Shape;138;p6"/>
          <p:cNvSpPr/>
          <p:nvPr/>
        </p:nvSpPr>
        <p:spPr>
          <a:xfrm>
            <a:off x="128016" y="1243065"/>
            <a:ext cx="9015984" cy="4524315"/>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process for converting data from an old system to a new system can be automated, via bespoke software or a commercial off-the-shelf package (COTS). This is called </a:t>
            </a:r>
            <a:r>
              <a:rPr lang="en-US" sz="2400" b="1">
                <a:solidFill>
                  <a:schemeClr val="dk1"/>
                </a:solidFill>
                <a:latin typeface="Calibri"/>
                <a:ea typeface="Calibri"/>
                <a:cs typeface="Calibri"/>
                <a:sym typeface="Calibri"/>
              </a:rPr>
              <a:t>ETL (Extract, Transform and Load)</a:t>
            </a:r>
            <a:r>
              <a:rPr lang="en-US" sz="2400">
                <a:solidFill>
                  <a:schemeClr val="dk1"/>
                </a:solidFill>
                <a:latin typeface="Calibri"/>
                <a:ea typeface="Calibri"/>
                <a:cs typeface="Calibri"/>
                <a:sym typeface="Calibri"/>
              </a:rPr>
              <a:t>, signifying the following steps in the conversion process:</a:t>
            </a:r>
            <a:endParaRPr/>
          </a:p>
          <a:p>
            <a:pPr marL="914400" marR="0" lvl="1" indent="-457200" algn="l" rtl="0">
              <a:spcBef>
                <a:spcPts val="0"/>
              </a:spcBef>
              <a:spcAft>
                <a:spcPts val="0"/>
              </a:spcAft>
              <a:buClr>
                <a:schemeClr val="dk1"/>
              </a:buClr>
              <a:buSzPts val="2400"/>
              <a:buChar char="•"/>
            </a:pPr>
            <a:r>
              <a:rPr lang="en-US" sz="2400" b="1" i="0" u="none" strike="noStrike" cap="none">
                <a:solidFill>
                  <a:schemeClr val="dk1"/>
                </a:solidFill>
                <a:latin typeface="Calibri"/>
                <a:ea typeface="Calibri"/>
                <a:cs typeface="Calibri"/>
                <a:sym typeface="Calibri"/>
              </a:rPr>
              <a:t>1. Extract of data from the old system;</a:t>
            </a:r>
            <a:endParaRPr b="1"/>
          </a:p>
          <a:p>
            <a:pPr marL="914400" marR="0" lvl="1" indent="-457200" algn="l" rtl="0">
              <a:spcBef>
                <a:spcPts val="0"/>
              </a:spcBef>
              <a:spcAft>
                <a:spcPts val="0"/>
              </a:spcAft>
              <a:buClr>
                <a:schemeClr val="dk1"/>
              </a:buClr>
              <a:buSzPts val="2400"/>
              <a:buChar char="•"/>
            </a:pPr>
            <a:r>
              <a:rPr lang="en-US" sz="2400" b="1" i="0" u="none" strike="noStrike" cap="none">
                <a:solidFill>
                  <a:schemeClr val="dk1"/>
                </a:solidFill>
                <a:latin typeface="Calibri"/>
                <a:ea typeface="Calibri"/>
                <a:cs typeface="Calibri"/>
                <a:sym typeface="Calibri"/>
              </a:rPr>
              <a:t>2. Carrying out some form of transformation of the extracted data making it suitable for the new system; and</a:t>
            </a:r>
            <a:endParaRPr b="1"/>
          </a:p>
          <a:p>
            <a:pPr marL="914400" marR="0" lvl="1" indent="-457200" algn="l" rtl="0">
              <a:spcBef>
                <a:spcPts val="0"/>
              </a:spcBef>
              <a:spcAft>
                <a:spcPts val="0"/>
              </a:spcAft>
              <a:buClr>
                <a:schemeClr val="dk1"/>
              </a:buClr>
              <a:buSzPts val="2400"/>
              <a:buChar char="•"/>
            </a:pPr>
            <a:r>
              <a:rPr lang="en-US" sz="2400" b="1" i="0" u="none" strike="noStrike" cap="none">
                <a:solidFill>
                  <a:schemeClr val="dk1"/>
                </a:solidFill>
                <a:latin typeface="Calibri"/>
                <a:ea typeface="Calibri"/>
                <a:cs typeface="Calibri"/>
                <a:sym typeface="Calibri"/>
              </a:rPr>
              <a:t>3. Load of the transformed data into the new system.</a:t>
            </a:r>
            <a:endParaRPr b="1"/>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Sometimes the costs involved in developing bespoke ETL software or purchasing a COTS may be excessive or might not be possible within time constraints. In this case, it may be quicker and easier to re-key data into the new system.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7"/>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45" name="Google Shape;145;p7"/>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Principles and Problems of Data Mapping</a:t>
            </a:r>
            <a:endParaRPr/>
          </a:p>
        </p:txBody>
      </p:sp>
      <p:sp>
        <p:nvSpPr>
          <p:cNvPr id="146" name="Google Shape;146;p7"/>
          <p:cNvSpPr/>
          <p:nvPr/>
        </p:nvSpPr>
        <p:spPr>
          <a:xfrm>
            <a:off x="128016" y="1243065"/>
            <a:ext cx="9015984" cy="830997"/>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Data mapping is the term given to the activity that identifies which data from the old system can be migrated to the new system</a:t>
            </a:r>
            <a:endParaRPr/>
          </a:p>
        </p:txBody>
      </p:sp>
      <p:pic>
        <p:nvPicPr>
          <p:cNvPr id="147" name="Google Shape;147;p7"/>
          <p:cNvPicPr preferRelativeResize="0"/>
          <p:nvPr/>
        </p:nvPicPr>
        <p:blipFill rotWithShape="1">
          <a:blip r:embed="rId3">
            <a:alphaModFix/>
          </a:blip>
          <a:srcRect/>
          <a:stretch/>
        </p:blipFill>
        <p:spPr>
          <a:xfrm>
            <a:off x="652462" y="2282359"/>
            <a:ext cx="8301038" cy="29075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8"/>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54" name="Google Shape;154;p8"/>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Principles and Problems of Data Mapping</a:t>
            </a:r>
            <a:endParaRPr/>
          </a:p>
        </p:txBody>
      </p:sp>
      <p:sp>
        <p:nvSpPr>
          <p:cNvPr id="155" name="Google Shape;155;p8"/>
          <p:cNvSpPr/>
          <p:nvPr/>
        </p:nvSpPr>
        <p:spPr>
          <a:xfrm>
            <a:off x="128016" y="1147815"/>
            <a:ext cx="9015984" cy="5755422"/>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 number of issues can arise when carrying out this mapping, including:</a:t>
            </a:r>
            <a:endParaRPr/>
          </a:p>
          <a:p>
            <a:pPr marL="742950" marR="0" lvl="1" indent="-285750" algn="l" rtl="0">
              <a:spcBef>
                <a:spcPts val="0"/>
              </a:spcBef>
              <a:spcAft>
                <a:spcPts val="0"/>
              </a:spcAft>
              <a:buClr>
                <a:schemeClr val="dk1"/>
              </a:buClr>
              <a:buSzPts val="2000"/>
              <a:buFont typeface="Arial"/>
              <a:buChar char="•"/>
            </a:pPr>
            <a:r>
              <a:rPr lang="en-US" sz="2000" b="1" i="0" u="none" strike="noStrike" cap="none">
                <a:solidFill>
                  <a:schemeClr val="dk1"/>
                </a:solidFill>
                <a:latin typeface="Calibri"/>
                <a:ea typeface="Calibri"/>
                <a:cs typeface="Calibri"/>
                <a:sym typeface="Calibri"/>
              </a:rPr>
              <a:t>Field type:</a:t>
            </a:r>
            <a:r>
              <a:rPr lang="en-US" sz="2000" b="0" i="0" u="none" strike="noStrike" cap="none">
                <a:solidFill>
                  <a:schemeClr val="dk1"/>
                </a:solidFill>
                <a:latin typeface="Calibri"/>
                <a:ea typeface="Calibri"/>
                <a:cs typeface="Calibri"/>
                <a:sym typeface="Calibri"/>
              </a:rPr>
              <a:t> ex, a product number in the old system might be held as an alphanumeric field whereas in the new system, a product number is held as numeric only. </a:t>
            </a:r>
            <a:endParaRPr/>
          </a:p>
          <a:p>
            <a:pPr marL="742950" marR="0" lvl="1" indent="-285750" algn="l" rtl="0">
              <a:spcBef>
                <a:spcPts val="0"/>
              </a:spcBef>
              <a:spcAft>
                <a:spcPts val="0"/>
              </a:spcAft>
              <a:buClr>
                <a:schemeClr val="dk1"/>
              </a:buClr>
              <a:buSzPts val="2000"/>
              <a:buFont typeface="Arial"/>
              <a:buChar char="•"/>
            </a:pPr>
            <a:r>
              <a:rPr lang="en-US" sz="2000" b="1" i="0" u="none" strike="noStrike" cap="none">
                <a:solidFill>
                  <a:schemeClr val="dk1"/>
                </a:solidFill>
                <a:latin typeface="Calibri"/>
                <a:ea typeface="Calibri"/>
                <a:cs typeface="Calibri"/>
                <a:sym typeface="Calibri"/>
              </a:rPr>
              <a:t>Field length:</a:t>
            </a:r>
            <a:r>
              <a:rPr lang="en-US" sz="2000" b="0" i="0" u="none" strike="noStrike" cap="none">
                <a:solidFill>
                  <a:schemeClr val="dk1"/>
                </a:solidFill>
                <a:latin typeface="Calibri"/>
                <a:ea typeface="Calibri"/>
                <a:cs typeface="Calibri"/>
                <a:sym typeface="Calibri"/>
              </a:rPr>
              <a:t> if the field in the new system is shorter than in the old system, then a business decision needs to be made as to whether truncated data is acceptable </a:t>
            </a:r>
            <a:endParaRPr/>
          </a:p>
          <a:p>
            <a:pPr marL="742950" marR="0" lvl="1" indent="-285750" algn="l" rtl="0">
              <a:spcBef>
                <a:spcPts val="0"/>
              </a:spcBef>
              <a:spcAft>
                <a:spcPts val="0"/>
              </a:spcAft>
              <a:buClr>
                <a:schemeClr val="dk1"/>
              </a:buClr>
              <a:buSzPts val="2000"/>
              <a:buFont typeface="Arial"/>
              <a:buChar char="•"/>
            </a:pPr>
            <a:r>
              <a:rPr lang="en-US" sz="2000" b="1" i="0" u="none" strike="noStrike" cap="none">
                <a:solidFill>
                  <a:schemeClr val="dk1"/>
                </a:solidFill>
                <a:latin typeface="Calibri"/>
                <a:ea typeface="Calibri"/>
                <a:cs typeface="Calibri"/>
                <a:sym typeface="Calibri"/>
              </a:rPr>
              <a:t>Field structures:</a:t>
            </a:r>
            <a:r>
              <a:rPr lang="en-US" sz="2000" b="0" i="0" u="none" strike="noStrike" cap="none">
                <a:solidFill>
                  <a:schemeClr val="dk1"/>
                </a:solidFill>
                <a:latin typeface="Calibri"/>
                <a:ea typeface="Calibri"/>
                <a:cs typeface="Calibri"/>
                <a:sym typeface="Calibri"/>
              </a:rPr>
              <a:t> ex, a customer address in the old system may be held as a single address field, but on the new system it may be held as three address fields.</a:t>
            </a:r>
            <a:endParaRPr/>
          </a:p>
          <a:p>
            <a:pPr marL="742950" marR="0" lvl="1" indent="-285750" algn="l" rtl="0">
              <a:spcBef>
                <a:spcPts val="0"/>
              </a:spcBef>
              <a:spcAft>
                <a:spcPts val="0"/>
              </a:spcAft>
              <a:buClr>
                <a:schemeClr val="dk1"/>
              </a:buClr>
              <a:buSzPts val="2000"/>
              <a:buFont typeface="Arial"/>
              <a:buChar char="•"/>
            </a:pPr>
            <a:r>
              <a:rPr lang="en-US" sz="2000" b="1" i="0" u="none" strike="noStrike" cap="none">
                <a:solidFill>
                  <a:schemeClr val="dk1"/>
                </a:solidFill>
                <a:latin typeface="Calibri"/>
                <a:ea typeface="Calibri"/>
                <a:cs typeface="Calibri"/>
                <a:sym typeface="Calibri"/>
              </a:rPr>
              <a:t>Required fields:</a:t>
            </a:r>
            <a:r>
              <a:rPr lang="en-US" sz="2000" b="0" i="0" u="none" strike="noStrike" cap="none">
                <a:solidFill>
                  <a:schemeClr val="dk1"/>
                </a:solidFill>
                <a:latin typeface="Calibri"/>
                <a:ea typeface="Calibri"/>
                <a:cs typeface="Calibri"/>
                <a:sym typeface="Calibri"/>
              </a:rPr>
              <a:t> some data required for the new system may not be available from the old system.</a:t>
            </a:r>
            <a:endParaRPr/>
          </a:p>
          <a:p>
            <a:pPr marL="742950" marR="0" lvl="1" indent="-285750" algn="l" rtl="0">
              <a:spcBef>
                <a:spcPts val="0"/>
              </a:spcBef>
              <a:spcAft>
                <a:spcPts val="0"/>
              </a:spcAft>
              <a:buClr>
                <a:schemeClr val="dk1"/>
              </a:buClr>
              <a:buSzPts val="2000"/>
              <a:buFont typeface="Arial"/>
              <a:buChar char="•"/>
            </a:pPr>
            <a:r>
              <a:rPr lang="en-US" sz="2000" b="1" i="0" u="none" strike="noStrike" cap="none">
                <a:solidFill>
                  <a:schemeClr val="dk1"/>
                </a:solidFill>
                <a:latin typeface="Calibri"/>
                <a:ea typeface="Calibri"/>
                <a:cs typeface="Calibri"/>
                <a:sym typeface="Calibri"/>
              </a:rPr>
              <a:t>Semantics:</a:t>
            </a:r>
            <a:r>
              <a:rPr lang="en-US" sz="2000" b="0" i="0" u="none" strike="noStrike" cap="none">
                <a:solidFill>
                  <a:schemeClr val="dk1"/>
                </a:solidFill>
                <a:latin typeface="Calibri"/>
                <a:ea typeface="Calibri"/>
                <a:cs typeface="Calibri"/>
                <a:sym typeface="Calibri"/>
              </a:rPr>
              <a:t> ex, when mapping the data for ‘Title’, in the old system this may include Mister, Miss, Ms, Doctor, Sir, Lord, Mister, Miss, etc. but in the new system ‘Title’ may mean a formal title only</a:t>
            </a:r>
            <a:endParaRPr/>
          </a:p>
          <a:p>
            <a:pPr marL="742950" marR="0" lvl="1" indent="-285750" algn="l" rtl="0">
              <a:spcBef>
                <a:spcPts val="0"/>
              </a:spcBef>
              <a:spcAft>
                <a:spcPts val="0"/>
              </a:spcAft>
              <a:buClr>
                <a:schemeClr val="dk1"/>
              </a:buClr>
              <a:buSzPts val="2000"/>
              <a:buFont typeface="Arial"/>
              <a:buChar char="•"/>
            </a:pPr>
            <a:r>
              <a:rPr lang="en-US" sz="2000" b="1" i="0" u="none" strike="noStrike" cap="none">
                <a:solidFill>
                  <a:schemeClr val="dk1"/>
                </a:solidFill>
                <a:latin typeface="Calibri"/>
                <a:ea typeface="Calibri"/>
                <a:cs typeface="Calibri"/>
                <a:sym typeface="Calibri"/>
              </a:rPr>
              <a:t>Validation:</a:t>
            </a:r>
            <a:r>
              <a:rPr lang="en-US" sz="2000" b="0" i="0" u="none" strike="noStrike" cap="none">
                <a:solidFill>
                  <a:schemeClr val="dk1"/>
                </a:solidFill>
                <a:latin typeface="Calibri"/>
                <a:ea typeface="Calibri"/>
                <a:cs typeface="Calibri"/>
                <a:sym typeface="Calibri"/>
              </a:rPr>
              <a:t> the conversion routines may include some tests to validate that the data on the new system has been converted correctly.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9"/>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62" name="Google Shape;162;p9"/>
          <p:cNvSpPr txBox="1"/>
          <p:nvPr/>
        </p:nvSpPr>
        <p:spPr>
          <a:xfrm>
            <a:off x="0" y="-9039"/>
            <a:ext cx="914400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Planning, Testing, and Performing Data Conversion</a:t>
            </a:r>
            <a:endParaRPr/>
          </a:p>
        </p:txBody>
      </p:sp>
      <p:sp>
        <p:nvSpPr>
          <p:cNvPr id="163" name="Google Shape;163;p9"/>
          <p:cNvSpPr/>
          <p:nvPr/>
        </p:nvSpPr>
        <p:spPr>
          <a:xfrm>
            <a:off x="128016" y="1243065"/>
            <a:ext cx="9015984" cy="3785652"/>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Data conversion, like any other activity or project, is likely to be more successful if it is well planned. </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planning activities should include:</a:t>
            </a:r>
            <a:endParaRPr/>
          </a:p>
          <a:p>
            <a:pPr marL="914400" marR="0" lvl="1" indent="-457200" algn="l" rtl="0">
              <a:spcBef>
                <a:spcPts val="0"/>
              </a:spcBef>
              <a:spcAft>
                <a:spcPts val="0"/>
              </a:spcAft>
              <a:buClr>
                <a:schemeClr val="dk1"/>
              </a:buClr>
              <a:buSzPts val="2400"/>
              <a:buFont typeface="Arial"/>
              <a:buChar char="•"/>
            </a:pPr>
            <a:r>
              <a:rPr lang="en-US" sz="2400" b="1" i="0" u="none" strike="noStrike" cap="none">
                <a:solidFill>
                  <a:schemeClr val="dk1"/>
                </a:solidFill>
                <a:latin typeface="Calibri"/>
                <a:ea typeface="Calibri"/>
                <a:cs typeface="Calibri"/>
                <a:sym typeface="Calibri"/>
              </a:rPr>
              <a:t>Identify steps</a:t>
            </a:r>
            <a:r>
              <a:rPr lang="en-US" sz="2400" b="0" i="0" u="none" strike="noStrike" cap="none">
                <a:solidFill>
                  <a:schemeClr val="dk1"/>
                </a:solidFill>
                <a:latin typeface="Calibri"/>
                <a:ea typeface="Calibri"/>
                <a:cs typeface="Calibri"/>
                <a:sym typeface="Calibri"/>
              </a:rPr>
              <a:t> required for the conversion</a:t>
            </a:r>
            <a:endParaRPr/>
          </a:p>
          <a:p>
            <a:pPr marL="914400" marR="0" lvl="1" indent="-457200" algn="l" rtl="0">
              <a:spcBef>
                <a:spcPts val="0"/>
              </a:spcBef>
              <a:spcAft>
                <a:spcPts val="0"/>
              </a:spcAft>
              <a:buClr>
                <a:schemeClr val="dk1"/>
              </a:buClr>
              <a:buSzPts val="2400"/>
              <a:buFont typeface="Arial"/>
              <a:buChar char="•"/>
            </a:pPr>
            <a:r>
              <a:rPr lang="en-US" sz="2400" b="1" i="0" u="none" strike="noStrike" cap="none">
                <a:solidFill>
                  <a:schemeClr val="dk1"/>
                </a:solidFill>
                <a:latin typeface="Calibri"/>
                <a:ea typeface="Calibri"/>
                <a:cs typeface="Calibri"/>
                <a:sym typeface="Calibri"/>
              </a:rPr>
              <a:t>Decide timing</a:t>
            </a:r>
            <a:r>
              <a:rPr lang="en-US" sz="2400" b="0" i="0" u="none" strike="noStrike" cap="none">
                <a:solidFill>
                  <a:schemeClr val="dk1"/>
                </a:solidFill>
                <a:latin typeface="Calibri"/>
                <a:ea typeface="Calibri"/>
                <a:cs typeface="Calibri"/>
                <a:sym typeface="Calibri"/>
              </a:rPr>
              <a:t> of when the data conversion should actually take place</a:t>
            </a:r>
            <a:endParaRPr/>
          </a:p>
          <a:p>
            <a:pPr marL="914400" marR="0" lvl="1" indent="-457200" algn="l" rtl="0">
              <a:spcBef>
                <a:spcPts val="0"/>
              </a:spcBef>
              <a:spcAft>
                <a:spcPts val="0"/>
              </a:spcAft>
              <a:buClr>
                <a:schemeClr val="dk1"/>
              </a:buClr>
              <a:buSzPts val="2400"/>
              <a:buFont typeface="Arial"/>
              <a:buChar char="•"/>
            </a:pPr>
            <a:r>
              <a:rPr lang="en-US" sz="2400" b="1" i="0" u="none" strike="noStrike" cap="none">
                <a:solidFill>
                  <a:schemeClr val="dk1"/>
                </a:solidFill>
                <a:latin typeface="Calibri"/>
                <a:ea typeface="Calibri"/>
                <a:cs typeface="Calibri"/>
                <a:sym typeface="Calibri"/>
              </a:rPr>
              <a:t>Writing or purchasing the conversion routines</a:t>
            </a:r>
            <a:endParaRPr/>
          </a:p>
          <a:p>
            <a:pPr marL="914400" marR="0" lvl="1" indent="-457200" algn="l" rtl="0">
              <a:spcBef>
                <a:spcPts val="0"/>
              </a:spcBef>
              <a:spcAft>
                <a:spcPts val="0"/>
              </a:spcAft>
              <a:buClr>
                <a:schemeClr val="dk1"/>
              </a:buClr>
              <a:buSzPts val="2400"/>
              <a:buFont typeface="Arial"/>
              <a:buChar char="•"/>
            </a:pPr>
            <a:r>
              <a:rPr lang="en-US" sz="2400" b="1" i="0" u="none" strike="noStrike" cap="none">
                <a:solidFill>
                  <a:schemeClr val="dk1"/>
                </a:solidFill>
                <a:latin typeface="Calibri"/>
                <a:ea typeface="Calibri"/>
                <a:cs typeface="Calibri"/>
                <a:sym typeface="Calibri"/>
              </a:rPr>
              <a:t>Using automated test comparator</a:t>
            </a:r>
            <a:r>
              <a:rPr lang="en-US" sz="2400" b="0" i="0" u="none" strike="noStrike" cap="none">
                <a:solidFill>
                  <a:schemeClr val="dk1"/>
                </a:solidFill>
                <a:latin typeface="Calibri"/>
                <a:ea typeface="Calibri"/>
                <a:cs typeface="Calibri"/>
                <a:sym typeface="Calibri"/>
              </a:rPr>
              <a:t> to compare the new data with the old data and to test the conversion routines</a:t>
            </a:r>
            <a:endParaRPr/>
          </a:p>
          <a:p>
            <a:pPr marL="914400" marR="0" lvl="1" indent="-457200" algn="l" rtl="0">
              <a:spcBef>
                <a:spcPts val="0"/>
              </a:spcBef>
              <a:spcAft>
                <a:spcPts val="0"/>
              </a:spcAft>
              <a:buClr>
                <a:schemeClr val="dk1"/>
              </a:buClr>
              <a:buSzPts val="2400"/>
              <a:buFont typeface="Arial"/>
              <a:buChar char="•"/>
            </a:pPr>
            <a:r>
              <a:rPr lang="en-US" sz="2400" b="1" i="0" u="none" strike="noStrike" cap="none">
                <a:solidFill>
                  <a:schemeClr val="dk1"/>
                </a:solidFill>
                <a:latin typeface="Calibri"/>
                <a:ea typeface="Calibri"/>
                <a:cs typeface="Calibri"/>
                <a:sym typeface="Calibri"/>
              </a:rPr>
              <a:t>Actual file conversion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0"/>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70" name="Google Shape;170;p10"/>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Migration of Software Modules</a:t>
            </a:r>
            <a:endParaRPr/>
          </a:p>
        </p:txBody>
      </p:sp>
      <p:sp>
        <p:nvSpPr>
          <p:cNvPr id="171" name="Google Shape;171;p10"/>
          <p:cNvSpPr/>
          <p:nvPr/>
        </p:nvSpPr>
        <p:spPr>
          <a:xfrm>
            <a:off x="128016" y="1243065"/>
            <a:ext cx="9015984" cy="1200329"/>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As well as carrying out data migration, any new or changed software modules will also need to be migrated from the test environments to the operational environment</a:t>
            </a:r>
            <a:endParaRPr/>
          </a:p>
        </p:txBody>
      </p:sp>
      <p:pic>
        <p:nvPicPr>
          <p:cNvPr id="172" name="Google Shape;172;p10"/>
          <p:cNvPicPr preferRelativeResize="0"/>
          <p:nvPr/>
        </p:nvPicPr>
        <p:blipFill rotWithShape="1">
          <a:blip r:embed="rId3">
            <a:alphaModFix/>
          </a:blip>
          <a:srcRect/>
          <a:stretch/>
        </p:blipFill>
        <p:spPr>
          <a:xfrm>
            <a:off x="619125" y="2595562"/>
            <a:ext cx="7867650" cy="2581275"/>
          </a:xfrm>
          <a:prstGeom prst="rect">
            <a:avLst/>
          </a:prstGeom>
          <a:noFill/>
          <a:ln>
            <a:noFill/>
          </a:ln>
        </p:spPr>
      </p:pic>
      <p:sp>
        <p:nvSpPr>
          <p:cNvPr id="173" name="Google Shape;173;p10"/>
          <p:cNvSpPr/>
          <p:nvPr/>
        </p:nvSpPr>
        <p:spPr>
          <a:xfrm>
            <a:off x="128016" y="5333767"/>
            <a:ext cx="9015984" cy="1569660"/>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Failure to migrate the correct modules and, perhaps more importantly, the correct versions of the software modules, could result in system failure, which in turn can cause loss of business operations.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1"/>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80" name="Google Shape;180;p11"/>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Migration of Software Modules</a:t>
            </a:r>
            <a:endParaRPr/>
          </a:p>
        </p:txBody>
      </p:sp>
      <p:sp>
        <p:nvSpPr>
          <p:cNvPr id="181" name="Google Shape;181;p11"/>
          <p:cNvSpPr/>
          <p:nvPr/>
        </p:nvSpPr>
        <p:spPr>
          <a:xfrm>
            <a:off x="128016" y="1243065"/>
            <a:ext cx="9015984" cy="5740033"/>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Some key considerations for software migration include:</a:t>
            </a:r>
            <a:endParaRPr/>
          </a:p>
          <a:p>
            <a:pPr marL="742950" marR="0" lvl="1" indent="-28575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Configuration management</a:t>
            </a:r>
            <a:endParaRPr/>
          </a:p>
          <a:p>
            <a:pPr marL="1085850" marR="0" lvl="2" indent="-28575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This is needed to ensure that only the correct versions of software modules which are relevant to the implementation are selected for migration. </a:t>
            </a:r>
            <a:endParaRPr/>
          </a:p>
          <a:p>
            <a:pPr marL="742950" marR="0" lvl="1" indent="-28575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Release management</a:t>
            </a:r>
            <a:endParaRPr/>
          </a:p>
          <a:p>
            <a:pPr marL="1085850" marR="0" lvl="2" indent="-28575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This activity checks that only compatible implementations are packaged together, and transferred to the operational environment in a single migration.</a:t>
            </a:r>
            <a:endParaRPr/>
          </a:p>
          <a:p>
            <a:pPr marL="742950" marR="0" lvl="1" indent="-28575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Timing</a:t>
            </a:r>
            <a:endParaRPr/>
          </a:p>
          <a:p>
            <a:pPr marL="1085850" marR="0" lvl="2" indent="-28575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Sometimes it can be useful to migrate the software modules in a de-activated state, such that there is no disruption to business continuity, and to activate them only when needed. </a:t>
            </a:r>
            <a:endParaRPr/>
          </a:p>
          <a:p>
            <a:pPr marL="742950" marR="0" lvl="1" indent="-28575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Validation</a:t>
            </a:r>
            <a:endParaRPr/>
          </a:p>
          <a:p>
            <a:pPr marL="1028700" marR="0" lvl="2" indent="-28575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Validating that the migrated software works correctly can be carried out in stages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2"/>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88" name="Google Shape;188;p12"/>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Installation of Hardware and Infrastructure</a:t>
            </a:r>
            <a:endParaRPr/>
          </a:p>
        </p:txBody>
      </p:sp>
      <p:sp>
        <p:nvSpPr>
          <p:cNvPr id="189" name="Google Shape;189;p12"/>
          <p:cNvSpPr/>
          <p:nvPr/>
        </p:nvSpPr>
        <p:spPr>
          <a:xfrm>
            <a:off x="128016" y="1243065"/>
            <a:ext cx="9015984" cy="5632311"/>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Quite often, hardware and infrastructure components will need to be installed in the operational environment as a prerequisite to the migration of data and software. For example, the volume of data, the number of users, and the rate of user activity required for a new system might necessitate larger data storage devices, increased processing capability and larger network capacity.</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Upgrades to, or replacement of, the existing hardware and infrastructure will need to be managed, planned, and tested just like any other IT project. Any planning and preparation for the implementation would need to include hardware and infrastructure requirements.</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Sometimes, hardware and infrastructure changes are stand-alone projects in their own right as a precursor for implementation of business activity, for example, the roll-out of desktop computers, telephones and headsets to a new call center.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3"/>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96" name="Google Shape;196;p13"/>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The Role of Supporting Documentation</a:t>
            </a:r>
            <a:endParaRPr/>
          </a:p>
        </p:txBody>
      </p:sp>
      <p:sp>
        <p:nvSpPr>
          <p:cNvPr id="197" name="Google Shape;197;p13"/>
          <p:cNvSpPr/>
          <p:nvPr/>
        </p:nvSpPr>
        <p:spPr>
          <a:xfrm>
            <a:off x="128016" y="1243065"/>
            <a:ext cx="9015984" cy="5262979"/>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users will need documentation to help them carry out their daily jobs and to provide some initial help in case of problems with using the new system.</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Operations staff need documentation that helps them to support the new system, not only in terms of operating and routine maintenance, but also when unexpected problems or failures occur.</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main types of documentation for users include: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Online help, printed user guides, operational manuals, and technical documentation</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Having ready access to the correct documentation becomes a vital aspect of supporting new systems, and many organizations have at times encountered situations where operational problems have taken some considerable time to resolve due to lack of up-to-date documentation.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4"/>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04" name="Google Shape;204;p14"/>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Approaches to Training</a:t>
            </a:r>
            <a:endParaRPr/>
          </a:p>
        </p:txBody>
      </p:sp>
      <p:sp>
        <p:nvSpPr>
          <p:cNvPr id="205" name="Google Shape;205;p14"/>
          <p:cNvSpPr/>
          <p:nvPr/>
        </p:nvSpPr>
        <p:spPr>
          <a:xfrm>
            <a:off x="128016" y="1243065"/>
            <a:ext cx="9015984" cy="5632311"/>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addition to having documentation to support their day-to-day activities, users and operations staff will likely need to be trained in the new system. There are various approaches to training, but the main elements to consider include: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Identify competencies</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The new system will have some new or changed business processes and operational procedures, which in turn will require new or changed competencies and skills to carry them out.</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Define training strategy</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Compare the competencies need to the competencies that the users and operational staff already possess (training need analysis).</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Deliver training</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Consideration: impact, how much, complexity, skill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5"/>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12" name="Google Shape;212;p15"/>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Approaches to Training</a:t>
            </a:r>
            <a:endParaRPr/>
          </a:p>
        </p:txBody>
      </p:sp>
      <p:sp>
        <p:nvSpPr>
          <p:cNvPr id="213" name="Google Shape;213;p15"/>
          <p:cNvSpPr/>
          <p:nvPr/>
        </p:nvSpPr>
        <p:spPr>
          <a:xfrm>
            <a:off x="128016" y="1243065"/>
            <a:ext cx="9015984" cy="5632311"/>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main methods of delivering training include: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Traditional lectures and workshops</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Face-to-face training to the potential users of the system by someone who understands the new features really well.</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Remotely delivered training</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Remotely delivered training consists of, for example, webcasts and teleconferencing, whereby the trainer and trainees are brought together via technology, for relatively short periods of time.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Train the trainer</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 small group of ‘super-users’ are trained in the new system, perhaps to a higher standard and level of expertise, and these ‘superusers’ then train the rest of the user community and or provide centres of excellence and support.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6"/>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20" name="Google Shape;220;p16"/>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System Implementation</a:t>
            </a:r>
            <a:endParaRPr/>
          </a:p>
        </p:txBody>
      </p:sp>
      <p:sp>
        <p:nvSpPr>
          <p:cNvPr id="221" name="Google Shape;221;p16"/>
          <p:cNvSpPr/>
          <p:nvPr/>
        </p:nvSpPr>
        <p:spPr>
          <a:xfrm>
            <a:off x="128016" y="1243065"/>
            <a:ext cx="9015984" cy="3046988"/>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An important consideration when planning for implementation is how to switch over, or ‘changeover’, to the new system from the old, that is, for deploying the new system into operation. </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There are </a:t>
            </a:r>
            <a:r>
              <a:rPr lang="en-US" sz="2400" b="1">
                <a:solidFill>
                  <a:schemeClr val="dk1"/>
                </a:solidFill>
                <a:latin typeface="Calibri"/>
                <a:ea typeface="Calibri"/>
                <a:cs typeface="Calibri"/>
                <a:sym typeface="Calibri"/>
              </a:rPr>
              <a:t>four main</a:t>
            </a:r>
            <a:r>
              <a:rPr lang="en-US" sz="2400">
                <a:solidFill>
                  <a:schemeClr val="dk1"/>
                </a:solidFill>
                <a:latin typeface="Calibri"/>
                <a:ea typeface="Calibri"/>
                <a:cs typeface="Calibri"/>
                <a:sym typeface="Calibri"/>
              </a:rPr>
              <a:t> </a:t>
            </a:r>
            <a:r>
              <a:rPr lang="en-US" sz="2400" b="1">
                <a:solidFill>
                  <a:schemeClr val="dk1"/>
                </a:solidFill>
                <a:latin typeface="Calibri"/>
                <a:ea typeface="Calibri"/>
                <a:cs typeface="Calibri"/>
                <a:sym typeface="Calibri"/>
              </a:rPr>
              <a:t>options</a:t>
            </a:r>
            <a:r>
              <a:rPr lang="en-US" sz="2400">
                <a:solidFill>
                  <a:schemeClr val="dk1"/>
                </a:solidFill>
                <a:latin typeface="Calibri"/>
                <a:ea typeface="Calibri"/>
                <a:cs typeface="Calibri"/>
                <a:sym typeface="Calibri"/>
              </a:rPr>
              <a:t> for changeover:</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Direct changeover or ‘big bang’</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Parallel running</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Pilot implementation</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Phased implementation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7"/>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28" name="Google Shape;228;p17"/>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Direct Changeover or ‘Big Bang’</a:t>
            </a:r>
            <a:endParaRPr/>
          </a:p>
        </p:txBody>
      </p:sp>
      <p:sp>
        <p:nvSpPr>
          <p:cNvPr id="229" name="Google Shape;229;p17"/>
          <p:cNvSpPr/>
          <p:nvPr/>
        </p:nvSpPr>
        <p:spPr>
          <a:xfrm>
            <a:off x="128016" y="1243065"/>
            <a:ext cx="9015984" cy="1938992"/>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new system is brought straight into operation, and the old system (or manual system, if there isn’t a previous system in place) is switched off. This direct changeover, or ‘big bang’, means that there is an immediate switch to using the new system and business processes without any gradual transition to the new system.</a:t>
            </a:r>
            <a:endParaRPr/>
          </a:p>
        </p:txBody>
      </p:sp>
      <p:sp>
        <p:nvSpPr>
          <p:cNvPr id="230" name="Google Shape;230;p17"/>
          <p:cNvSpPr/>
          <p:nvPr/>
        </p:nvSpPr>
        <p:spPr>
          <a:xfrm>
            <a:off x="387858" y="3490965"/>
            <a:ext cx="4184142" cy="267765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Advantages</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There’s a ‘clean break’ from the old system to new system</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Users are forced to start using the new system straight away</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Less expensive</a:t>
            </a:r>
            <a:endParaRPr/>
          </a:p>
        </p:txBody>
      </p:sp>
      <p:sp>
        <p:nvSpPr>
          <p:cNvPr id="231" name="Google Shape;231;p17"/>
          <p:cNvSpPr/>
          <p:nvPr/>
        </p:nvSpPr>
        <p:spPr>
          <a:xfrm>
            <a:off x="4769358" y="3490965"/>
            <a:ext cx="4165092" cy="19389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Disadvantages</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High risk – there is no fall back in the situation</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There may be reputational damage to organisation</a:t>
            </a:r>
            <a:endParaRPr sz="24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8"/>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38" name="Google Shape;238;p18"/>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Parallel Running</a:t>
            </a:r>
            <a:endParaRPr/>
          </a:p>
        </p:txBody>
      </p:sp>
      <p:sp>
        <p:nvSpPr>
          <p:cNvPr id="239" name="Google Shape;239;p18"/>
          <p:cNvSpPr/>
          <p:nvPr/>
        </p:nvSpPr>
        <p:spPr>
          <a:xfrm>
            <a:off x="0" y="1243065"/>
            <a:ext cx="9144000" cy="1107996"/>
          </a:xfrm>
          <a:prstGeom prst="rect">
            <a:avLst/>
          </a:prstGeom>
          <a:noFill/>
          <a:ln>
            <a:noFill/>
          </a:ln>
        </p:spPr>
        <p:txBody>
          <a:bodyPr spcFirstLastPara="1" wrap="square" lIns="91425" tIns="45700" rIns="91425" bIns="45700" anchor="t" anchorCtr="0">
            <a:spAutoFit/>
          </a:bodyPr>
          <a:lstStyle/>
          <a:p>
            <a:pPr marL="341313" marR="0" lvl="0" indent="-341313"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With this option, the old and new systems are both operated side by side until the organization is confident that the new system is operating satisfactorily, and at this point the old system is switched off.</a:t>
            </a:r>
            <a:endParaRPr/>
          </a:p>
        </p:txBody>
      </p:sp>
      <p:sp>
        <p:nvSpPr>
          <p:cNvPr id="240" name="Google Shape;240;p18"/>
          <p:cNvSpPr/>
          <p:nvPr/>
        </p:nvSpPr>
        <p:spPr>
          <a:xfrm>
            <a:off x="216408" y="2530666"/>
            <a:ext cx="5079492" cy="41549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chemeClr val="dk1"/>
                </a:solidFill>
                <a:latin typeface="Calibri"/>
                <a:ea typeface="Calibri"/>
                <a:cs typeface="Calibri"/>
                <a:sym typeface="Calibri"/>
              </a:rPr>
              <a:t>Advantages</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Less risk than direct changeover approach</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In the event that the new system fails or is unsatisfactory, the old system is a fallback.</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Users can gradually transition from the old to the new system.</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Data from the new system can be compared with data from the old system to validate the correct functioning of the new system.</a:t>
            </a:r>
            <a:endParaRPr/>
          </a:p>
        </p:txBody>
      </p:sp>
      <p:sp>
        <p:nvSpPr>
          <p:cNvPr id="241" name="Google Shape;241;p18"/>
          <p:cNvSpPr/>
          <p:nvPr/>
        </p:nvSpPr>
        <p:spPr>
          <a:xfrm>
            <a:off x="5295900" y="2535481"/>
            <a:ext cx="3638550" cy="178510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chemeClr val="dk1"/>
                </a:solidFill>
                <a:latin typeface="Calibri"/>
                <a:ea typeface="Calibri"/>
                <a:cs typeface="Calibri"/>
                <a:sym typeface="Calibri"/>
              </a:rPr>
              <a:t>Disadvantages</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More expensive than direct changeover approach</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Users may be reluctant to move to the new system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9"/>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48" name="Google Shape;248;p19"/>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Pilot Implementation</a:t>
            </a:r>
            <a:endParaRPr/>
          </a:p>
        </p:txBody>
      </p:sp>
      <p:sp>
        <p:nvSpPr>
          <p:cNvPr id="249" name="Google Shape;249;p19"/>
          <p:cNvSpPr/>
          <p:nvPr/>
        </p:nvSpPr>
        <p:spPr>
          <a:xfrm>
            <a:off x="0" y="1243065"/>
            <a:ext cx="9144000" cy="1107996"/>
          </a:xfrm>
          <a:prstGeom prst="rect">
            <a:avLst/>
          </a:prstGeom>
          <a:noFill/>
          <a:ln>
            <a:noFill/>
          </a:ln>
        </p:spPr>
        <p:txBody>
          <a:bodyPr spcFirstLastPara="1" wrap="square" lIns="91425" tIns="45700" rIns="91425" bIns="45700" anchor="t" anchorCtr="0">
            <a:spAutoFit/>
          </a:bodyPr>
          <a:lstStyle/>
          <a:p>
            <a:pPr marL="520700" marR="0" lvl="0" indent="-5207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A pilot implementation is where the new system is initially implemented in one or more sites, or with a subset of users, rather than being implemented across the whole organization. </a:t>
            </a:r>
            <a:endParaRPr/>
          </a:p>
        </p:txBody>
      </p:sp>
      <p:sp>
        <p:nvSpPr>
          <p:cNvPr id="250" name="Google Shape;250;p19"/>
          <p:cNvSpPr/>
          <p:nvPr/>
        </p:nvSpPr>
        <p:spPr>
          <a:xfrm>
            <a:off x="102108" y="2619194"/>
            <a:ext cx="4989846" cy="41549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chemeClr val="dk1"/>
                </a:solidFill>
                <a:latin typeface="Calibri"/>
                <a:ea typeface="Calibri"/>
                <a:cs typeface="Calibri"/>
                <a:sym typeface="Calibri"/>
              </a:rPr>
              <a:t>Advantages</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Less risk than direct changeover approach</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New system is only deployed to the organization as a whole when it is more stable and major problems have been eliminated</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Operational use during pilot enables new system to be ‘tuned’ to be more effective</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Less costly to implement the new system and resolve any errors in pilot</a:t>
            </a:r>
            <a:endParaRPr/>
          </a:p>
        </p:txBody>
      </p:sp>
      <p:sp>
        <p:nvSpPr>
          <p:cNvPr id="251" name="Google Shape;251;p19"/>
          <p:cNvSpPr/>
          <p:nvPr/>
        </p:nvSpPr>
        <p:spPr>
          <a:xfrm>
            <a:off x="5091954" y="2624009"/>
            <a:ext cx="3693458" cy="28007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chemeClr val="dk1"/>
                </a:solidFill>
                <a:latin typeface="Calibri"/>
                <a:ea typeface="Calibri"/>
                <a:cs typeface="Calibri"/>
                <a:sym typeface="Calibri"/>
              </a:rPr>
              <a:t>Disadvantages</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The area chosen for pilot might not be typical of the users and sites as a whole</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If the experience of users during pilot is poor, it might undermine confidence in new system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0"/>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58" name="Google Shape;258;p20"/>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Phased Implementation</a:t>
            </a:r>
            <a:endParaRPr/>
          </a:p>
        </p:txBody>
      </p:sp>
      <p:sp>
        <p:nvSpPr>
          <p:cNvPr id="259" name="Google Shape;259;p20"/>
          <p:cNvSpPr/>
          <p:nvPr/>
        </p:nvSpPr>
        <p:spPr>
          <a:xfrm>
            <a:off x="0" y="1243065"/>
            <a:ext cx="9144000" cy="1446550"/>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The functionality of the new system is deployed in stages or increments such that, in the first phase, a subset of the total functionality of the new system is deployed, and then additional components and functionality are deployed in successive stages until the new system is fully operational.</a:t>
            </a:r>
            <a:endParaRPr/>
          </a:p>
        </p:txBody>
      </p:sp>
      <p:sp>
        <p:nvSpPr>
          <p:cNvPr id="260" name="Google Shape;260;p20"/>
          <p:cNvSpPr/>
          <p:nvPr/>
        </p:nvSpPr>
        <p:spPr>
          <a:xfrm>
            <a:off x="102108" y="2823142"/>
            <a:ext cx="4527042" cy="38164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chemeClr val="dk1"/>
                </a:solidFill>
                <a:latin typeface="Calibri"/>
                <a:ea typeface="Calibri"/>
                <a:cs typeface="Calibri"/>
                <a:sym typeface="Calibri"/>
              </a:rPr>
              <a:t>Advantages</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Higher priority requirements and functionality can be delivered sooner</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The risk is reduced</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Users can gradually transition from the old to the new system in stages, and gain confidence</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It is easier to fall back to earlier phases if problems are encountered with later phases</a:t>
            </a:r>
            <a:endParaRPr/>
          </a:p>
        </p:txBody>
      </p:sp>
      <p:sp>
        <p:nvSpPr>
          <p:cNvPr id="261" name="Google Shape;261;p20"/>
          <p:cNvSpPr/>
          <p:nvPr/>
        </p:nvSpPr>
        <p:spPr>
          <a:xfrm>
            <a:off x="4629150" y="2827957"/>
            <a:ext cx="4305300" cy="38164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chemeClr val="dk1"/>
                </a:solidFill>
                <a:latin typeface="Calibri"/>
                <a:ea typeface="Calibri"/>
                <a:cs typeface="Calibri"/>
                <a:sym typeface="Calibri"/>
              </a:rPr>
              <a:t>Disadvantages</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Users might lose interest after their higher priority reqs are delivered in initial phases</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Users might not adopt earlier phases if they are mainly interested in features being delivered in later phases</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Can be expensive</a:t>
            </a:r>
            <a:endParaRPr/>
          </a:p>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Users might cling on to the old systems and ways of working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1"/>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68" name="Google Shape;268;p21"/>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The Implementation Plan</a:t>
            </a:r>
            <a:endParaRPr/>
          </a:p>
        </p:txBody>
      </p:sp>
      <p:sp>
        <p:nvSpPr>
          <p:cNvPr id="269" name="Google Shape;269;p21"/>
          <p:cNvSpPr/>
          <p:nvPr/>
        </p:nvSpPr>
        <p:spPr>
          <a:xfrm>
            <a:off x="128016" y="1243065"/>
            <a:ext cx="9015984" cy="3046988"/>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implementation plan is a key document in the system development lifecycle and is used by everyone involved in the implementation activity to ensure that all of the steps are detailed, understood and feasible. </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It also states what actions should be followed to validate that the implementation is being carried out successfully, and what actions and escalations should be triggered in the event of problems or issues.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2"/>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76" name="Google Shape;276;p22"/>
          <p:cNvSpPr txBox="1"/>
          <p:nvPr/>
        </p:nvSpPr>
        <p:spPr>
          <a:xfrm>
            <a:off x="0" y="295761"/>
            <a:ext cx="91440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chemeClr val="lt1"/>
                </a:solidFill>
                <a:latin typeface="Lato"/>
                <a:ea typeface="Lato"/>
                <a:cs typeface="Lato"/>
                <a:sym typeface="Lato"/>
              </a:rPr>
              <a:t>The Implementation Plan</a:t>
            </a:r>
            <a:endParaRPr/>
          </a:p>
        </p:txBody>
      </p:sp>
      <p:sp>
        <p:nvSpPr>
          <p:cNvPr id="277" name="Google Shape;277;p22"/>
          <p:cNvSpPr/>
          <p:nvPr/>
        </p:nvSpPr>
        <p:spPr>
          <a:xfrm>
            <a:off x="128016" y="1243065"/>
            <a:ext cx="9015984" cy="3785652"/>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 typical implementation plan includes:</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Author and sign-offs</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Revision history</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Purpose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System overview</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Stakeholders</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Points of contact</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Implementation schedule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Entry criteria</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Exit criteria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2298</Words>
  <Application>Microsoft Macintosh PowerPoint</Application>
  <PresentationFormat>On-screen Show (4:3)</PresentationFormat>
  <Paragraphs>176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Lato Light</vt:lpstr>
      <vt:lpstr>Lato Black</vt:lpstr>
      <vt:lpstr>Calibri</vt:lpstr>
      <vt:lpstr>Lato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 G</dc:creator>
  <cp:lastModifiedBy>Ir. Windy Gambetta, M.B.A.</cp:lastModifiedBy>
  <cp:revision>2</cp:revision>
  <dcterms:created xsi:type="dcterms:W3CDTF">2016-08-24T04:55:45Z</dcterms:created>
  <dcterms:modified xsi:type="dcterms:W3CDTF">2025-05-09T02:58:39Z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2025-05-07T01:09:30Z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c1fd0b64-3949-41d1-a069-d2b785a0c7f5</vt:lpwstr>
  </property>
  <property fmtid="{D5CDD505-2E9C-101B-9397-08002B2CF9AE}" pid="8" name="MSIP_Label_38b525e5-f3da-4501-8f1e-526b6769fc56_ContentBits">
    <vt:lpwstr>0</vt:lpwstr>
  </property>
  <property fmtid="{D5CDD505-2E9C-101B-9397-08002B2CF9AE}" pid="9" name="MSIP_Label_38b525e5-f3da-4501-8f1e-526b6769fc56_Tag">
    <vt:lpwstr>50, 3, 0, 1</vt:lpwstr>
  </property>
</Properties>
</file>