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79" r:id="rId2"/>
    <p:sldId id="327" r:id="rId3"/>
    <p:sldId id="307" r:id="rId4"/>
    <p:sldId id="308" r:id="rId5"/>
    <p:sldId id="309" r:id="rId6"/>
    <p:sldId id="310" r:id="rId7"/>
    <p:sldId id="311" r:id="rId8"/>
    <p:sldId id="312" r:id="rId9"/>
    <p:sldId id="313" r:id="rId10"/>
    <p:sldId id="314" r:id="rId11"/>
    <p:sldId id="315" r:id="rId12"/>
    <p:sldId id="316" r:id="rId13"/>
    <p:sldId id="317" r:id="rId14"/>
    <p:sldId id="318" r:id="rId15"/>
    <p:sldId id="319" r:id="rId16"/>
    <p:sldId id="320" r:id="rId17"/>
    <p:sldId id="321" r:id="rId18"/>
    <p:sldId id="322" r:id="rId19"/>
    <p:sldId id="323" r:id="rId20"/>
    <p:sldId id="324" r:id="rId21"/>
    <p:sldId id="325" r:id="rId22"/>
    <p:sldId id="326" r:id="rId2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45"/>
    <p:restoredTop sz="79349" autoAdjust="0"/>
  </p:normalViewPr>
  <p:slideViewPr>
    <p:cSldViewPr snapToGrid="0" snapToObjects="1">
      <p:cViewPr varScale="1">
        <p:scale>
          <a:sx n="84" d="100"/>
          <a:sy n="84" d="100"/>
        </p:scale>
        <p:origin x="2316" y="84"/>
      </p:cViewPr>
      <p:guideLst>
        <p:guide orient="horz" pos="2160"/>
        <p:guide pos="2880"/>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icky Prima Satya, S.T, M.T." userId="c98a5452-b725-4dbc-8599-e4256e85a980" providerId="ADAL" clId="{9D90B297-4774-4073-A04B-D4BA3D3D7AB3}"/>
    <pc:docChg chg="modSld sldOrd">
      <pc:chgData name="Dicky Prima Satya, S.T, M.T." userId="c98a5452-b725-4dbc-8599-e4256e85a980" providerId="ADAL" clId="{9D90B297-4774-4073-A04B-D4BA3D3D7AB3}" dt="2023-10-24T02:16:48.987" v="13"/>
      <pc:docMkLst>
        <pc:docMk/>
      </pc:docMkLst>
      <pc:sldChg chg="modSp mod">
        <pc:chgData name="Dicky Prima Satya, S.T, M.T." userId="c98a5452-b725-4dbc-8599-e4256e85a980" providerId="ADAL" clId="{9D90B297-4774-4073-A04B-D4BA3D3D7AB3}" dt="2023-10-24T02:12:53.338" v="3" actId="20577"/>
        <pc:sldMkLst>
          <pc:docMk/>
          <pc:sldMk cId="4065354264" sldId="279"/>
        </pc:sldMkLst>
        <pc:spChg chg="mod">
          <ac:chgData name="Dicky Prima Satya, S.T, M.T." userId="c98a5452-b725-4dbc-8599-e4256e85a980" providerId="ADAL" clId="{9D90B297-4774-4073-A04B-D4BA3D3D7AB3}" dt="2023-10-24T02:12:53.338" v="3" actId="20577"/>
          <ac:spMkLst>
            <pc:docMk/>
            <pc:sldMk cId="4065354264" sldId="279"/>
            <ac:spMk id="12" creationId="{00000000-0000-0000-0000-000000000000}"/>
          </ac:spMkLst>
        </pc:spChg>
      </pc:sldChg>
      <pc:sldChg chg="modSp mod">
        <pc:chgData name="Dicky Prima Satya, S.T, M.T." userId="c98a5452-b725-4dbc-8599-e4256e85a980" providerId="ADAL" clId="{9D90B297-4774-4073-A04B-D4BA3D3D7AB3}" dt="2023-10-24T02:13:06.462" v="8" actId="20577"/>
        <pc:sldMkLst>
          <pc:docMk/>
          <pc:sldMk cId="3148407916" sldId="307"/>
        </pc:sldMkLst>
        <pc:spChg chg="mod">
          <ac:chgData name="Dicky Prima Satya, S.T, M.T." userId="c98a5452-b725-4dbc-8599-e4256e85a980" providerId="ADAL" clId="{9D90B297-4774-4073-A04B-D4BA3D3D7AB3}" dt="2023-10-24T02:13:06.462" v="8" actId="20577"/>
          <ac:spMkLst>
            <pc:docMk/>
            <pc:sldMk cId="3148407916" sldId="307"/>
            <ac:spMk id="11" creationId="{00000000-0000-0000-0000-000000000000}"/>
          </ac:spMkLst>
        </pc:spChg>
      </pc:sldChg>
      <pc:sldChg chg="modSp mod ord">
        <pc:chgData name="Dicky Prima Satya, S.T, M.T." userId="c98a5452-b725-4dbc-8599-e4256e85a980" providerId="ADAL" clId="{9D90B297-4774-4073-A04B-D4BA3D3D7AB3}" dt="2023-10-24T02:16:48.987" v="13"/>
        <pc:sldMkLst>
          <pc:docMk/>
          <pc:sldMk cId="728759906" sldId="327"/>
        </pc:sldMkLst>
        <pc:spChg chg="mod">
          <ac:chgData name="Dicky Prima Satya, S.T, M.T." userId="c98a5452-b725-4dbc-8599-e4256e85a980" providerId="ADAL" clId="{9D90B297-4774-4073-A04B-D4BA3D3D7AB3}" dt="2023-10-24T02:14:36.039" v="9" actId="6549"/>
          <ac:spMkLst>
            <pc:docMk/>
            <pc:sldMk cId="728759906" sldId="327"/>
            <ac:spMk id="5" creationId="{9C2EF28A-7D0E-4513-8A00-87B3CB95B3EA}"/>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AC96555-1331-A948-B8C0-76C5C61AF710}" type="datetimeFigureOut">
              <a:t>10/24/2023</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D2B5633-2346-D94D-BA9C-6A3E2BD83B6F}" type="slidenum">
              <a:t>‹#›</a:t>
            </a:fld>
            <a:endParaRPr lang="en-US"/>
          </a:p>
        </p:txBody>
      </p:sp>
    </p:spTree>
    <p:extLst>
      <p:ext uri="{BB962C8B-B14F-4D97-AF65-F5344CB8AC3E}">
        <p14:creationId xmlns:p14="http://schemas.microsoft.com/office/powerpoint/2010/main" val="11033488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ED8A9B0-80EF-A34D-B345-E2DEC5501E01}" type="slidenum">
              <a:rPr lang="en-US" smtClean="0"/>
              <a:t>1</a:t>
            </a:fld>
            <a:endParaRPr lang="en-US"/>
          </a:p>
        </p:txBody>
      </p:sp>
    </p:spTree>
    <p:extLst>
      <p:ext uri="{BB962C8B-B14F-4D97-AF65-F5344CB8AC3E}">
        <p14:creationId xmlns:p14="http://schemas.microsoft.com/office/powerpoint/2010/main" val="40163217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sz="2400" b="0" dirty="0"/>
          </a:p>
        </p:txBody>
      </p:sp>
      <p:sp>
        <p:nvSpPr>
          <p:cNvPr id="4" name="Slide Number Placeholder 3"/>
          <p:cNvSpPr>
            <a:spLocks noGrp="1"/>
          </p:cNvSpPr>
          <p:nvPr>
            <p:ph type="sldNum" sz="quarter" idx="10"/>
          </p:nvPr>
        </p:nvSpPr>
        <p:spPr/>
        <p:txBody>
          <a:bodyPr/>
          <a:lstStyle/>
          <a:p>
            <a:fld id="{0ED8A9B0-80EF-A34D-B345-E2DEC5501E01}" type="slidenum">
              <a:rPr lang="en-US" smtClean="0"/>
              <a:t>3</a:t>
            </a:fld>
            <a:endParaRPr lang="en-US"/>
          </a:p>
        </p:txBody>
      </p:sp>
    </p:spTree>
    <p:extLst>
      <p:ext uri="{BB962C8B-B14F-4D97-AF65-F5344CB8AC3E}">
        <p14:creationId xmlns:p14="http://schemas.microsoft.com/office/powerpoint/2010/main" val="20388923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n.</a:t>
            </a:r>
            <a:endParaRPr lang="en-US" sz="2400" b="0" dirty="0"/>
          </a:p>
        </p:txBody>
      </p:sp>
      <p:sp>
        <p:nvSpPr>
          <p:cNvPr id="4" name="Slide Number Placeholder 3"/>
          <p:cNvSpPr>
            <a:spLocks noGrp="1"/>
          </p:cNvSpPr>
          <p:nvPr>
            <p:ph type="sldNum" sz="quarter" idx="10"/>
          </p:nvPr>
        </p:nvSpPr>
        <p:spPr/>
        <p:txBody>
          <a:bodyPr/>
          <a:lstStyle/>
          <a:p>
            <a:fld id="{0ED8A9B0-80EF-A34D-B345-E2DEC5501E01}" type="slidenum">
              <a:rPr lang="en-US" smtClean="0"/>
              <a:t>4</a:t>
            </a:fld>
            <a:endParaRPr lang="en-US"/>
          </a:p>
        </p:txBody>
      </p:sp>
    </p:spTree>
    <p:extLst>
      <p:ext uri="{BB962C8B-B14F-4D97-AF65-F5344CB8AC3E}">
        <p14:creationId xmlns:p14="http://schemas.microsoft.com/office/powerpoint/2010/main" val="37165959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n.</a:t>
            </a:r>
            <a:endParaRPr lang="en-US" sz="2400" b="0" dirty="0"/>
          </a:p>
        </p:txBody>
      </p:sp>
      <p:sp>
        <p:nvSpPr>
          <p:cNvPr id="4" name="Slide Number Placeholder 3"/>
          <p:cNvSpPr>
            <a:spLocks noGrp="1"/>
          </p:cNvSpPr>
          <p:nvPr>
            <p:ph type="sldNum" sz="quarter" idx="10"/>
          </p:nvPr>
        </p:nvSpPr>
        <p:spPr/>
        <p:txBody>
          <a:bodyPr/>
          <a:lstStyle/>
          <a:p>
            <a:fld id="{0ED8A9B0-80EF-A34D-B345-E2DEC5501E01}" type="slidenum">
              <a:rPr lang="en-US" smtClean="0"/>
              <a:t>5</a:t>
            </a:fld>
            <a:endParaRPr lang="en-US"/>
          </a:p>
        </p:txBody>
      </p:sp>
    </p:spTree>
    <p:extLst>
      <p:ext uri="{BB962C8B-B14F-4D97-AF65-F5344CB8AC3E}">
        <p14:creationId xmlns:p14="http://schemas.microsoft.com/office/powerpoint/2010/main" val="15489381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n.</a:t>
            </a:r>
            <a:endParaRPr lang="en-US" sz="2400" b="0" dirty="0"/>
          </a:p>
        </p:txBody>
      </p:sp>
      <p:sp>
        <p:nvSpPr>
          <p:cNvPr id="4" name="Slide Number Placeholder 3"/>
          <p:cNvSpPr>
            <a:spLocks noGrp="1"/>
          </p:cNvSpPr>
          <p:nvPr>
            <p:ph type="sldNum" sz="quarter" idx="10"/>
          </p:nvPr>
        </p:nvSpPr>
        <p:spPr/>
        <p:txBody>
          <a:bodyPr/>
          <a:lstStyle/>
          <a:p>
            <a:fld id="{0ED8A9B0-80EF-A34D-B345-E2DEC5501E01}" type="slidenum">
              <a:rPr lang="en-US" smtClean="0"/>
              <a:t>6</a:t>
            </a:fld>
            <a:endParaRPr lang="en-US"/>
          </a:p>
        </p:txBody>
      </p:sp>
    </p:spTree>
    <p:extLst>
      <p:ext uri="{BB962C8B-B14F-4D97-AF65-F5344CB8AC3E}">
        <p14:creationId xmlns:p14="http://schemas.microsoft.com/office/powerpoint/2010/main" val="1279521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n.</a:t>
            </a:r>
            <a:endParaRPr lang="en-US" sz="2400" b="0" dirty="0"/>
          </a:p>
        </p:txBody>
      </p:sp>
      <p:sp>
        <p:nvSpPr>
          <p:cNvPr id="4" name="Slide Number Placeholder 3"/>
          <p:cNvSpPr>
            <a:spLocks noGrp="1"/>
          </p:cNvSpPr>
          <p:nvPr>
            <p:ph type="sldNum" sz="quarter" idx="10"/>
          </p:nvPr>
        </p:nvSpPr>
        <p:spPr/>
        <p:txBody>
          <a:bodyPr/>
          <a:lstStyle/>
          <a:p>
            <a:fld id="{0ED8A9B0-80EF-A34D-B345-E2DEC5501E01}" type="slidenum">
              <a:rPr lang="en-US" smtClean="0"/>
              <a:t>7</a:t>
            </a:fld>
            <a:endParaRPr lang="en-US"/>
          </a:p>
        </p:txBody>
      </p:sp>
    </p:spTree>
    <p:extLst>
      <p:ext uri="{BB962C8B-B14F-4D97-AF65-F5344CB8AC3E}">
        <p14:creationId xmlns:p14="http://schemas.microsoft.com/office/powerpoint/2010/main" val="18211949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n.</a:t>
            </a:r>
            <a:endParaRPr lang="en-US" sz="2400" b="0" dirty="0"/>
          </a:p>
        </p:txBody>
      </p:sp>
      <p:sp>
        <p:nvSpPr>
          <p:cNvPr id="4" name="Slide Number Placeholder 3"/>
          <p:cNvSpPr>
            <a:spLocks noGrp="1"/>
          </p:cNvSpPr>
          <p:nvPr>
            <p:ph type="sldNum" sz="quarter" idx="10"/>
          </p:nvPr>
        </p:nvSpPr>
        <p:spPr/>
        <p:txBody>
          <a:bodyPr/>
          <a:lstStyle/>
          <a:p>
            <a:fld id="{0ED8A9B0-80EF-A34D-B345-E2DEC5501E01}" type="slidenum">
              <a:rPr lang="en-US" smtClean="0"/>
              <a:t>8</a:t>
            </a:fld>
            <a:endParaRPr lang="en-US"/>
          </a:p>
        </p:txBody>
      </p:sp>
    </p:spTree>
    <p:extLst>
      <p:ext uri="{BB962C8B-B14F-4D97-AF65-F5344CB8AC3E}">
        <p14:creationId xmlns:p14="http://schemas.microsoft.com/office/powerpoint/2010/main" val="42589785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n.</a:t>
            </a:r>
            <a:endParaRPr lang="en-US" sz="2400" b="0" dirty="0"/>
          </a:p>
        </p:txBody>
      </p:sp>
      <p:sp>
        <p:nvSpPr>
          <p:cNvPr id="4" name="Slide Number Placeholder 3"/>
          <p:cNvSpPr>
            <a:spLocks noGrp="1"/>
          </p:cNvSpPr>
          <p:nvPr>
            <p:ph type="sldNum" sz="quarter" idx="10"/>
          </p:nvPr>
        </p:nvSpPr>
        <p:spPr/>
        <p:txBody>
          <a:bodyPr/>
          <a:lstStyle/>
          <a:p>
            <a:fld id="{0ED8A9B0-80EF-A34D-B345-E2DEC5501E01}" type="slidenum">
              <a:rPr lang="en-US" smtClean="0"/>
              <a:t>9</a:t>
            </a:fld>
            <a:endParaRPr lang="en-US"/>
          </a:p>
        </p:txBody>
      </p:sp>
    </p:spTree>
    <p:extLst>
      <p:ext uri="{BB962C8B-B14F-4D97-AF65-F5344CB8AC3E}">
        <p14:creationId xmlns:p14="http://schemas.microsoft.com/office/powerpoint/2010/main" val="1290830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n.</a:t>
            </a:r>
            <a:endParaRPr lang="en-US" sz="2400" b="0" dirty="0"/>
          </a:p>
        </p:txBody>
      </p:sp>
      <p:sp>
        <p:nvSpPr>
          <p:cNvPr id="4" name="Slide Number Placeholder 3"/>
          <p:cNvSpPr>
            <a:spLocks noGrp="1"/>
          </p:cNvSpPr>
          <p:nvPr>
            <p:ph type="sldNum" sz="quarter" idx="10"/>
          </p:nvPr>
        </p:nvSpPr>
        <p:spPr/>
        <p:txBody>
          <a:bodyPr/>
          <a:lstStyle/>
          <a:p>
            <a:fld id="{0ED8A9B0-80EF-A34D-B345-E2DEC5501E01}" type="slidenum">
              <a:rPr lang="en-US" smtClean="0"/>
              <a:t>10</a:t>
            </a:fld>
            <a:endParaRPr lang="en-US"/>
          </a:p>
        </p:txBody>
      </p:sp>
    </p:spTree>
    <p:extLst>
      <p:ext uri="{BB962C8B-B14F-4D97-AF65-F5344CB8AC3E}">
        <p14:creationId xmlns:p14="http://schemas.microsoft.com/office/powerpoint/2010/main" val="38901791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n.</a:t>
            </a:r>
            <a:endParaRPr lang="en-US" sz="2400" b="0" dirty="0"/>
          </a:p>
        </p:txBody>
      </p:sp>
      <p:sp>
        <p:nvSpPr>
          <p:cNvPr id="4" name="Slide Number Placeholder 3"/>
          <p:cNvSpPr>
            <a:spLocks noGrp="1"/>
          </p:cNvSpPr>
          <p:nvPr>
            <p:ph type="sldNum" sz="quarter" idx="10"/>
          </p:nvPr>
        </p:nvSpPr>
        <p:spPr/>
        <p:txBody>
          <a:bodyPr/>
          <a:lstStyle/>
          <a:p>
            <a:fld id="{0ED8A9B0-80EF-A34D-B345-E2DEC5501E01}" type="slidenum">
              <a:rPr lang="en-US" smtClean="0"/>
              <a:t>11</a:t>
            </a:fld>
            <a:endParaRPr lang="en-US"/>
          </a:p>
        </p:txBody>
      </p:sp>
    </p:spTree>
    <p:extLst>
      <p:ext uri="{BB962C8B-B14F-4D97-AF65-F5344CB8AC3E}">
        <p14:creationId xmlns:p14="http://schemas.microsoft.com/office/powerpoint/2010/main" val="6954128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n.</a:t>
            </a:r>
            <a:endParaRPr lang="en-US" sz="2400" b="0" dirty="0"/>
          </a:p>
        </p:txBody>
      </p:sp>
      <p:sp>
        <p:nvSpPr>
          <p:cNvPr id="4" name="Slide Number Placeholder 3"/>
          <p:cNvSpPr>
            <a:spLocks noGrp="1"/>
          </p:cNvSpPr>
          <p:nvPr>
            <p:ph type="sldNum" sz="quarter" idx="10"/>
          </p:nvPr>
        </p:nvSpPr>
        <p:spPr/>
        <p:txBody>
          <a:bodyPr/>
          <a:lstStyle/>
          <a:p>
            <a:fld id="{0ED8A9B0-80EF-A34D-B345-E2DEC5501E01}" type="slidenum">
              <a:rPr lang="en-US" smtClean="0"/>
              <a:t>12</a:t>
            </a:fld>
            <a:endParaRPr lang="en-US"/>
          </a:p>
        </p:txBody>
      </p:sp>
    </p:spTree>
    <p:extLst>
      <p:ext uri="{BB962C8B-B14F-4D97-AF65-F5344CB8AC3E}">
        <p14:creationId xmlns:p14="http://schemas.microsoft.com/office/powerpoint/2010/main" val="49803068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n.</a:t>
            </a:r>
            <a:endParaRPr lang="en-US" sz="2400" b="0" dirty="0"/>
          </a:p>
        </p:txBody>
      </p:sp>
      <p:sp>
        <p:nvSpPr>
          <p:cNvPr id="4" name="Slide Number Placeholder 3"/>
          <p:cNvSpPr>
            <a:spLocks noGrp="1"/>
          </p:cNvSpPr>
          <p:nvPr>
            <p:ph type="sldNum" sz="quarter" idx="10"/>
          </p:nvPr>
        </p:nvSpPr>
        <p:spPr/>
        <p:txBody>
          <a:bodyPr/>
          <a:lstStyle/>
          <a:p>
            <a:fld id="{0ED8A9B0-80EF-A34D-B345-E2DEC5501E01}" type="slidenum">
              <a:rPr lang="en-US" smtClean="0"/>
              <a:t>13</a:t>
            </a:fld>
            <a:endParaRPr lang="en-US"/>
          </a:p>
        </p:txBody>
      </p:sp>
    </p:spTree>
    <p:extLst>
      <p:ext uri="{BB962C8B-B14F-4D97-AF65-F5344CB8AC3E}">
        <p14:creationId xmlns:p14="http://schemas.microsoft.com/office/powerpoint/2010/main" val="207534506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n.</a:t>
            </a:r>
            <a:endParaRPr lang="en-US" sz="2400" b="0" dirty="0"/>
          </a:p>
        </p:txBody>
      </p:sp>
      <p:sp>
        <p:nvSpPr>
          <p:cNvPr id="4" name="Slide Number Placeholder 3"/>
          <p:cNvSpPr>
            <a:spLocks noGrp="1"/>
          </p:cNvSpPr>
          <p:nvPr>
            <p:ph type="sldNum" sz="quarter" idx="10"/>
          </p:nvPr>
        </p:nvSpPr>
        <p:spPr/>
        <p:txBody>
          <a:bodyPr/>
          <a:lstStyle/>
          <a:p>
            <a:fld id="{0ED8A9B0-80EF-A34D-B345-E2DEC5501E01}" type="slidenum">
              <a:rPr lang="en-US" smtClean="0"/>
              <a:t>14</a:t>
            </a:fld>
            <a:endParaRPr lang="en-US"/>
          </a:p>
        </p:txBody>
      </p:sp>
    </p:spTree>
    <p:extLst>
      <p:ext uri="{BB962C8B-B14F-4D97-AF65-F5344CB8AC3E}">
        <p14:creationId xmlns:p14="http://schemas.microsoft.com/office/powerpoint/2010/main" val="268211903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n.</a:t>
            </a:r>
            <a:endParaRPr lang="en-US" sz="2400" b="0" dirty="0"/>
          </a:p>
        </p:txBody>
      </p:sp>
      <p:sp>
        <p:nvSpPr>
          <p:cNvPr id="4" name="Slide Number Placeholder 3"/>
          <p:cNvSpPr>
            <a:spLocks noGrp="1"/>
          </p:cNvSpPr>
          <p:nvPr>
            <p:ph type="sldNum" sz="quarter" idx="10"/>
          </p:nvPr>
        </p:nvSpPr>
        <p:spPr/>
        <p:txBody>
          <a:bodyPr/>
          <a:lstStyle/>
          <a:p>
            <a:fld id="{0ED8A9B0-80EF-A34D-B345-E2DEC5501E01}" type="slidenum">
              <a:rPr lang="en-US" smtClean="0"/>
              <a:t>15</a:t>
            </a:fld>
            <a:endParaRPr lang="en-US"/>
          </a:p>
        </p:txBody>
      </p:sp>
    </p:spTree>
    <p:extLst>
      <p:ext uri="{BB962C8B-B14F-4D97-AF65-F5344CB8AC3E}">
        <p14:creationId xmlns:p14="http://schemas.microsoft.com/office/powerpoint/2010/main" val="319078028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n.</a:t>
            </a:r>
            <a:endParaRPr lang="en-US" sz="2400" b="0" dirty="0"/>
          </a:p>
        </p:txBody>
      </p:sp>
      <p:sp>
        <p:nvSpPr>
          <p:cNvPr id="4" name="Slide Number Placeholder 3"/>
          <p:cNvSpPr>
            <a:spLocks noGrp="1"/>
          </p:cNvSpPr>
          <p:nvPr>
            <p:ph type="sldNum" sz="quarter" idx="10"/>
          </p:nvPr>
        </p:nvSpPr>
        <p:spPr/>
        <p:txBody>
          <a:bodyPr/>
          <a:lstStyle/>
          <a:p>
            <a:fld id="{0ED8A9B0-80EF-A34D-B345-E2DEC5501E01}" type="slidenum">
              <a:rPr lang="en-US" smtClean="0"/>
              <a:t>16</a:t>
            </a:fld>
            <a:endParaRPr lang="en-US"/>
          </a:p>
        </p:txBody>
      </p:sp>
    </p:spTree>
    <p:extLst>
      <p:ext uri="{BB962C8B-B14F-4D97-AF65-F5344CB8AC3E}">
        <p14:creationId xmlns:p14="http://schemas.microsoft.com/office/powerpoint/2010/main" val="279253371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n.</a:t>
            </a:r>
            <a:endParaRPr lang="en-US" sz="2400" b="0" dirty="0"/>
          </a:p>
        </p:txBody>
      </p:sp>
      <p:sp>
        <p:nvSpPr>
          <p:cNvPr id="4" name="Slide Number Placeholder 3"/>
          <p:cNvSpPr>
            <a:spLocks noGrp="1"/>
          </p:cNvSpPr>
          <p:nvPr>
            <p:ph type="sldNum" sz="quarter" idx="10"/>
          </p:nvPr>
        </p:nvSpPr>
        <p:spPr/>
        <p:txBody>
          <a:bodyPr/>
          <a:lstStyle/>
          <a:p>
            <a:fld id="{0ED8A9B0-80EF-A34D-B345-E2DEC5501E01}" type="slidenum">
              <a:rPr lang="en-US" smtClean="0"/>
              <a:t>17</a:t>
            </a:fld>
            <a:endParaRPr lang="en-US"/>
          </a:p>
        </p:txBody>
      </p:sp>
    </p:spTree>
    <p:extLst>
      <p:ext uri="{BB962C8B-B14F-4D97-AF65-F5344CB8AC3E}">
        <p14:creationId xmlns:p14="http://schemas.microsoft.com/office/powerpoint/2010/main" val="72984073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n.</a:t>
            </a:r>
            <a:endParaRPr lang="en-US" sz="2400" b="0" dirty="0"/>
          </a:p>
        </p:txBody>
      </p:sp>
      <p:sp>
        <p:nvSpPr>
          <p:cNvPr id="4" name="Slide Number Placeholder 3"/>
          <p:cNvSpPr>
            <a:spLocks noGrp="1"/>
          </p:cNvSpPr>
          <p:nvPr>
            <p:ph type="sldNum" sz="quarter" idx="10"/>
          </p:nvPr>
        </p:nvSpPr>
        <p:spPr/>
        <p:txBody>
          <a:bodyPr/>
          <a:lstStyle/>
          <a:p>
            <a:fld id="{0ED8A9B0-80EF-A34D-B345-E2DEC5501E01}" type="slidenum">
              <a:rPr lang="en-US" smtClean="0"/>
              <a:t>18</a:t>
            </a:fld>
            <a:endParaRPr lang="en-US"/>
          </a:p>
        </p:txBody>
      </p:sp>
    </p:spTree>
    <p:extLst>
      <p:ext uri="{BB962C8B-B14F-4D97-AF65-F5344CB8AC3E}">
        <p14:creationId xmlns:p14="http://schemas.microsoft.com/office/powerpoint/2010/main" val="140541783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n.</a:t>
            </a:r>
            <a:endParaRPr lang="en-US" sz="2400" b="0" dirty="0"/>
          </a:p>
        </p:txBody>
      </p:sp>
      <p:sp>
        <p:nvSpPr>
          <p:cNvPr id="4" name="Slide Number Placeholder 3"/>
          <p:cNvSpPr>
            <a:spLocks noGrp="1"/>
          </p:cNvSpPr>
          <p:nvPr>
            <p:ph type="sldNum" sz="quarter" idx="10"/>
          </p:nvPr>
        </p:nvSpPr>
        <p:spPr/>
        <p:txBody>
          <a:bodyPr/>
          <a:lstStyle/>
          <a:p>
            <a:fld id="{0ED8A9B0-80EF-A34D-B345-E2DEC5501E01}" type="slidenum">
              <a:rPr lang="en-US" smtClean="0"/>
              <a:t>19</a:t>
            </a:fld>
            <a:endParaRPr lang="en-US"/>
          </a:p>
        </p:txBody>
      </p:sp>
    </p:spTree>
    <p:extLst>
      <p:ext uri="{BB962C8B-B14F-4D97-AF65-F5344CB8AC3E}">
        <p14:creationId xmlns:p14="http://schemas.microsoft.com/office/powerpoint/2010/main" val="30705588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n.</a:t>
            </a:r>
            <a:endParaRPr lang="en-US" sz="2400" b="0" dirty="0"/>
          </a:p>
        </p:txBody>
      </p:sp>
      <p:sp>
        <p:nvSpPr>
          <p:cNvPr id="4" name="Slide Number Placeholder 3"/>
          <p:cNvSpPr>
            <a:spLocks noGrp="1"/>
          </p:cNvSpPr>
          <p:nvPr>
            <p:ph type="sldNum" sz="quarter" idx="10"/>
          </p:nvPr>
        </p:nvSpPr>
        <p:spPr/>
        <p:txBody>
          <a:bodyPr/>
          <a:lstStyle/>
          <a:p>
            <a:fld id="{0ED8A9B0-80EF-A34D-B345-E2DEC5501E01}" type="slidenum">
              <a:rPr lang="en-US" smtClean="0"/>
              <a:t>20</a:t>
            </a:fld>
            <a:endParaRPr lang="en-US"/>
          </a:p>
        </p:txBody>
      </p:sp>
    </p:spTree>
    <p:extLst>
      <p:ext uri="{BB962C8B-B14F-4D97-AF65-F5344CB8AC3E}">
        <p14:creationId xmlns:p14="http://schemas.microsoft.com/office/powerpoint/2010/main" val="184199162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n.</a:t>
            </a:r>
            <a:endParaRPr lang="en-US" sz="2400" b="0" dirty="0"/>
          </a:p>
        </p:txBody>
      </p:sp>
      <p:sp>
        <p:nvSpPr>
          <p:cNvPr id="4" name="Slide Number Placeholder 3"/>
          <p:cNvSpPr>
            <a:spLocks noGrp="1"/>
          </p:cNvSpPr>
          <p:nvPr>
            <p:ph type="sldNum" sz="quarter" idx="10"/>
          </p:nvPr>
        </p:nvSpPr>
        <p:spPr/>
        <p:txBody>
          <a:bodyPr/>
          <a:lstStyle/>
          <a:p>
            <a:fld id="{0ED8A9B0-80EF-A34D-B345-E2DEC5501E01}" type="slidenum">
              <a:rPr lang="en-US" smtClean="0"/>
              <a:t>21</a:t>
            </a:fld>
            <a:endParaRPr lang="en-US"/>
          </a:p>
        </p:txBody>
      </p:sp>
    </p:spTree>
    <p:extLst>
      <p:ext uri="{BB962C8B-B14F-4D97-AF65-F5344CB8AC3E}">
        <p14:creationId xmlns:p14="http://schemas.microsoft.com/office/powerpoint/2010/main" val="213112536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n.</a:t>
            </a:r>
            <a:endParaRPr lang="en-US" sz="2400" b="0" dirty="0"/>
          </a:p>
        </p:txBody>
      </p:sp>
      <p:sp>
        <p:nvSpPr>
          <p:cNvPr id="4" name="Slide Number Placeholder 3"/>
          <p:cNvSpPr>
            <a:spLocks noGrp="1"/>
          </p:cNvSpPr>
          <p:nvPr>
            <p:ph type="sldNum" sz="quarter" idx="10"/>
          </p:nvPr>
        </p:nvSpPr>
        <p:spPr/>
        <p:txBody>
          <a:bodyPr/>
          <a:lstStyle/>
          <a:p>
            <a:fld id="{0ED8A9B0-80EF-A34D-B345-E2DEC5501E01}" type="slidenum">
              <a:rPr lang="en-US" smtClean="0"/>
              <a:t>22</a:t>
            </a:fld>
            <a:endParaRPr lang="en-US"/>
          </a:p>
        </p:txBody>
      </p:sp>
    </p:spTree>
    <p:extLst>
      <p:ext uri="{BB962C8B-B14F-4D97-AF65-F5344CB8AC3E}">
        <p14:creationId xmlns:p14="http://schemas.microsoft.com/office/powerpoint/2010/main" val="1354385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0FF5F1D7-66E1-9743-A16C-C84344C28A66}" type="datetimeFigureOut">
              <a:rPr lang="en-US" smtClean="0"/>
              <a:pPr/>
              <a:t>10/24/2023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F333D9F-47EE-C945-BA73-E7E5401F673A}"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FF5F1D7-66E1-9743-A16C-C84344C28A66}" type="datetimeFigureOut">
              <a:rPr lang="en-US" smtClean="0"/>
              <a:pPr/>
              <a:t>10/24/2023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F333D9F-47EE-C945-BA73-E7E5401F673A}"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FF5F1D7-66E1-9743-A16C-C84344C28A66}" type="datetimeFigureOut">
              <a:rPr lang="en-US" smtClean="0"/>
              <a:pPr/>
              <a:t>10/24/2023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F333D9F-47EE-C945-BA73-E7E5401F673A}"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FF5F1D7-66E1-9743-A16C-C84344C28A66}" type="datetimeFigureOut">
              <a:rPr lang="en-US" smtClean="0"/>
              <a:pPr/>
              <a:t>10/24/2023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F333D9F-47EE-C945-BA73-E7E5401F673A}"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FF5F1D7-66E1-9743-A16C-C84344C28A66}" type="datetimeFigureOut">
              <a:rPr lang="en-US" smtClean="0"/>
              <a:pPr/>
              <a:t>10/24/2023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F333D9F-47EE-C945-BA73-E7E5401F673A}"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FF5F1D7-66E1-9743-A16C-C84344C28A66}" type="datetimeFigureOut">
              <a:rPr lang="en-US" smtClean="0"/>
              <a:pPr/>
              <a:t>10/24/2023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F333D9F-47EE-C945-BA73-E7E5401F673A}"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FF5F1D7-66E1-9743-A16C-C84344C28A66}" type="datetimeFigureOut">
              <a:rPr lang="en-US" smtClean="0"/>
              <a:pPr/>
              <a:t>10/24/2023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F333D9F-47EE-C945-BA73-E7E5401F673A}"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FF5F1D7-66E1-9743-A16C-C84344C28A66}" type="datetimeFigureOut">
              <a:rPr lang="en-US" smtClean="0"/>
              <a:pPr/>
              <a:t>10/24/2023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F333D9F-47EE-C945-BA73-E7E5401F673A}"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FF5F1D7-66E1-9743-A16C-C84344C28A66}" type="datetimeFigureOut">
              <a:rPr lang="en-US" smtClean="0"/>
              <a:pPr/>
              <a:t>10/24/2023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F333D9F-47EE-C945-BA73-E7E5401F673A}"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FF5F1D7-66E1-9743-A16C-C84344C28A66}" type="datetimeFigureOut">
              <a:rPr lang="en-US" smtClean="0"/>
              <a:pPr/>
              <a:t>10/24/2023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F333D9F-47EE-C945-BA73-E7E5401F673A}"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FF5F1D7-66E1-9743-A16C-C84344C28A66}" type="datetimeFigureOut">
              <a:rPr lang="en-US" smtClean="0"/>
              <a:pPr/>
              <a:t>10/24/2023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F333D9F-47EE-C945-BA73-E7E5401F673A}"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Design">
    <p:spTree>
      <p:nvGrpSpPr>
        <p:cNvPr id="1" name=""/>
        <p:cNvGrpSpPr/>
        <p:nvPr/>
      </p:nvGrpSpPr>
      <p:grpSpPr>
        <a:xfrm>
          <a:off x="0" y="0"/>
          <a:ext cx="0" cy="0"/>
          <a:chOff x="0" y="0"/>
          <a:chExt cx="0" cy="0"/>
        </a:xfrm>
      </p:grpSpPr>
    </p:spTree>
    <p:extLst>
      <p:ext uri="{BB962C8B-B14F-4D97-AF65-F5344CB8AC3E}">
        <p14:creationId xmlns:p14="http://schemas.microsoft.com/office/powerpoint/2010/main" val="16285080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3_Design">
    <p:spTree>
      <p:nvGrpSpPr>
        <p:cNvPr id="1" name=""/>
        <p:cNvGrpSpPr/>
        <p:nvPr/>
      </p:nvGrpSpPr>
      <p:grpSpPr>
        <a:xfrm>
          <a:off x="0" y="0"/>
          <a:ext cx="0" cy="0"/>
          <a:chOff x="0" y="0"/>
          <a:chExt cx="0" cy="0"/>
        </a:xfrm>
      </p:grpSpPr>
      <p:sp>
        <p:nvSpPr>
          <p:cNvPr id="5" name="Picture Placeholder 4"/>
          <p:cNvSpPr>
            <a:spLocks noGrp="1"/>
          </p:cNvSpPr>
          <p:nvPr>
            <p:ph type="pic" sz="quarter" idx="13"/>
          </p:nvPr>
        </p:nvSpPr>
        <p:spPr>
          <a:xfrm>
            <a:off x="4658500" y="3429001"/>
            <a:ext cx="4485500" cy="3429000"/>
          </a:xfrm>
          <a:prstGeom prst="rect">
            <a:avLst/>
          </a:prstGeom>
          <a:solidFill>
            <a:schemeClr val="bg1">
              <a:lumMod val="95000"/>
            </a:schemeClr>
          </a:solidFill>
        </p:spPr>
        <p:txBody>
          <a:bodyPr>
            <a:normAutofit/>
          </a:bodyPr>
          <a:lstStyle>
            <a:lvl1pPr marL="0" indent="0">
              <a:buNone/>
              <a:defRPr sz="2000" b="0" i="0">
                <a:latin typeface="Lato Light" charset="0"/>
              </a:defRPr>
            </a:lvl1pPr>
          </a:lstStyle>
          <a:p>
            <a:endParaRPr lang="en-US" dirty="0"/>
          </a:p>
        </p:txBody>
      </p:sp>
      <p:sp>
        <p:nvSpPr>
          <p:cNvPr id="7" name="Picture Placeholder 4"/>
          <p:cNvSpPr>
            <a:spLocks noGrp="1"/>
          </p:cNvSpPr>
          <p:nvPr>
            <p:ph type="pic" sz="quarter" idx="12"/>
          </p:nvPr>
        </p:nvSpPr>
        <p:spPr>
          <a:xfrm>
            <a:off x="0" y="3429001"/>
            <a:ext cx="4485500" cy="3429000"/>
          </a:xfrm>
          <a:prstGeom prst="rect">
            <a:avLst/>
          </a:prstGeom>
          <a:solidFill>
            <a:schemeClr val="bg1">
              <a:lumMod val="95000"/>
            </a:schemeClr>
          </a:solidFill>
        </p:spPr>
        <p:txBody>
          <a:bodyPr>
            <a:normAutofit/>
          </a:bodyPr>
          <a:lstStyle>
            <a:lvl1pPr marL="0" indent="0">
              <a:buNone/>
              <a:defRPr sz="2000" b="0" i="0">
                <a:latin typeface="Lato Light" charset="0"/>
              </a:defRPr>
            </a:lvl1pPr>
          </a:lstStyle>
          <a:p>
            <a:endParaRPr lang="en-US" dirty="0"/>
          </a:p>
        </p:txBody>
      </p:sp>
    </p:spTree>
    <p:extLst>
      <p:ext uri="{BB962C8B-B14F-4D97-AF65-F5344CB8AC3E}">
        <p14:creationId xmlns:p14="http://schemas.microsoft.com/office/powerpoint/2010/main" val="35096668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FF5F1D7-66E1-9743-A16C-C84344C28A66}" type="datetimeFigureOut">
              <a:rPr lang="en-US" smtClean="0"/>
              <a:pPr/>
              <a:t>10/24/2023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F333D9F-47EE-C945-BA73-E7E5401F673A}"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461665"/>
            <a:ext cx="9143999" cy="6096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Lato Light" charset="0"/>
            </a:endParaRPr>
          </a:p>
        </p:txBody>
      </p:sp>
      <p:grpSp>
        <p:nvGrpSpPr>
          <p:cNvPr id="3" name="Group 2"/>
          <p:cNvGrpSpPr/>
          <p:nvPr/>
        </p:nvGrpSpPr>
        <p:grpSpPr>
          <a:xfrm>
            <a:off x="597195" y="1489570"/>
            <a:ext cx="8546804" cy="3139320"/>
            <a:chOff x="597195" y="1417888"/>
            <a:chExt cx="5391623" cy="3139320"/>
          </a:xfrm>
        </p:grpSpPr>
        <p:sp>
          <p:nvSpPr>
            <p:cNvPr id="10" name="TextBox 9"/>
            <p:cNvSpPr txBox="1"/>
            <p:nvPr/>
          </p:nvSpPr>
          <p:spPr>
            <a:xfrm>
              <a:off x="597195" y="1417888"/>
              <a:ext cx="5391623" cy="2246769"/>
            </a:xfrm>
            <a:prstGeom prst="rect">
              <a:avLst/>
            </a:prstGeom>
            <a:noFill/>
          </p:spPr>
          <p:txBody>
            <a:bodyPr wrap="square" rtlCol="0">
              <a:spAutoFit/>
            </a:bodyPr>
            <a:lstStyle/>
            <a:p>
              <a:r>
                <a:rPr lang="en-US" sz="5400" b="1" dirty="0">
                  <a:solidFill>
                    <a:schemeClr val="bg1"/>
                  </a:solidFill>
                  <a:latin typeface="Lato Heavy" charset="0"/>
                  <a:ea typeface="Lato Heavy" charset="0"/>
                  <a:cs typeface="Lato Heavy" charset="0"/>
                </a:rPr>
                <a:t>IF3141</a:t>
              </a:r>
            </a:p>
            <a:p>
              <a:r>
                <a:rPr lang="en-US" sz="5400" b="1" dirty="0">
                  <a:solidFill>
                    <a:schemeClr val="bg1"/>
                  </a:solidFill>
                  <a:latin typeface="Lato Heavy" charset="0"/>
                  <a:ea typeface="Lato Heavy" charset="0"/>
                  <a:cs typeface="Lato Heavy" charset="0"/>
                </a:rPr>
                <a:t>SISTEM INFORMASI</a:t>
              </a:r>
            </a:p>
            <a:p>
              <a:r>
                <a:rPr lang="en-US" sz="3200" b="1" dirty="0">
                  <a:solidFill>
                    <a:schemeClr val="bg1"/>
                  </a:solidFill>
                  <a:latin typeface="Lato Heavy" charset="0"/>
                  <a:ea typeface="Lato Heavy" charset="0"/>
                  <a:cs typeface="Lato Heavy" charset="0"/>
                </a:rPr>
                <a:t>System Modelling Technique</a:t>
              </a:r>
              <a:endParaRPr lang="en-US" sz="4000" b="1" dirty="0">
                <a:solidFill>
                  <a:schemeClr val="bg1"/>
                </a:solidFill>
                <a:latin typeface="Lato Heavy" charset="0"/>
                <a:ea typeface="Lato Heavy" charset="0"/>
                <a:cs typeface="Lato Heavy" charset="0"/>
              </a:endParaRPr>
            </a:p>
          </p:txBody>
        </p:sp>
        <p:sp>
          <p:nvSpPr>
            <p:cNvPr id="12" name="Rectangle 11"/>
            <p:cNvSpPr/>
            <p:nvPr/>
          </p:nvSpPr>
          <p:spPr>
            <a:xfrm>
              <a:off x="607242" y="3972433"/>
              <a:ext cx="5381576" cy="584775"/>
            </a:xfrm>
            <a:prstGeom prst="rect">
              <a:avLst/>
            </a:prstGeom>
          </p:spPr>
          <p:txBody>
            <a:bodyPr wrap="square">
              <a:spAutoFit/>
            </a:bodyPr>
            <a:lstStyle/>
            <a:p>
              <a:r>
                <a:rPr lang="en-US" sz="3200" dirty="0">
                  <a:solidFill>
                    <a:schemeClr val="accent1">
                      <a:lumMod val="40000"/>
                      <a:lumOff val="60000"/>
                    </a:schemeClr>
                  </a:solidFill>
                  <a:latin typeface="Lato" charset="0"/>
                  <a:ea typeface="Lato" charset="0"/>
                  <a:cs typeface="Lato" charset="0"/>
                </a:rPr>
                <a:t>Semester I 2023/2024</a:t>
              </a:r>
              <a:endParaRPr lang="en-US" sz="3200" dirty="0">
                <a:solidFill>
                  <a:schemeClr val="accent1">
                    <a:lumMod val="40000"/>
                    <a:lumOff val="60000"/>
                  </a:schemeClr>
                </a:solidFill>
                <a:effectLst/>
                <a:latin typeface="Lato" charset="0"/>
                <a:ea typeface="Lato" charset="0"/>
                <a:cs typeface="Lato" charset="0"/>
              </a:endParaRPr>
            </a:p>
          </p:txBody>
        </p:sp>
      </p:grpSp>
      <p:sp>
        <p:nvSpPr>
          <p:cNvPr id="17" name="Rectangle 16"/>
          <p:cNvSpPr/>
          <p:nvPr/>
        </p:nvSpPr>
        <p:spPr>
          <a:xfrm>
            <a:off x="597195" y="6217230"/>
            <a:ext cx="3762104" cy="461665"/>
          </a:xfrm>
          <a:prstGeom prst="rect">
            <a:avLst/>
          </a:prstGeom>
        </p:spPr>
        <p:txBody>
          <a:bodyPr wrap="square">
            <a:spAutoFit/>
          </a:bodyPr>
          <a:lstStyle/>
          <a:p>
            <a:pPr>
              <a:lnSpc>
                <a:spcPct val="150000"/>
              </a:lnSpc>
            </a:pPr>
            <a:r>
              <a:rPr lang="en-US" sz="1200" dirty="0">
                <a:solidFill>
                  <a:schemeClr val="bg1">
                    <a:lumMod val="50000"/>
                  </a:schemeClr>
                </a:solidFill>
                <a:latin typeface="Lato" charset="0"/>
                <a:ea typeface="Lato" charset="0"/>
                <a:cs typeface="Lato" charset="0"/>
              </a:rPr>
              <a:t>IF3141 </a:t>
            </a:r>
            <a:r>
              <a:rPr lang="en-US" sz="1600" b="1" dirty="0">
                <a:solidFill>
                  <a:schemeClr val="bg1">
                    <a:lumMod val="50000"/>
                  </a:schemeClr>
                </a:solidFill>
                <a:latin typeface="Lato" charset="0"/>
                <a:ea typeface="Lato" charset="0"/>
                <a:cs typeface="Lato" charset="0"/>
              </a:rPr>
              <a:t>|</a:t>
            </a:r>
            <a:r>
              <a:rPr lang="en-US" sz="1200" b="1" dirty="0">
                <a:solidFill>
                  <a:schemeClr val="bg1">
                    <a:lumMod val="50000"/>
                  </a:schemeClr>
                </a:solidFill>
                <a:latin typeface="Lato" charset="0"/>
                <a:ea typeface="Lato" charset="0"/>
                <a:cs typeface="Lato" charset="0"/>
              </a:rPr>
              <a:t> </a:t>
            </a:r>
            <a:r>
              <a:rPr lang="en-US" sz="1200" dirty="0">
                <a:solidFill>
                  <a:schemeClr val="bg1">
                    <a:lumMod val="50000"/>
                  </a:schemeClr>
                </a:solidFill>
                <a:latin typeface="Lato" charset="0"/>
                <a:ea typeface="Lato" charset="0"/>
                <a:cs typeface="Lato" charset="0"/>
              </a:rPr>
              <a:t>TEKNIK INFORMATIKA ITB</a:t>
            </a:r>
            <a:endParaRPr lang="en-US" sz="1200" dirty="0">
              <a:solidFill>
                <a:schemeClr val="bg1">
                  <a:lumMod val="50000"/>
                </a:schemeClr>
              </a:solidFill>
              <a:effectLst/>
              <a:latin typeface="Lato" charset="0"/>
              <a:ea typeface="Lato" charset="0"/>
              <a:cs typeface="Lato" charset="0"/>
            </a:endParaRPr>
          </a:p>
        </p:txBody>
      </p:sp>
    </p:spTree>
    <p:extLst>
      <p:ext uri="{BB962C8B-B14F-4D97-AF65-F5344CB8AC3E}">
        <p14:creationId xmlns:p14="http://schemas.microsoft.com/office/powerpoint/2010/main" val="40653542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88333BA-AE6E-427A-9B16-A39C8073F4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98ED85F-DCEE-4B50-802E-71A6E3E12B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241173" y="320040"/>
            <a:ext cx="8661654" cy="6217920"/>
          </a:xfrm>
          <a:prstGeom prst="rect">
            <a:avLst/>
          </a:prstGeom>
          <a:solidFill>
            <a:schemeClr val="bg1"/>
          </a:solidFill>
          <a:ln w="127000" cap="sq" cmpd="thinThick">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7EEE7679-4870-4F54-8E8C-C99B81F26D75}"/>
              </a:ext>
            </a:extLst>
          </p:cNvPr>
          <p:cNvSpPr>
            <a:spLocks noGrp="1"/>
          </p:cNvSpPr>
          <p:nvPr>
            <p:ph type="title"/>
          </p:nvPr>
        </p:nvSpPr>
        <p:spPr>
          <a:xfrm>
            <a:off x="628650" y="631825"/>
            <a:ext cx="7886700" cy="1325563"/>
          </a:xfrm>
        </p:spPr>
        <p:txBody>
          <a:bodyPr vert="horz" lIns="91440" tIns="45720" rIns="91440" bIns="45720" rtlCol="0" anchor="ctr">
            <a:normAutofit fontScale="90000"/>
          </a:bodyPr>
          <a:lstStyle/>
          <a:p>
            <a:pPr algn="l" defTabSz="914400">
              <a:lnSpc>
                <a:spcPct val="90000"/>
              </a:lnSpc>
            </a:pPr>
            <a:r>
              <a:rPr lang="id-ID" sz="4400" b="0" i="0" dirty="0">
                <a:solidFill>
                  <a:srgbClr val="455A64"/>
                </a:solidFill>
                <a:effectLst/>
                <a:latin typeface="Poppins" panose="020B0502040204020203" pitchFamily="2" charset="0"/>
              </a:rPr>
              <a:t>Analisis </a:t>
            </a:r>
            <a:r>
              <a:rPr lang="id-ID" sz="4400" b="0" i="0" dirty="0" err="1">
                <a:solidFill>
                  <a:srgbClr val="455A64"/>
                </a:solidFill>
                <a:effectLst/>
                <a:latin typeface="Poppins" panose="020B0502040204020203" pitchFamily="2" charset="0"/>
              </a:rPr>
              <a:t>Build</a:t>
            </a:r>
            <a:r>
              <a:rPr lang="id-ID" sz="4400" b="0" i="0" dirty="0">
                <a:solidFill>
                  <a:srgbClr val="455A64"/>
                </a:solidFill>
                <a:effectLst/>
                <a:latin typeface="Poppins" panose="020B0502040204020203" pitchFamily="2" charset="0"/>
              </a:rPr>
              <a:t> </a:t>
            </a:r>
            <a:r>
              <a:rPr lang="id-ID" sz="4400" b="0" i="0" dirty="0" err="1">
                <a:solidFill>
                  <a:srgbClr val="455A64"/>
                </a:solidFill>
                <a:effectLst/>
                <a:latin typeface="Poppins" panose="020B0502040204020203" pitchFamily="2" charset="0"/>
              </a:rPr>
              <a:t>or</a:t>
            </a:r>
            <a:r>
              <a:rPr lang="id-ID" sz="4400" b="0" i="0" dirty="0">
                <a:solidFill>
                  <a:srgbClr val="455A64"/>
                </a:solidFill>
                <a:effectLst/>
                <a:latin typeface="Poppins" panose="020B0502040204020203" pitchFamily="2" charset="0"/>
              </a:rPr>
              <a:t> </a:t>
            </a:r>
            <a:r>
              <a:rPr lang="id-ID" sz="4400" b="0" i="0" dirty="0" err="1">
                <a:solidFill>
                  <a:srgbClr val="455A64"/>
                </a:solidFill>
                <a:effectLst/>
                <a:latin typeface="Poppins" panose="020B0502040204020203" pitchFamily="2" charset="0"/>
              </a:rPr>
              <a:t>Buy</a:t>
            </a:r>
            <a:r>
              <a:rPr lang="id-ID" sz="4400" b="0" i="0" dirty="0">
                <a:solidFill>
                  <a:srgbClr val="455A64"/>
                </a:solidFill>
                <a:effectLst/>
                <a:latin typeface="Poppins" panose="020B0502040204020203" pitchFamily="2" charset="0"/>
              </a:rPr>
              <a:t> Sistem Informasi</a:t>
            </a:r>
            <a:br>
              <a:rPr lang="id-ID" sz="4400" b="0" i="0" dirty="0">
                <a:solidFill>
                  <a:srgbClr val="455A64"/>
                </a:solidFill>
                <a:effectLst/>
                <a:latin typeface="Poppins" panose="020B0502040204020203" pitchFamily="2" charset="0"/>
              </a:rPr>
            </a:br>
            <a:endParaRPr lang="en-US" sz="4400" kern="1200" dirty="0">
              <a:solidFill>
                <a:schemeClr val="tx1"/>
              </a:solidFill>
              <a:latin typeface="+mj-lt"/>
              <a:ea typeface="+mj-ea"/>
              <a:cs typeface="+mj-cs"/>
            </a:endParaRPr>
          </a:p>
        </p:txBody>
      </p:sp>
      <p:sp>
        <p:nvSpPr>
          <p:cNvPr id="5" name="Vertical Text Placeholder 4">
            <a:extLst>
              <a:ext uri="{FF2B5EF4-FFF2-40B4-BE49-F238E27FC236}">
                <a16:creationId xmlns:a16="http://schemas.microsoft.com/office/drawing/2014/main" id="{9C2EF28A-7D0E-4513-8A00-87B3CB95B3EA}"/>
              </a:ext>
            </a:extLst>
          </p:cNvPr>
          <p:cNvSpPr>
            <a:spLocks noGrp="1"/>
          </p:cNvSpPr>
          <p:nvPr>
            <p:ph type="body" orient="vert" idx="1"/>
          </p:nvPr>
        </p:nvSpPr>
        <p:spPr>
          <a:xfrm>
            <a:off x="628650" y="2057400"/>
            <a:ext cx="7886700" cy="3871762"/>
          </a:xfrm>
        </p:spPr>
        <p:txBody>
          <a:bodyPr vert="horz" lIns="91440" tIns="45720" rIns="91440" bIns="45720" rtlCol="0">
            <a:normAutofit/>
          </a:bodyPr>
          <a:lstStyle/>
          <a:p>
            <a:pPr algn="l"/>
            <a:r>
              <a:rPr lang="id-ID" sz="1400" b="0" i="0" dirty="0">
                <a:solidFill>
                  <a:srgbClr val="343A40"/>
                </a:solidFill>
                <a:effectLst/>
                <a:latin typeface="Poppins" panose="020B0502040204020203" pitchFamily="2" charset="0"/>
              </a:rPr>
              <a:t>Tugas dilakukan per kelompok (sesuai dengan kelompok tugas besar)</a:t>
            </a:r>
            <a:endParaRPr lang="en-US" sz="1400" b="0" i="0" dirty="0">
              <a:solidFill>
                <a:srgbClr val="343A40"/>
              </a:solidFill>
              <a:effectLst/>
              <a:latin typeface="Poppins" panose="020B0502040204020203" pitchFamily="2" charset="0"/>
            </a:endParaRPr>
          </a:p>
          <a:p>
            <a:pPr algn="l"/>
            <a:endParaRPr lang="id-ID" sz="1400" b="0" i="0" dirty="0">
              <a:solidFill>
                <a:srgbClr val="343A40"/>
              </a:solidFill>
              <a:effectLst/>
              <a:latin typeface="Poppins" panose="020B0502040204020203" pitchFamily="2" charset="0"/>
            </a:endParaRPr>
          </a:p>
          <a:p>
            <a:pPr algn="l"/>
            <a:r>
              <a:rPr lang="id-ID" sz="1400" b="0" i="0" dirty="0">
                <a:solidFill>
                  <a:srgbClr val="343A40"/>
                </a:solidFill>
                <a:effectLst/>
                <a:latin typeface="Poppins" panose="020B0502040204020203" pitchFamily="2" charset="0"/>
              </a:rPr>
              <a:t>Penjelasan tugas:</a:t>
            </a:r>
          </a:p>
          <a:p>
            <a:pPr algn="l"/>
            <a:r>
              <a:rPr lang="id-ID" sz="1400" b="0" i="0" dirty="0">
                <a:solidFill>
                  <a:srgbClr val="343A40"/>
                </a:solidFill>
                <a:effectLst/>
                <a:latin typeface="Poppins" panose="020B0502040204020203" pitchFamily="2" charset="0"/>
              </a:rPr>
              <a:t>1. Berdasarkan analisis kondisi perusahaan yang digunakan sebagai studi kasus, analisis kemungkinan pendekatan yang dapat digunakan untuk mengimplementasikan sistem informasi, yaitu </a:t>
            </a:r>
            <a:r>
              <a:rPr lang="id-ID" sz="1400" b="0" i="0" dirty="0" err="1">
                <a:solidFill>
                  <a:srgbClr val="343A40"/>
                </a:solidFill>
                <a:effectLst/>
                <a:latin typeface="Poppins" panose="020B0502040204020203" pitchFamily="2" charset="0"/>
              </a:rPr>
              <a:t>bespoke</a:t>
            </a:r>
            <a:r>
              <a:rPr lang="id-ID" sz="1400" b="0" i="0" dirty="0">
                <a:solidFill>
                  <a:srgbClr val="343A40"/>
                </a:solidFill>
                <a:effectLst/>
                <a:latin typeface="Poppins" panose="020B0502040204020203" pitchFamily="2" charset="0"/>
              </a:rPr>
              <a:t>, COTS, open </a:t>
            </a:r>
            <a:r>
              <a:rPr lang="id-ID" sz="1400" b="0" i="0" dirty="0" err="1">
                <a:solidFill>
                  <a:srgbClr val="343A40"/>
                </a:solidFill>
                <a:effectLst/>
                <a:latin typeface="Poppins" panose="020B0502040204020203" pitchFamily="2" charset="0"/>
              </a:rPr>
              <a:t>source</a:t>
            </a:r>
            <a:r>
              <a:rPr lang="id-ID" sz="1400" b="0" i="0" dirty="0">
                <a:solidFill>
                  <a:srgbClr val="343A40"/>
                </a:solidFill>
                <a:effectLst/>
                <a:latin typeface="Poppins" panose="020B0502040204020203" pitchFamily="2" charset="0"/>
              </a:rPr>
              <a:t>, atau </a:t>
            </a:r>
            <a:r>
              <a:rPr lang="id-ID" sz="1400" b="0" i="0" dirty="0" err="1">
                <a:solidFill>
                  <a:srgbClr val="343A40"/>
                </a:solidFill>
                <a:effectLst/>
                <a:latin typeface="Poppins" panose="020B0502040204020203" pitchFamily="2" charset="0"/>
              </a:rPr>
              <a:t>hybrid</a:t>
            </a:r>
            <a:r>
              <a:rPr lang="id-ID" sz="1400" b="0" i="0" dirty="0">
                <a:solidFill>
                  <a:srgbClr val="343A40"/>
                </a:solidFill>
                <a:effectLst/>
                <a:latin typeface="Poppins" panose="020B0502040204020203" pitchFamily="2" charset="0"/>
              </a:rPr>
              <a:t>.</a:t>
            </a:r>
          </a:p>
          <a:p>
            <a:pPr algn="l"/>
            <a:r>
              <a:rPr lang="id-ID" sz="1400" b="0" i="0" dirty="0">
                <a:solidFill>
                  <a:srgbClr val="343A40"/>
                </a:solidFill>
                <a:effectLst/>
                <a:latin typeface="Poppins" panose="020B0502040204020203" pitchFamily="2" charset="0"/>
              </a:rPr>
              <a:t>2. Hasil analisis dibandingkan dan dibuat dalam bentuk tabel. </a:t>
            </a:r>
          </a:p>
          <a:p>
            <a:pPr algn="l"/>
            <a:r>
              <a:rPr lang="id-ID" sz="1400" b="0" i="0" dirty="0">
                <a:solidFill>
                  <a:srgbClr val="343A40"/>
                </a:solidFill>
                <a:effectLst/>
                <a:latin typeface="Poppins" panose="020B0502040204020203" pitchFamily="2" charset="0"/>
              </a:rPr>
              <a:t>3.Menurut kelompok </a:t>
            </a:r>
            <a:r>
              <a:rPr lang="id-ID" sz="1400" b="0" i="0" dirty="0" err="1">
                <a:solidFill>
                  <a:srgbClr val="343A40"/>
                </a:solidFill>
                <a:effectLst/>
                <a:latin typeface="Poppins" panose="020B0502040204020203" pitchFamily="2" charset="0"/>
              </a:rPr>
              <a:t>anda</a:t>
            </a:r>
            <a:r>
              <a:rPr lang="id-ID" sz="1400" b="0" i="0" dirty="0">
                <a:solidFill>
                  <a:srgbClr val="343A40"/>
                </a:solidFill>
                <a:effectLst/>
                <a:latin typeface="Poppins" panose="020B0502040204020203" pitchFamily="2" charset="0"/>
              </a:rPr>
              <a:t>, manakah pendekatan implementasi sistem yang lebih baik? Jelaskan alasannya.</a:t>
            </a:r>
          </a:p>
          <a:p>
            <a:pPr algn="l"/>
            <a:r>
              <a:rPr lang="en-US" sz="1400" dirty="0">
                <a:solidFill>
                  <a:srgbClr val="343A40"/>
                </a:solidFill>
                <a:latin typeface="Poppins" panose="020B0502040204020203" pitchFamily="2" charset="0"/>
              </a:rPr>
              <a:t>4. </a:t>
            </a:r>
            <a:r>
              <a:rPr lang="en-US" sz="1400" b="0" i="0" dirty="0" err="1">
                <a:solidFill>
                  <a:srgbClr val="343A40"/>
                </a:solidFill>
                <a:effectLst/>
                <a:latin typeface="Poppins" panose="020B0502040204020203" pitchFamily="2" charset="0"/>
              </a:rPr>
              <a:t>Tugas</a:t>
            </a:r>
            <a:r>
              <a:rPr lang="id-ID" sz="1400" b="0" i="0" dirty="0">
                <a:solidFill>
                  <a:srgbClr val="343A40"/>
                </a:solidFill>
                <a:effectLst/>
                <a:latin typeface="Poppins" panose="020B0502040204020203" pitchFamily="2" charset="0"/>
              </a:rPr>
              <a:t> dikumpulkan dalam format </a:t>
            </a:r>
            <a:r>
              <a:rPr lang="id-ID" sz="1400" b="0" i="0" dirty="0" err="1">
                <a:solidFill>
                  <a:srgbClr val="343A40"/>
                </a:solidFill>
                <a:effectLst/>
                <a:latin typeface="Poppins" panose="020B0502040204020203" pitchFamily="2" charset="0"/>
              </a:rPr>
              <a:t>doc</a:t>
            </a:r>
            <a:r>
              <a:rPr lang="id-ID" sz="1400" b="0" i="0" dirty="0">
                <a:solidFill>
                  <a:srgbClr val="343A40"/>
                </a:solidFill>
                <a:effectLst/>
                <a:latin typeface="Poppins" panose="020B0502040204020203" pitchFamily="2" charset="0"/>
              </a:rPr>
              <a:t>, </a:t>
            </a:r>
            <a:r>
              <a:rPr lang="id-ID" sz="1400" b="0" i="0" dirty="0" err="1">
                <a:solidFill>
                  <a:srgbClr val="343A40"/>
                </a:solidFill>
                <a:effectLst/>
                <a:latin typeface="Poppins" panose="020B0502040204020203" pitchFamily="2" charset="0"/>
              </a:rPr>
              <a:t>docx</a:t>
            </a:r>
            <a:r>
              <a:rPr lang="id-ID" sz="1400" b="0" i="0" dirty="0">
                <a:solidFill>
                  <a:srgbClr val="343A40"/>
                </a:solidFill>
                <a:effectLst/>
                <a:latin typeface="Poppins" panose="020B0502040204020203" pitchFamily="2" charset="0"/>
              </a:rPr>
              <a:t>, atau </a:t>
            </a:r>
            <a:r>
              <a:rPr lang="id-ID" sz="1400" b="0" i="0" dirty="0" err="1">
                <a:solidFill>
                  <a:srgbClr val="343A40"/>
                </a:solidFill>
                <a:effectLst/>
                <a:latin typeface="Poppins" panose="020B0502040204020203" pitchFamily="2" charset="0"/>
              </a:rPr>
              <a:t>pdf</a:t>
            </a:r>
            <a:r>
              <a:rPr lang="id-ID" sz="1400" b="0" i="0" dirty="0">
                <a:solidFill>
                  <a:srgbClr val="343A40"/>
                </a:solidFill>
                <a:effectLst/>
                <a:latin typeface="Poppins" panose="020B0502040204020203" pitchFamily="2" charset="0"/>
              </a:rPr>
              <a:t>.</a:t>
            </a:r>
          </a:p>
          <a:p>
            <a:pPr indent="-228600" defTabSz="914400">
              <a:lnSpc>
                <a:spcPct val="90000"/>
              </a:lnSpc>
              <a:buFont typeface="Arial" panose="020B0604020202020204" pitchFamily="34" charset="0"/>
              <a:buChar char="•"/>
            </a:pPr>
            <a:endParaRPr lang="en-US" sz="2100" dirty="0"/>
          </a:p>
        </p:txBody>
      </p:sp>
    </p:spTree>
    <p:extLst>
      <p:ext uri="{BB962C8B-B14F-4D97-AF65-F5344CB8AC3E}">
        <p14:creationId xmlns:p14="http://schemas.microsoft.com/office/powerpoint/2010/main" val="7287599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0" y="0"/>
            <a:ext cx="9144000" cy="12252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Lato Light" charset="0"/>
            </a:endParaRPr>
          </a:p>
        </p:txBody>
      </p:sp>
      <p:sp>
        <p:nvSpPr>
          <p:cNvPr id="11" name="TextBox 10"/>
          <p:cNvSpPr txBox="1"/>
          <p:nvPr/>
        </p:nvSpPr>
        <p:spPr>
          <a:xfrm>
            <a:off x="570160" y="295761"/>
            <a:ext cx="8065840" cy="646331"/>
          </a:xfrm>
          <a:prstGeom prst="rect">
            <a:avLst/>
          </a:prstGeom>
          <a:noFill/>
        </p:spPr>
        <p:txBody>
          <a:bodyPr wrap="square" rtlCol="0">
            <a:spAutoFit/>
          </a:bodyPr>
          <a:lstStyle/>
          <a:p>
            <a:pPr algn="ctr"/>
            <a:r>
              <a:rPr lang="en-US" sz="3600" b="1" dirty="0">
                <a:solidFill>
                  <a:schemeClr val="bg1"/>
                </a:solidFill>
                <a:latin typeface="Lato" charset="0"/>
                <a:ea typeface="Lato" charset="0"/>
                <a:cs typeface="Lato" charset="0"/>
              </a:rPr>
              <a:t>Model</a:t>
            </a:r>
          </a:p>
        </p:txBody>
      </p:sp>
      <p:sp>
        <p:nvSpPr>
          <p:cNvPr id="5" name="Rectangle 4">
            <a:extLst>
              <a:ext uri="{FF2B5EF4-FFF2-40B4-BE49-F238E27FC236}">
                <a16:creationId xmlns:a16="http://schemas.microsoft.com/office/drawing/2014/main" id="{2AF393C6-1414-6247-8304-3C5C2A41F6D2}"/>
              </a:ext>
            </a:extLst>
          </p:cNvPr>
          <p:cNvSpPr/>
          <p:nvPr/>
        </p:nvSpPr>
        <p:spPr>
          <a:xfrm>
            <a:off x="128016" y="1243065"/>
            <a:ext cx="9015984" cy="1200329"/>
          </a:xfrm>
          <a:prstGeom prst="rect">
            <a:avLst/>
          </a:prstGeom>
        </p:spPr>
        <p:txBody>
          <a:bodyPr wrap="square">
            <a:spAutoFit/>
          </a:bodyPr>
          <a:lstStyle/>
          <a:p>
            <a:pPr marL="457200" indent="-457200">
              <a:buFont typeface="Arial" panose="020B0604020202020204" pitchFamily="34" charset="0"/>
              <a:buChar char="•"/>
            </a:pPr>
            <a:r>
              <a:rPr lang="en-US" sz="2400" dirty="0"/>
              <a:t>A model is a representation of a subject. Typically that subject is a real-world object or system that either already exists or may exist in the future.</a:t>
            </a:r>
          </a:p>
        </p:txBody>
      </p:sp>
    </p:spTree>
    <p:extLst>
      <p:ext uri="{BB962C8B-B14F-4D97-AF65-F5344CB8AC3E}">
        <p14:creationId xmlns:p14="http://schemas.microsoft.com/office/powerpoint/2010/main" val="31484079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0" y="0"/>
            <a:ext cx="9144000" cy="12252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Lato Light" charset="0"/>
            </a:endParaRPr>
          </a:p>
        </p:txBody>
      </p:sp>
      <p:sp>
        <p:nvSpPr>
          <p:cNvPr id="11" name="TextBox 10"/>
          <p:cNvSpPr txBox="1"/>
          <p:nvPr/>
        </p:nvSpPr>
        <p:spPr>
          <a:xfrm>
            <a:off x="570160" y="295761"/>
            <a:ext cx="8065840" cy="646331"/>
          </a:xfrm>
          <a:prstGeom prst="rect">
            <a:avLst/>
          </a:prstGeom>
          <a:noFill/>
        </p:spPr>
        <p:txBody>
          <a:bodyPr wrap="square" rtlCol="0">
            <a:spAutoFit/>
          </a:bodyPr>
          <a:lstStyle/>
          <a:p>
            <a:pPr algn="ctr"/>
            <a:r>
              <a:rPr lang="en-US" sz="3600" b="1" dirty="0">
                <a:solidFill>
                  <a:schemeClr val="bg1"/>
                </a:solidFill>
                <a:latin typeface="Lato" charset="0"/>
                <a:ea typeface="Lato" charset="0"/>
                <a:cs typeface="Lato" charset="0"/>
              </a:rPr>
              <a:t>What is System Modelling?</a:t>
            </a:r>
          </a:p>
        </p:txBody>
      </p:sp>
      <p:sp>
        <p:nvSpPr>
          <p:cNvPr id="5" name="Rectangle 4">
            <a:extLst>
              <a:ext uri="{FF2B5EF4-FFF2-40B4-BE49-F238E27FC236}">
                <a16:creationId xmlns:a16="http://schemas.microsoft.com/office/drawing/2014/main" id="{2AF393C6-1414-6247-8304-3C5C2A41F6D2}"/>
              </a:ext>
            </a:extLst>
          </p:cNvPr>
          <p:cNvSpPr/>
          <p:nvPr/>
        </p:nvSpPr>
        <p:spPr>
          <a:xfrm>
            <a:off x="128016" y="1243065"/>
            <a:ext cx="9015984" cy="5539978"/>
          </a:xfrm>
          <a:prstGeom prst="rect">
            <a:avLst/>
          </a:prstGeom>
        </p:spPr>
        <p:txBody>
          <a:bodyPr wrap="square">
            <a:spAutoFit/>
          </a:bodyPr>
          <a:lstStyle/>
          <a:p>
            <a:pPr marL="457200" indent="-457200">
              <a:buFont typeface="Arial" panose="020B0604020202020204" pitchFamily="34" charset="0"/>
              <a:buChar char="•"/>
            </a:pPr>
            <a:r>
              <a:rPr lang="en-US" sz="2400" dirty="0"/>
              <a:t>A model is a representation of a subject. Typically that subject is a real-world object or system that either already exists or may exist in the future.</a:t>
            </a:r>
          </a:p>
          <a:p>
            <a:pPr marL="457200" indent="-457200">
              <a:buFont typeface="Arial" panose="020B0604020202020204" pitchFamily="34" charset="0"/>
              <a:buChar char="•"/>
            </a:pPr>
            <a:r>
              <a:rPr lang="en-US" sz="2400" dirty="0"/>
              <a:t>System characteristics:</a:t>
            </a:r>
          </a:p>
          <a:p>
            <a:pPr marL="914400" lvl="1" indent="-457200">
              <a:buFont typeface="Arial" panose="020B0604020202020204" pitchFamily="34" charset="0"/>
              <a:buChar char="•"/>
            </a:pPr>
            <a:r>
              <a:rPr lang="en-US" dirty="0"/>
              <a:t>A system has a boundary outside of which are external entities (people or other systems) that interact with the system in focus.</a:t>
            </a:r>
          </a:p>
          <a:p>
            <a:pPr marL="914400" lvl="1" indent="-457200">
              <a:buFont typeface="Arial" panose="020B0604020202020204" pitchFamily="34" charset="0"/>
              <a:buChar char="•"/>
            </a:pPr>
            <a:r>
              <a:rPr lang="en-US" dirty="0"/>
              <a:t>Within this system are components (systems, people) that implement that system’s </a:t>
            </a:r>
            <a:r>
              <a:rPr lang="en-US" dirty="0" err="1"/>
              <a:t>behaviour</a:t>
            </a:r>
            <a:r>
              <a:rPr lang="en-US" dirty="0"/>
              <a:t>.</a:t>
            </a:r>
          </a:p>
          <a:p>
            <a:pPr marL="914400" lvl="1" indent="-457200">
              <a:buFont typeface="Arial" panose="020B0604020202020204" pitchFamily="34" charset="0"/>
              <a:buChar char="•"/>
            </a:pPr>
            <a:r>
              <a:rPr lang="en-US" dirty="0"/>
              <a:t>These interactions and internal system </a:t>
            </a:r>
            <a:r>
              <a:rPr lang="en-US" dirty="0" err="1"/>
              <a:t>behaviours</a:t>
            </a:r>
            <a:r>
              <a:rPr lang="en-US" dirty="0"/>
              <a:t> involve data being exchanged, transformed and stored.</a:t>
            </a:r>
          </a:p>
          <a:p>
            <a:pPr marL="914400" lvl="1" indent="-457200">
              <a:buFont typeface="Arial" panose="020B0604020202020204" pitchFamily="34" charset="0"/>
              <a:buChar char="•"/>
            </a:pPr>
            <a:r>
              <a:rPr lang="en-US" dirty="0"/>
              <a:t>Any system exists within a broader context that needs to be understood and the system should be defined in terms of how it delivers functionality and services within this context, usually in the form of requirements.</a:t>
            </a:r>
          </a:p>
          <a:p>
            <a:pPr marL="457200" indent="-457200">
              <a:buFont typeface="Arial" panose="020B0604020202020204" pitchFamily="34" charset="0"/>
              <a:buChar char="•"/>
            </a:pPr>
            <a:r>
              <a:rPr lang="en-US" sz="2400" dirty="0"/>
              <a:t>Modelling is the act of producing appropriate models of systems through the fundamental act of abstraction that allows all these issues to be examined, explored and refined prior to development of the system elements</a:t>
            </a:r>
          </a:p>
        </p:txBody>
      </p:sp>
    </p:spTree>
    <p:extLst>
      <p:ext uri="{BB962C8B-B14F-4D97-AF65-F5344CB8AC3E}">
        <p14:creationId xmlns:p14="http://schemas.microsoft.com/office/powerpoint/2010/main" val="35249998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0" y="0"/>
            <a:ext cx="9144000" cy="12252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Lato Light" charset="0"/>
            </a:endParaRPr>
          </a:p>
        </p:txBody>
      </p:sp>
      <p:sp>
        <p:nvSpPr>
          <p:cNvPr id="11" name="TextBox 10"/>
          <p:cNvSpPr txBox="1"/>
          <p:nvPr/>
        </p:nvSpPr>
        <p:spPr>
          <a:xfrm>
            <a:off x="570160" y="295761"/>
            <a:ext cx="8065840" cy="646331"/>
          </a:xfrm>
          <a:prstGeom prst="rect">
            <a:avLst/>
          </a:prstGeom>
          <a:noFill/>
        </p:spPr>
        <p:txBody>
          <a:bodyPr wrap="square" rtlCol="0">
            <a:spAutoFit/>
          </a:bodyPr>
          <a:lstStyle/>
          <a:p>
            <a:pPr algn="ctr"/>
            <a:r>
              <a:rPr lang="en-US" sz="3600" b="1" dirty="0">
                <a:solidFill>
                  <a:schemeClr val="bg1"/>
                </a:solidFill>
                <a:latin typeface="Lato" charset="0"/>
                <a:ea typeface="Lato" charset="0"/>
                <a:cs typeface="Lato" charset="0"/>
              </a:rPr>
              <a:t>Abstraction</a:t>
            </a:r>
          </a:p>
        </p:txBody>
      </p:sp>
      <p:sp>
        <p:nvSpPr>
          <p:cNvPr id="5" name="Rectangle 4">
            <a:extLst>
              <a:ext uri="{FF2B5EF4-FFF2-40B4-BE49-F238E27FC236}">
                <a16:creationId xmlns:a16="http://schemas.microsoft.com/office/drawing/2014/main" id="{2AF393C6-1414-6247-8304-3C5C2A41F6D2}"/>
              </a:ext>
            </a:extLst>
          </p:cNvPr>
          <p:cNvSpPr/>
          <p:nvPr/>
        </p:nvSpPr>
        <p:spPr>
          <a:xfrm>
            <a:off x="128016" y="1243065"/>
            <a:ext cx="9015984" cy="5262979"/>
          </a:xfrm>
          <a:prstGeom prst="rect">
            <a:avLst/>
          </a:prstGeom>
        </p:spPr>
        <p:txBody>
          <a:bodyPr wrap="square">
            <a:spAutoFit/>
          </a:bodyPr>
          <a:lstStyle/>
          <a:p>
            <a:pPr marL="457200" indent="-457200">
              <a:buFont typeface="Arial" panose="020B0604020202020204" pitchFamily="34" charset="0"/>
              <a:buChar char="•"/>
            </a:pPr>
            <a:r>
              <a:rPr lang="en-US" sz="2400" dirty="0"/>
              <a:t>In philosophical terminology, abstraction is the thought process wherein ideas are distanced from objects. In system modelling, abstraction is the process of removing anything unnecessary or irrelevant from a system model (or the view of that model) depending on its purpose.</a:t>
            </a:r>
          </a:p>
          <a:p>
            <a:pPr marL="457200" indent="-457200">
              <a:buFont typeface="Arial" panose="020B0604020202020204" pitchFamily="34" charset="0"/>
              <a:buChar char="•"/>
            </a:pPr>
            <a:r>
              <a:rPr lang="en-US" sz="2400" dirty="0"/>
              <a:t>Different system models tend to focus on specific facets of the system, for example its functionality or implementation. A single model is therefore an incomplete abstraction of the real thing but a combination of models can between them provide a more complete description, providing they are consistent with each other.</a:t>
            </a:r>
          </a:p>
          <a:p>
            <a:pPr marL="457200" indent="-457200">
              <a:buFont typeface="Arial" panose="020B0604020202020204" pitchFamily="34" charset="0"/>
              <a:buChar char="•"/>
            </a:pPr>
            <a:endParaRPr lang="en-US" sz="2400" dirty="0"/>
          </a:p>
          <a:p>
            <a:pPr marL="457200" indent="-457200">
              <a:buFont typeface="Arial" panose="020B0604020202020204" pitchFamily="34" charset="0"/>
              <a:buChar char="•"/>
            </a:pPr>
            <a:r>
              <a:rPr lang="en-US" sz="2400" dirty="0">
                <a:solidFill>
                  <a:schemeClr val="accent6">
                    <a:lumMod val="75000"/>
                  </a:schemeClr>
                </a:solidFill>
              </a:rPr>
              <a:t>‘The model is not the reality, but the best models are the ones that stick very close to reality.’ (</a:t>
            </a:r>
            <a:r>
              <a:rPr lang="en-US" sz="2400" dirty="0" err="1">
                <a:solidFill>
                  <a:schemeClr val="accent6">
                    <a:lumMod val="75000"/>
                  </a:schemeClr>
                </a:solidFill>
              </a:rPr>
              <a:t>Booch</a:t>
            </a:r>
            <a:r>
              <a:rPr lang="en-US" sz="2400" dirty="0">
                <a:solidFill>
                  <a:schemeClr val="accent6">
                    <a:lumMod val="75000"/>
                  </a:schemeClr>
                </a:solidFill>
              </a:rPr>
              <a:t>, et al., 2005)</a:t>
            </a:r>
          </a:p>
        </p:txBody>
      </p:sp>
    </p:spTree>
    <p:extLst>
      <p:ext uri="{BB962C8B-B14F-4D97-AF65-F5344CB8AC3E}">
        <p14:creationId xmlns:p14="http://schemas.microsoft.com/office/powerpoint/2010/main" val="29613540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0" y="0"/>
            <a:ext cx="9144000" cy="12252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Lato Light" charset="0"/>
            </a:endParaRPr>
          </a:p>
        </p:txBody>
      </p:sp>
      <p:sp>
        <p:nvSpPr>
          <p:cNvPr id="11" name="TextBox 10"/>
          <p:cNvSpPr txBox="1"/>
          <p:nvPr/>
        </p:nvSpPr>
        <p:spPr>
          <a:xfrm>
            <a:off x="570160" y="295761"/>
            <a:ext cx="8065840" cy="646331"/>
          </a:xfrm>
          <a:prstGeom prst="rect">
            <a:avLst/>
          </a:prstGeom>
          <a:noFill/>
        </p:spPr>
        <p:txBody>
          <a:bodyPr wrap="square" rtlCol="0">
            <a:spAutoFit/>
          </a:bodyPr>
          <a:lstStyle/>
          <a:p>
            <a:pPr algn="ctr"/>
            <a:r>
              <a:rPr lang="en-US" sz="3600" b="1" dirty="0">
                <a:solidFill>
                  <a:schemeClr val="bg1"/>
                </a:solidFill>
                <a:latin typeface="Lato" charset="0"/>
                <a:ea typeface="Lato" charset="0"/>
                <a:cs typeface="Lato" charset="0"/>
              </a:rPr>
              <a:t>All models are wrong</a:t>
            </a:r>
          </a:p>
        </p:txBody>
      </p:sp>
      <p:sp>
        <p:nvSpPr>
          <p:cNvPr id="5" name="Rectangle 4">
            <a:extLst>
              <a:ext uri="{FF2B5EF4-FFF2-40B4-BE49-F238E27FC236}">
                <a16:creationId xmlns:a16="http://schemas.microsoft.com/office/drawing/2014/main" id="{2AF393C6-1414-6247-8304-3C5C2A41F6D2}"/>
              </a:ext>
            </a:extLst>
          </p:cNvPr>
          <p:cNvSpPr/>
          <p:nvPr/>
        </p:nvSpPr>
        <p:spPr>
          <a:xfrm>
            <a:off x="128016" y="1243065"/>
            <a:ext cx="9015984" cy="5386090"/>
          </a:xfrm>
          <a:prstGeom prst="rect">
            <a:avLst/>
          </a:prstGeom>
        </p:spPr>
        <p:txBody>
          <a:bodyPr wrap="square">
            <a:spAutoFit/>
          </a:bodyPr>
          <a:lstStyle/>
          <a:p>
            <a:pPr marL="457200" indent="-457200">
              <a:buFont typeface="Arial" panose="020B0604020202020204" pitchFamily="34" charset="0"/>
              <a:buChar char="•"/>
            </a:pPr>
            <a:r>
              <a:rPr lang="en-US" sz="2400" dirty="0"/>
              <a:t>Any model, as an incomplete abstraction, is therefore imperfect. </a:t>
            </a:r>
          </a:p>
          <a:p>
            <a:pPr marL="457200" indent="-457200">
              <a:buFont typeface="Arial" panose="020B0604020202020204" pitchFamily="34" charset="0"/>
              <a:buChar char="•"/>
            </a:pPr>
            <a:endParaRPr lang="en-US" sz="2400" dirty="0"/>
          </a:p>
          <a:p>
            <a:pPr marL="457200" indent="-457200">
              <a:buFont typeface="Arial" panose="020B0604020202020204" pitchFamily="34" charset="0"/>
              <a:buChar char="•"/>
            </a:pPr>
            <a:r>
              <a:rPr lang="en-US" sz="2400" dirty="0">
                <a:solidFill>
                  <a:schemeClr val="accent6">
                    <a:lumMod val="75000"/>
                  </a:schemeClr>
                </a:solidFill>
              </a:rPr>
              <a:t>Remember that all models are wrong; the practical question is – how wrong do they have to be to not be useful?</a:t>
            </a:r>
          </a:p>
          <a:p>
            <a:r>
              <a:rPr lang="en-US" sz="2400" dirty="0">
                <a:solidFill>
                  <a:schemeClr val="accent6">
                    <a:lumMod val="75000"/>
                  </a:schemeClr>
                </a:solidFill>
              </a:rPr>
              <a:t>											(Box and Draper, 1987)</a:t>
            </a:r>
          </a:p>
          <a:p>
            <a:pPr marL="457200" indent="-457200">
              <a:buFont typeface="Arial" panose="020B0604020202020204" pitchFamily="34" charset="0"/>
              <a:buChar char="•"/>
            </a:pPr>
            <a:endParaRPr lang="en-US" sz="2400" dirty="0"/>
          </a:p>
          <a:p>
            <a:pPr marL="457200" indent="-457200">
              <a:buFont typeface="Arial" panose="020B0604020202020204" pitchFamily="34" charset="0"/>
              <a:buChar char="•"/>
            </a:pPr>
            <a:r>
              <a:rPr lang="en-US" sz="2400" dirty="0"/>
              <a:t>Usefulness is the key, although intangible, measure of the value of any model. Usefulness can be increased by </a:t>
            </a:r>
          </a:p>
          <a:p>
            <a:pPr marL="914400" lvl="1" indent="-457200">
              <a:buFont typeface="Arial" panose="020B0604020202020204" pitchFamily="34" charset="0"/>
              <a:buChar char="•"/>
            </a:pPr>
            <a:r>
              <a:rPr lang="en-US" sz="2400" dirty="0"/>
              <a:t>abstracting out details irrelevant to the facet being focused on, </a:t>
            </a:r>
          </a:p>
          <a:p>
            <a:pPr marL="914400" lvl="1" indent="-457200">
              <a:buFont typeface="Arial" panose="020B0604020202020204" pitchFamily="34" charset="0"/>
              <a:buChar char="•"/>
            </a:pPr>
            <a:r>
              <a:rPr lang="en-US" sz="2400" dirty="0"/>
              <a:t>providing that what remains in that model is effective in communicating or describing that facet to the appropriate level. </a:t>
            </a:r>
          </a:p>
          <a:p>
            <a:pPr marL="1371600" lvl="2" indent="-457200">
              <a:buFont typeface="Arial" panose="020B0604020202020204" pitchFamily="34" charset="0"/>
              <a:buChar char="•"/>
            </a:pPr>
            <a:r>
              <a:rPr lang="en-US" sz="2000" dirty="0"/>
              <a:t>What is appropriate and effective usually depends on the nature of the intended audience. A representation that works effectively for a technical developer is unlikely to be equally useful for a business stakeholder and vice versa.</a:t>
            </a:r>
          </a:p>
        </p:txBody>
      </p:sp>
    </p:spTree>
    <p:extLst>
      <p:ext uri="{BB962C8B-B14F-4D97-AF65-F5344CB8AC3E}">
        <p14:creationId xmlns:p14="http://schemas.microsoft.com/office/powerpoint/2010/main" val="10393848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0" y="0"/>
            <a:ext cx="9144000" cy="12252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Lato Light" charset="0"/>
            </a:endParaRPr>
          </a:p>
        </p:txBody>
      </p:sp>
      <p:sp>
        <p:nvSpPr>
          <p:cNvPr id="11" name="TextBox 10"/>
          <p:cNvSpPr txBox="1"/>
          <p:nvPr/>
        </p:nvSpPr>
        <p:spPr>
          <a:xfrm>
            <a:off x="570160" y="295761"/>
            <a:ext cx="8065840" cy="646331"/>
          </a:xfrm>
          <a:prstGeom prst="rect">
            <a:avLst/>
          </a:prstGeom>
          <a:noFill/>
        </p:spPr>
        <p:txBody>
          <a:bodyPr wrap="square" rtlCol="0">
            <a:spAutoFit/>
          </a:bodyPr>
          <a:lstStyle/>
          <a:p>
            <a:pPr algn="ctr"/>
            <a:r>
              <a:rPr lang="en-US" sz="3600" b="1" dirty="0">
                <a:solidFill>
                  <a:schemeClr val="bg1"/>
                </a:solidFill>
                <a:latin typeface="Lato" charset="0"/>
                <a:ea typeface="Lato" charset="0"/>
                <a:cs typeface="Lato" charset="0"/>
              </a:rPr>
              <a:t>Structure over words</a:t>
            </a:r>
          </a:p>
        </p:txBody>
      </p:sp>
      <p:sp>
        <p:nvSpPr>
          <p:cNvPr id="5" name="Rectangle 4">
            <a:extLst>
              <a:ext uri="{FF2B5EF4-FFF2-40B4-BE49-F238E27FC236}">
                <a16:creationId xmlns:a16="http://schemas.microsoft.com/office/drawing/2014/main" id="{2AF393C6-1414-6247-8304-3C5C2A41F6D2}"/>
              </a:ext>
            </a:extLst>
          </p:cNvPr>
          <p:cNvSpPr/>
          <p:nvPr/>
        </p:nvSpPr>
        <p:spPr>
          <a:xfrm>
            <a:off x="128016" y="1243065"/>
            <a:ext cx="9015984" cy="3785652"/>
          </a:xfrm>
          <a:prstGeom prst="rect">
            <a:avLst/>
          </a:prstGeom>
        </p:spPr>
        <p:txBody>
          <a:bodyPr wrap="square">
            <a:spAutoFit/>
          </a:bodyPr>
          <a:lstStyle/>
          <a:p>
            <a:pPr marL="457200" indent="-457200">
              <a:buFont typeface="Arial" panose="020B0604020202020204" pitchFamily="34" charset="0"/>
              <a:buChar char="•"/>
            </a:pPr>
            <a:r>
              <a:rPr lang="en-US" sz="2400" dirty="0"/>
              <a:t>Modelling does not need to be visual, although as the saying goes ‘a picture paints a thousand words’. </a:t>
            </a:r>
          </a:p>
          <a:p>
            <a:pPr marL="457200" indent="-457200">
              <a:buFont typeface="Arial" panose="020B0604020202020204" pitchFamily="34" charset="0"/>
              <a:buChar char="•"/>
            </a:pPr>
            <a:endParaRPr lang="en-US" sz="2400" dirty="0"/>
          </a:p>
          <a:p>
            <a:pPr marL="457200" indent="-457200">
              <a:buFont typeface="Arial" panose="020B0604020202020204" pitchFamily="34" charset="0"/>
              <a:buChar char="•"/>
            </a:pPr>
            <a:r>
              <a:rPr lang="en-US" sz="2400" dirty="0"/>
              <a:t>System modelling typically involves a combination of visual representations (diagrams) and structured textual descriptions of:</a:t>
            </a:r>
          </a:p>
          <a:p>
            <a:pPr marL="914400" lvl="1" indent="-457200">
              <a:buFont typeface="Arial" panose="020B0604020202020204" pitchFamily="34" charset="0"/>
              <a:buChar char="•"/>
            </a:pPr>
            <a:r>
              <a:rPr lang="en-US" sz="2400" dirty="0"/>
              <a:t>model elements; for example, tasks in a process model, classes or entities in a data model;</a:t>
            </a:r>
          </a:p>
          <a:p>
            <a:pPr marL="914400" lvl="1" indent="-457200">
              <a:buFont typeface="Arial" panose="020B0604020202020204" pitchFamily="34" charset="0"/>
              <a:buChar char="•"/>
            </a:pPr>
            <a:r>
              <a:rPr lang="en-US" sz="2400" dirty="0"/>
              <a:t>links and dependencies between elements; for example, arrows that show the sequence of tasks or lines that represent some semantic dependency between classes or entities.</a:t>
            </a:r>
          </a:p>
        </p:txBody>
      </p:sp>
    </p:spTree>
    <p:extLst>
      <p:ext uri="{BB962C8B-B14F-4D97-AF65-F5344CB8AC3E}">
        <p14:creationId xmlns:p14="http://schemas.microsoft.com/office/powerpoint/2010/main" val="16071930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0" y="0"/>
            <a:ext cx="9144000" cy="12252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Lato Light" charset="0"/>
            </a:endParaRPr>
          </a:p>
        </p:txBody>
      </p:sp>
      <p:sp>
        <p:nvSpPr>
          <p:cNvPr id="11" name="TextBox 10"/>
          <p:cNvSpPr txBox="1"/>
          <p:nvPr/>
        </p:nvSpPr>
        <p:spPr>
          <a:xfrm>
            <a:off x="570160" y="295761"/>
            <a:ext cx="8065840" cy="646331"/>
          </a:xfrm>
          <a:prstGeom prst="rect">
            <a:avLst/>
          </a:prstGeom>
          <a:noFill/>
        </p:spPr>
        <p:txBody>
          <a:bodyPr wrap="square" rtlCol="0">
            <a:spAutoFit/>
          </a:bodyPr>
          <a:lstStyle/>
          <a:p>
            <a:pPr algn="ctr"/>
            <a:r>
              <a:rPr lang="en-US" sz="3600" b="1" dirty="0">
                <a:solidFill>
                  <a:schemeClr val="bg1"/>
                </a:solidFill>
                <a:latin typeface="Lato" charset="0"/>
                <a:ea typeface="Lato" charset="0"/>
                <a:cs typeface="Lato" charset="0"/>
              </a:rPr>
              <a:t>The U curve</a:t>
            </a:r>
          </a:p>
        </p:txBody>
      </p:sp>
      <p:sp>
        <p:nvSpPr>
          <p:cNvPr id="5" name="Rectangle 4">
            <a:extLst>
              <a:ext uri="{FF2B5EF4-FFF2-40B4-BE49-F238E27FC236}">
                <a16:creationId xmlns:a16="http://schemas.microsoft.com/office/drawing/2014/main" id="{2AF393C6-1414-6247-8304-3C5C2A41F6D2}"/>
              </a:ext>
            </a:extLst>
          </p:cNvPr>
          <p:cNvSpPr/>
          <p:nvPr/>
        </p:nvSpPr>
        <p:spPr>
          <a:xfrm>
            <a:off x="64008" y="4959516"/>
            <a:ext cx="9015984" cy="830997"/>
          </a:xfrm>
          <a:prstGeom prst="rect">
            <a:avLst/>
          </a:prstGeom>
        </p:spPr>
        <p:txBody>
          <a:bodyPr wrap="square">
            <a:spAutoFit/>
          </a:bodyPr>
          <a:lstStyle/>
          <a:p>
            <a:pPr marL="457200" indent="-457200">
              <a:buFont typeface="Arial" panose="020B0604020202020204" pitchFamily="34" charset="0"/>
              <a:buChar char="•"/>
            </a:pPr>
            <a:endParaRPr lang="en-US" sz="2400" dirty="0"/>
          </a:p>
          <a:p>
            <a:pPr marL="457200" indent="-457200">
              <a:buFont typeface="Arial" panose="020B0604020202020204" pitchFamily="34" charset="0"/>
              <a:buChar char="•"/>
            </a:pPr>
            <a:endParaRPr lang="en-US" sz="2400" dirty="0"/>
          </a:p>
        </p:txBody>
      </p:sp>
      <p:pic>
        <p:nvPicPr>
          <p:cNvPr id="2" name="Picture 1">
            <a:extLst>
              <a:ext uri="{FF2B5EF4-FFF2-40B4-BE49-F238E27FC236}">
                <a16:creationId xmlns:a16="http://schemas.microsoft.com/office/drawing/2014/main" id="{88152754-B718-498A-9A42-139B02BF70C9}"/>
              </a:ext>
            </a:extLst>
          </p:cNvPr>
          <p:cNvPicPr>
            <a:picLocks noChangeAspect="1"/>
          </p:cNvPicPr>
          <p:nvPr/>
        </p:nvPicPr>
        <p:blipFill>
          <a:blip r:embed="rId3"/>
          <a:stretch>
            <a:fillRect/>
          </a:stretch>
        </p:blipFill>
        <p:spPr>
          <a:xfrm>
            <a:off x="2266210" y="1516213"/>
            <a:ext cx="4279556" cy="3604593"/>
          </a:xfrm>
          <a:prstGeom prst="rect">
            <a:avLst/>
          </a:prstGeom>
        </p:spPr>
      </p:pic>
    </p:spTree>
    <p:extLst>
      <p:ext uri="{BB962C8B-B14F-4D97-AF65-F5344CB8AC3E}">
        <p14:creationId xmlns:p14="http://schemas.microsoft.com/office/powerpoint/2010/main" val="8743493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0" y="0"/>
            <a:ext cx="9144000" cy="12252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Lato Light" charset="0"/>
            </a:endParaRPr>
          </a:p>
        </p:txBody>
      </p:sp>
      <p:sp>
        <p:nvSpPr>
          <p:cNvPr id="11" name="TextBox 10"/>
          <p:cNvSpPr txBox="1"/>
          <p:nvPr/>
        </p:nvSpPr>
        <p:spPr>
          <a:xfrm>
            <a:off x="570160" y="295761"/>
            <a:ext cx="8065840" cy="646331"/>
          </a:xfrm>
          <a:prstGeom prst="rect">
            <a:avLst/>
          </a:prstGeom>
          <a:noFill/>
        </p:spPr>
        <p:txBody>
          <a:bodyPr wrap="square" rtlCol="0">
            <a:spAutoFit/>
          </a:bodyPr>
          <a:lstStyle/>
          <a:p>
            <a:pPr algn="ctr"/>
            <a:r>
              <a:rPr lang="en-US" sz="3600" b="1" dirty="0">
                <a:solidFill>
                  <a:schemeClr val="bg1"/>
                </a:solidFill>
                <a:latin typeface="Lato" charset="0"/>
                <a:ea typeface="Lato" charset="0"/>
                <a:cs typeface="Lato" charset="0"/>
              </a:rPr>
              <a:t>Rationale for modelling</a:t>
            </a:r>
          </a:p>
        </p:txBody>
      </p:sp>
      <p:sp>
        <p:nvSpPr>
          <p:cNvPr id="5" name="Rectangle 4">
            <a:extLst>
              <a:ext uri="{FF2B5EF4-FFF2-40B4-BE49-F238E27FC236}">
                <a16:creationId xmlns:a16="http://schemas.microsoft.com/office/drawing/2014/main" id="{2AF393C6-1414-6247-8304-3C5C2A41F6D2}"/>
              </a:ext>
            </a:extLst>
          </p:cNvPr>
          <p:cNvSpPr/>
          <p:nvPr/>
        </p:nvSpPr>
        <p:spPr>
          <a:xfrm>
            <a:off x="128016" y="1243065"/>
            <a:ext cx="9015984" cy="4893647"/>
          </a:xfrm>
          <a:prstGeom prst="rect">
            <a:avLst/>
          </a:prstGeom>
        </p:spPr>
        <p:txBody>
          <a:bodyPr wrap="square">
            <a:spAutoFit/>
          </a:bodyPr>
          <a:lstStyle/>
          <a:p>
            <a:pPr marL="457200" indent="-457200">
              <a:buFont typeface="Arial" panose="020B0604020202020204" pitchFamily="34" charset="0"/>
              <a:buChar char="•"/>
            </a:pPr>
            <a:r>
              <a:rPr lang="en-US" sz="2400" dirty="0"/>
              <a:t>Modelling can be employed within solution development with the ultimate aim of developing a solution which meets key stakeholder requirements; in other words a quality solution.</a:t>
            </a:r>
          </a:p>
          <a:p>
            <a:pPr marL="457200" indent="-457200">
              <a:buFont typeface="Arial" panose="020B0604020202020204" pitchFamily="34" charset="0"/>
              <a:buChar char="•"/>
            </a:pPr>
            <a:endParaRPr lang="en-US" sz="2400" dirty="0"/>
          </a:p>
          <a:p>
            <a:pPr marL="457200" indent="-457200">
              <a:buFont typeface="Arial" panose="020B0604020202020204" pitchFamily="34" charset="0"/>
              <a:buChar char="•"/>
            </a:pPr>
            <a:r>
              <a:rPr lang="en-US" sz="2400" dirty="0"/>
              <a:t>What does modelling facilitate?</a:t>
            </a:r>
          </a:p>
          <a:p>
            <a:pPr marL="914400" lvl="1" indent="-457200">
              <a:buFont typeface="Arial" panose="020B0604020202020204" pitchFamily="34" charset="0"/>
              <a:buChar char="•"/>
            </a:pPr>
            <a:r>
              <a:rPr lang="en-US" sz="2400" dirty="0"/>
              <a:t>Communication and understanding</a:t>
            </a:r>
          </a:p>
          <a:p>
            <a:pPr marL="914400" lvl="1" indent="-457200">
              <a:buFont typeface="Arial" panose="020B0604020202020204" pitchFamily="34" charset="0"/>
              <a:buChar char="•"/>
            </a:pPr>
            <a:r>
              <a:rPr lang="en-US" sz="2400" dirty="0"/>
              <a:t>Experimentation</a:t>
            </a:r>
          </a:p>
          <a:p>
            <a:pPr marL="914400" lvl="1" indent="-457200">
              <a:buFont typeface="Arial" panose="020B0604020202020204" pitchFamily="34" charset="0"/>
              <a:buChar char="•"/>
            </a:pPr>
            <a:r>
              <a:rPr lang="en-US" sz="2400" dirty="0"/>
              <a:t>Validation</a:t>
            </a:r>
          </a:p>
          <a:p>
            <a:pPr marL="914400" lvl="1" indent="-457200">
              <a:buFont typeface="Arial" panose="020B0604020202020204" pitchFamily="34" charset="0"/>
              <a:buChar char="•"/>
            </a:pPr>
            <a:r>
              <a:rPr lang="en-US" sz="2400" dirty="0"/>
              <a:t>Gap analysis</a:t>
            </a:r>
          </a:p>
          <a:p>
            <a:pPr marL="457200" indent="-457200">
              <a:buFont typeface="Arial" panose="020B0604020202020204" pitchFamily="34" charset="0"/>
              <a:buChar char="•"/>
            </a:pPr>
            <a:endParaRPr lang="en-US" sz="2400" dirty="0"/>
          </a:p>
          <a:p>
            <a:pPr marL="457200" indent="-457200">
              <a:buFont typeface="Arial" panose="020B0604020202020204" pitchFamily="34" charset="0"/>
              <a:buChar char="•"/>
            </a:pPr>
            <a:r>
              <a:rPr lang="en-US" sz="2400" dirty="0"/>
              <a:t>The value of modelling</a:t>
            </a:r>
          </a:p>
          <a:p>
            <a:pPr marL="914400" lvl="1" indent="-457200">
              <a:buFont typeface="Arial" panose="020B0604020202020204" pitchFamily="34" charset="0"/>
              <a:buChar char="•"/>
            </a:pPr>
            <a:r>
              <a:rPr lang="en-US" sz="2400" dirty="0"/>
              <a:t>Value from the act of modelling</a:t>
            </a:r>
          </a:p>
          <a:p>
            <a:pPr marL="914400" lvl="1" indent="-457200">
              <a:buFont typeface="Arial" panose="020B0604020202020204" pitchFamily="34" charset="0"/>
              <a:buChar char="•"/>
            </a:pPr>
            <a:r>
              <a:rPr lang="en-US" sz="2400" dirty="0"/>
              <a:t>Value of the delivered model</a:t>
            </a:r>
          </a:p>
        </p:txBody>
      </p:sp>
    </p:spTree>
    <p:extLst>
      <p:ext uri="{BB962C8B-B14F-4D97-AF65-F5344CB8AC3E}">
        <p14:creationId xmlns:p14="http://schemas.microsoft.com/office/powerpoint/2010/main" val="35597606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0" y="0"/>
            <a:ext cx="9144000" cy="12252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Lato Light" charset="0"/>
            </a:endParaRPr>
          </a:p>
        </p:txBody>
      </p:sp>
      <p:sp>
        <p:nvSpPr>
          <p:cNvPr id="11" name="TextBox 10"/>
          <p:cNvSpPr txBox="1"/>
          <p:nvPr/>
        </p:nvSpPr>
        <p:spPr>
          <a:xfrm>
            <a:off x="570160" y="295761"/>
            <a:ext cx="8065840" cy="646331"/>
          </a:xfrm>
          <a:prstGeom prst="rect">
            <a:avLst/>
          </a:prstGeom>
          <a:noFill/>
        </p:spPr>
        <p:txBody>
          <a:bodyPr wrap="square" rtlCol="0">
            <a:spAutoFit/>
          </a:bodyPr>
          <a:lstStyle/>
          <a:p>
            <a:pPr algn="ctr"/>
            <a:r>
              <a:rPr lang="en-US" sz="3600" b="1" dirty="0">
                <a:solidFill>
                  <a:schemeClr val="bg1"/>
                </a:solidFill>
                <a:latin typeface="Lato" charset="0"/>
                <a:ea typeface="Lato" charset="0"/>
                <a:cs typeface="Lato" charset="0"/>
              </a:rPr>
              <a:t>The three-view model of a system</a:t>
            </a:r>
          </a:p>
        </p:txBody>
      </p:sp>
      <p:pic>
        <p:nvPicPr>
          <p:cNvPr id="3" name="Picture 2">
            <a:extLst>
              <a:ext uri="{FF2B5EF4-FFF2-40B4-BE49-F238E27FC236}">
                <a16:creationId xmlns:a16="http://schemas.microsoft.com/office/drawing/2014/main" id="{912D1B01-2836-452D-926A-59648A66C2A8}"/>
              </a:ext>
            </a:extLst>
          </p:cNvPr>
          <p:cNvPicPr>
            <a:picLocks noChangeAspect="1"/>
          </p:cNvPicPr>
          <p:nvPr/>
        </p:nvPicPr>
        <p:blipFill>
          <a:blip r:embed="rId3"/>
          <a:stretch>
            <a:fillRect/>
          </a:stretch>
        </p:blipFill>
        <p:spPr>
          <a:xfrm>
            <a:off x="2007220" y="2183082"/>
            <a:ext cx="4880822" cy="3586461"/>
          </a:xfrm>
          <a:prstGeom prst="rect">
            <a:avLst/>
          </a:prstGeom>
        </p:spPr>
      </p:pic>
    </p:spTree>
    <p:extLst>
      <p:ext uri="{BB962C8B-B14F-4D97-AF65-F5344CB8AC3E}">
        <p14:creationId xmlns:p14="http://schemas.microsoft.com/office/powerpoint/2010/main" val="9179281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0" y="0"/>
            <a:ext cx="9144000" cy="12252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Lato Light" charset="0"/>
            </a:endParaRPr>
          </a:p>
        </p:txBody>
      </p:sp>
      <p:sp>
        <p:nvSpPr>
          <p:cNvPr id="11" name="TextBox 10"/>
          <p:cNvSpPr txBox="1"/>
          <p:nvPr/>
        </p:nvSpPr>
        <p:spPr>
          <a:xfrm>
            <a:off x="570160" y="295761"/>
            <a:ext cx="8065840" cy="646331"/>
          </a:xfrm>
          <a:prstGeom prst="rect">
            <a:avLst/>
          </a:prstGeom>
          <a:noFill/>
        </p:spPr>
        <p:txBody>
          <a:bodyPr wrap="square" rtlCol="0">
            <a:spAutoFit/>
          </a:bodyPr>
          <a:lstStyle/>
          <a:p>
            <a:pPr algn="ctr"/>
            <a:r>
              <a:rPr lang="en-US" sz="3600" b="1" dirty="0">
                <a:solidFill>
                  <a:schemeClr val="bg1"/>
                </a:solidFill>
                <a:latin typeface="Lato" charset="0"/>
                <a:ea typeface="Lato" charset="0"/>
                <a:cs typeface="Lato" charset="0"/>
              </a:rPr>
              <a:t>Pre-UML Modelling Techniques</a:t>
            </a:r>
          </a:p>
        </p:txBody>
      </p:sp>
      <p:sp>
        <p:nvSpPr>
          <p:cNvPr id="5" name="Rectangle 4">
            <a:extLst>
              <a:ext uri="{FF2B5EF4-FFF2-40B4-BE49-F238E27FC236}">
                <a16:creationId xmlns:a16="http://schemas.microsoft.com/office/drawing/2014/main" id="{2AF393C6-1414-6247-8304-3C5C2A41F6D2}"/>
              </a:ext>
            </a:extLst>
          </p:cNvPr>
          <p:cNvSpPr/>
          <p:nvPr/>
        </p:nvSpPr>
        <p:spPr>
          <a:xfrm>
            <a:off x="128016" y="1243065"/>
            <a:ext cx="9015984" cy="5632311"/>
          </a:xfrm>
          <a:prstGeom prst="rect">
            <a:avLst/>
          </a:prstGeom>
        </p:spPr>
        <p:txBody>
          <a:bodyPr wrap="square">
            <a:spAutoFit/>
          </a:bodyPr>
          <a:lstStyle/>
          <a:p>
            <a:pPr marL="457200" indent="-457200">
              <a:buFont typeface="Arial" panose="020B0604020202020204" pitchFamily="34" charset="0"/>
              <a:buChar char="•"/>
            </a:pPr>
            <a:r>
              <a:rPr lang="en-US" sz="2400" dirty="0"/>
              <a:t>Functionality (Functional Facet)</a:t>
            </a:r>
          </a:p>
          <a:p>
            <a:pPr marL="914400" lvl="1" indent="-457200">
              <a:buFont typeface="Arial" panose="020B0604020202020204" pitchFamily="34" charset="0"/>
              <a:buChar char="•"/>
            </a:pPr>
            <a:r>
              <a:rPr lang="en-US" sz="2400" dirty="0"/>
              <a:t>data flow diagram (DFD);</a:t>
            </a:r>
          </a:p>
          <a:p>
            <a:pPr marL="914400" lvl="1" indent="-457200">
              <a:buFont typeface="Arial" panose="020B0604020202020204" pitchFamily="34" charset="0"/>
              <a:buChar char="•"/>
            </a:pPr>
            <a:r>
              <a:rPr lang="en-US" sz="2400" dirty="0"/>
              <a:t>flow chart (including variants such as </a:t>
            </a:r>
            <a:r>
              <a:rPr lang="en-US" sz="2400" dirty="0" err="1"/>
              <a:t>swimlane</a:t>
            </a:r>
            <a:r>
              <a:rPr lang="en-US" sz="2400" dirty="0"/>
              <a:t> diagrams);</a:t>
            </a:r>
          </a:p>
          <a:p>
            <a:pPr marL="914400" lvl="1" indent="-457200">
              <a:buFont typeface="Arial" panose="020B0604020202020204" pitchFamily="34" charset="0"/>
              <a:buChar char="•"/>
            </a:pPr>
            <a:r>
              <a:rPr lang="en-US" sz="2400" dirty="0"/>
              <a:t>Jackson structure chart.</a:t>
            </a:r>
          </a:p>
          <a:p>
            <a:pPr marL="914400" lvl="1" indent="-457200">
              <a:buFont typeface="Arial" panose="020B0604020202020204" pitchFamily="34" charset="0"/>
              <a:buChar char="•"/>
            </a:pPr>
            <a:endParaRPr lang="en-US" sz="2400" dirty="0"/>
          </a:p>
          <a:p>
            <a:pPr marL="457200" indent="-457200">
              <a:buFont typeface="Arial" panose="020B0604020202020204" pitchFamily="34" charset="0"/>
              <a:buChar char="•"/>
            </a:pPr>
            <a:r>
              <a:rPr lang="en-US" sz="2400" dirty="0"/>
              <a:t>Static data (Structural Facet)</a:t>
            </a:r>
          </a:p>
          <a:p>
            <a:pPr marL="914400" lvl="1" indent="-457200">
              <a:buFont typeface="Arial" panose="020B0604020202020204" pitchFamily="34" charset="0"/>
              <a:buChar char="•"/>
            </a:pPr>
            <a:r>
              <a:rPr lang="en-US" sz="2400" dirty="0"/>
              <a:t>entity relationship diagram (ERD), also known as a Logical data model;</a:t>
            </a:r>
          </a:p>
          <a:p>
            <a:pPr marL="914400" lvl="1" indent="-457200">
              <a:buFont typeface="Arial" panose="020B0604020202020204" pitchFamily="34" charset="0"/>
              <a:buChar char="•"/>
            </a:pPr>
            <a:r>
              <a:rPr lang="en-US" sz="2400" dirty="0"/>
              <a:t>hierarchical tree diagram;</a:t>
            </a:r>
          </a:p>
          <a:p>
            <a:pPr marL="914400" lvl="1" indent="-457200">
              <a:buFont typeface="Arial" panose="020B0604020202020204" pitchFamily="34" charset="0"/>
              <a:buChar char="•"/>
            </a:pPr>
            <a:r>
              <a:rPr lang="en-US" sz="2400" dirty="0"/>
              <a:t>bubble diagram.</a:t>
            </a:r>
          </a:p>
          <a:p>
            <a:pPr marL="457200" indent="-457200">
              <a:buFont typeface="Arial" panose="020B0604020202020204" pitchFamily="34" charset="0"/>
              <a:buChar char="•"/>
            </a:pPr>
            <a:endParaRPr lang="en-US" sz="2400" dirty="0"/>
          </a:p>
          <a:p>
            <a:pPr marL="457200" indent="-457200">
              <a:buFont typeface="Arial" panose="020B0604020202020204" pitchFamily="34" charset="0"/>
              <a:buChar char="•"/>
            </a:pPr>
            <a:r>
              <a:rPr lang="en-US" sz="2400" dirty="0"/>
              <a:t>Events (Behavioral Facet)</a:t>
            </a:r>
          </a:p>
          <a:p>
            <a:pPr marL="914400" lvl="1" indent="-457200">
              <a:buFont typeface="Arial" panose="020B0604020202020204" pitchFamily="34" charset="0"/>
              <a:buChar char="•"/>
            </a:pPr>
            <a:r>
              <a:rPr lang="en-US" sz="2400" dirty="0"/>
              <a:t>Entity Life History (ELH), for example using Jackson structures;</a:t>
            </a:r>
          </a:p>
          <a:p>
            <a:pPr marL="914400" lvl="1" indent="-457200">
              <a:buFont typeface="Arial" panose="020B0604020202020204" pitchFamily="34" charset="0"/>
              <a:buChar char="•"/>
            </a:pPr>
            <a:r>
              <a:rPr lang="en-US" sz="2400" dirty="0" err="1"/>
              <a:t>Statechart</a:t>
            </a:r>
            <a:r>
              <a:rPr lang="en-US" sz="2400" dirty="0"/>
              <a:t>, for example those promoted by </a:t>
            </a:r>
            <a:r>
              <a:rPr lang="en-US" sz="2400" dirty="0" err="1"/>
              <a:t>Harel</a:t>
            </a:r>
            <a:r>
              <a:rPr lang="en-US" sz="2400" dirty="0"/>
              <a:t> pre-UML (see Figure 7.5).</a:t>
            </a:r>
          </a:p>
        </p:txBody>
      </p:sp>
    </p:spTree>
    <p:extLst>
      <p:ext uri="{BB962C8B-B14F-4D97-AF65-F5344CB8AC3E}">
        <p14:creationId xmlns:p14="http://schemas.microsoft.com/office/powerpoint/2010/main" val="4198063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0" y="0"/>
            <a:ext cx="9144000" cy="12252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Lato Light" charset="0"/>
            </a:endParaRPr>
          </a:p>
        </p:txBody>
      </p:sp>
      <p:sp>
        <p:nvSpPr>
          <p:cNvPr id="11" name="TextBox 10"/>
          <p:cNvSpPr txBox="1"/>
          <p:nvPr/>
        </p:nvSpPr>
        <p:spPr>
          <a:xfrm>
            <a:off x="570160" y="295761"/>
            <a:ext cx="8065840" cy="646331"/>
          </a:xfrm>
          <a:prstGeom prst="rect">
            <a:avLst/>
          </a:prstGeom>
          <a:noFill/>
        </p:spPr>
        <p:txBody>
          <a:bodyPr wrap="square" rtlCol="0">
            <a:spAutoFit/>
          </a:bodyPr>
          <a:lstStyle/>
          <a:p>
            <a:pPr algn="ctr"/>
            <a:r>
              <a:rPr lang="en-US" sz="3600" b="1" dirty="0">
                <a:solidFill>
                  <a:schemeClr val="bg1"/>
                </a:solidFill>
                <a:latin typeface="Lato" charset="0"/>
                <a:ea typeface="Lato" charset="0"/>
                <a:cs typeface="Lato" charset="0"/>
              </a:rPr>
              <a:t>UML</a:t>
            </a:r>
          </a:p>
        </p:txBody>
      </p:sp>
      <p:sp>
        <p:nvSpPr>
          <p:cNvPr id="5" name="Rectangle 4">
            <a:extLst>
              <a:ext uri="{FF2B5EF4-FFF2-40B4-BE49-F238E27FC236}">
                <a16:creationId xmlns:a16="http://schemas.microsoft.com/office/drawing/2014/main" id="{2AF393C6-1414-6247-8304-3C5C2A41F6D2}"/>
              </a:ext>
            </a:extLst>
          </p:cNvPr>
          <p:cNvSpPr/>
          <p:nvPr/>
        </p:nvSpPr>
        <p:spPr>
          <a:xfrm>
            <a:off x="128016" y="1243065"/>
            <a:ext cx="9015984" cy="4524315"/>
          </a:xfrm>
          <a:prstGeom prst="rect">
            <a:avLst/>
          </a:prstGeom>
        </p:spPr>
        <p:txBody>
          <a:bodyPr wrap="square">
            <a:spAutoFit/>
          </a:bodyPr>
          <a:lstStyle/>
          <a:p>
            <a:pPr marL="457200" indent="-457200">
              <a:buFont typeface="Arial" panose="020B0604020202020204" pitchFamily="34" charset="0"/>
              <a:buChar char="•"/>
            </a:pPr>
            <a:r>
              <a:rPr lang="en-US" sz="2400" dirty="0"/>
              <a:t>Functionality (Functional Facet)</a:t>
            </a:r>
          </a:p>
          <a:p>
            <a:pPr marL="914400" lvl="1" indent="-457200">
              <a:buFont typeface="Arial" panose="020B0604020202020204" pitchFamily="34" charset="0"/>
              <a:buChar char="•"/>
            </a:pPr>
            <a:r>
              <a:rPr lang="en-US" sz="2400" dirty="0"/>
              <a:t>use case diagram;</a:t>
            </a:r>
          </a:p>
          <a:p>
            <a:pPr marL="914400" lvl="1" indent="-457200">
              <a:buFont typeface="Arial" panose="020B0604020202020204" pitchFamily="34" charset="0"/>
              <a:buChar char="•"/>
            </a:pPr>
            <a:r>
              <a:rPr lang="en-US" sz="2400" dirty="0"/>
              <a:t>activity diagram;</a:t>
            </a:r>
          </a:p>
          <a:p>
            <a:pPr marL="914400" lvl="1" indent="-457200">
              <a:buFont typeface="Arial" panose="020B0604020202020204" pitchFamily="34" charset="0"/>
              <a:buChar char="•"/>
            </a:pPr>
            <a:r>
              <a:rPr lang="en-US" sz="2400" dirty="0"/>
              <a:t>interaction diagrams:</a:t>
            </a:r>
          </a:p>
          <a:p>
            <a:pPr marL="1371600" lvl="2" indent="-457200">
              <a:buFont typeface="Arial" panose="020B0604020202020204" pitchFamily="34" charset="0"/>
              <a:buChar char="•"/>
            </a:pPr>
            <a:r>
              <a:rPr lang="en-US" sz="2400" dirty="0"/>
              <a:t>sequence diagram</a:t>
            </a:r>
          </a:p>
          <a:p>
            <a:pPr marL="1371600" lvl="2" indent="-457200">
              <a:buFont typeface="Arial" panose="020B0604020202020204" pitchFamily="34" charset="0"/>
              <a:buChar char="•"/>
            </a:pPr>
            <a:r>
              <a:rPr lang="en-US" sz="2400" dirty="0"/>
              <a:t>communication diagram</a:t>
            </a:r>
          </a:p>
          <a:p>
            <a:pPr marL="1371600" lvl="2" indent="-457200">
              <a:buFont typeface="Arial" panose="020B0604020202020204" pitchFamily="34" charset="0"/>
              <a:buChar char="•"/>
            </a:pPr>
            <a:r>
              <a:rPr lang="en-US" sz="2400" dirty="0"/>
              <a:t>timing diagram</a:t>
            </a:r>
          </a:p>
          <a:p>
            <a:pPr marL="1371600" lvl="2" indent="-457200">
              <a:buFont typeface="Arial" panose="020B0604020202020204" pitchFamily="34" charset="0"/>
              <a:buChar char="•"/>
            </a:pPr>
            <a:r>
              <a:rPr lang="en-US" sz="2400" dirty="0"/>
              <a:t>interaction overview diagram.</a:t>
            </a:r>
          </a:p>
          <a:p>
            <a:pPr marL="457200" indent="-457200">
              <a:buFont typeface="Arial" panose="020B0604020202020204" pitchFamily="34" charset="0"/>
              <a:buChar char="•"/>
            </a:pPr>
            <a:r>
              <a:rPr lang="en-US" sz="2400" dirty="0"/>
              <a:t>Static data (Structural Facet)</a:t>
            </a:r>
          </a:p>
          <a:p>
            <a:pPr marL="914400" lvl="1" indent="-457200">
              <a:buFont typeface="Arial" panose="020B0604020202020204" pitchFamily="34" charset="0"/>
              <a:buChar char="•"/>
            </a:pPr>
            <a:r>
              <a:rPr lang="en-US" sz="2400" dirty="0"/>
              <a:t>Class diagram</a:t>
            </a:r>
          </a:p>
          <a:p>
            <a:pPr marL="457200" indent="-457200">
              <a:buFont typeface="Arial" panose="020B0604020202020204" pitchFamily="34" charset="0"/>
              <a:buChar char="•"/>
            </a:pPr>
            <a:r>
              <a:rPr lang="en-US" sz="2400" dirty="0"/>
              <a:t>Events (Behavioral Facet)</a:t>
            </a:r>
          </a:p>
          <a:p>
            <a:pPr marL="914400" lvl="1" indent="-457200">
              <a:buFont typeface="Arial" panose="020B0604020202020204" pitchFamily="34" charset="0"/>
              <a:buChar char="•"/>
            </a:pPr>
            <a:r>
              <a:rPr lang="en-US" sz="2400" dirty="0"/>
              <a:t>State machine</a:t>
            </a:r>
          </a:p>
        </p:txBody>
      </p:sp>
    </p:spTree>
    <p:extLst>
      <p:ext uri="{BB962C8B-B14F-4D97-AF65-F5344CB8AC3E}">
        <p14:creationId xmlns:p14="http://schemas.microsoft.com/office/powerpoint/2010/main" val="14704295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0" y="0"/>
            <a:ext cx="9144000" cy="12252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Lato Light" charset="0"/>
            </a:endParaRPr>
          </a:p>
        </p:txBody>
      </p:sp>
      <p:sp>
        <p:nvSpPr>
          <p:cNvPr id="11" name="TextBox 10"/>
          <p:cNvSpPr txBox="1"/>
          <p:nvPr/>
        </p:nvSpPr>
        <p:spPr>
          <a:xfrm>
            <a:off x="570160" y="295761"/>
            <a:ext cx="8065840" cy="646331"/>
          </a:xfrm>
          <a:prstGeom prst="rect">
            <a:avLst/>
          </a:prstGeom>
          <a:noFill/>
        </p:spPr>
        <p:txBody>
          <a:bodyPr wrap="square" rtlCol="0">
            <a:spAutoFit/>
          </a:bodyPr>
          <a:lstStyle/>
          <a:p>
            <a:pPr algn="ctr"/>
            <a:r>
              <a:rPr lang="en-US" sz="3600" b="1" dirty="0">
                <a:solidFill>
                  <a:schemeClr val="bg1"/>
                </a:solidFill>
                <a:latin typeface="Lato" charset="0"/>
                <a:ea typeface="Lato" charset="0"/>
                <a:cs typeface="Lato" charset="0"/>
              </a:rPr>
              <a:t>UML</a:t>
            </a:r>
          </a:p>
        </p:txBody>
      </p:sp>
      <p:pic>
        <p:nvPicPr>
          <p:cNvPr id="2" name="Picture 1">
            <a:extLst>
              <a:ext uri="{FF2B5EF4-FFF2-40B4-BE49-F238E27FC236}">
                <a16:creationId xmlns:a16="http://schemas.microsoft.com/office/drawing/2014/main" id="{AA788D92-C072-4DD7-A0FE-7C25733D70AC}"/>
              </a:ext>
            </a:extLst>
          </p:cNvPr>
          <p:cNvPicPr>
            <a:picLocks noChangeAspect="1"/>
          </p:cNvPicPr>
          <p:nvPr/>
        </p:nvPicPr>
        <p:blipFill>
          <a:blip r:embed="rId3"/>
          <a:stretch>
            <a:fillRect/>
          </a:stretch>
        </p:blipFill>
        <p:spPr>
          <a:xfrm>
            <a:off x="773002" y="1806497"/>
            <a:ext cx="7897349" cy="4114801"/>
          </a:xfrm>
          <a:prstGeom prst="rect">
            <a:avLst/>
          </a:prstGeom>
        </p:spPr>
      </p:pic>
    </p:spTree>
    <p:extLst>
      <p:ext uri="{BB962C8B-B14F-4D97-AF65-F5344CB8AC3E}">
        <p14:creationId xmlns:p14="http://schemas.microsoft.com/office/powerpoint/2010/main" val="38312378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0" y="0"/>
            <a:ext cx="9144000" cy="12252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Lato Light" charset="0"/>
            </a:endParaRPr>
          </a:p>
        </p:txBody>
      </p:sp>
      <p:sp>
        <p:nvSpPr>
          <p:cNvPr id="11" name="TextBox 10"/>
          <p:cNvSpPr txBox="1"/>
          <p:nvPr/>
        </p:nvSpPr>
        <p:spPr>
          <a:xfrm>
            <a:off x="570160" y="295761"/>
            <a:ext cx="8065840" cy="646331"/>
          </a:xfrm>
          <a:prstGeom prst="rect">
            <a:avLst/>
          </a:prstGeom>
          <a:noFill/>
        </p:spPr>
        <p:txBody>
          <a:bodyPr wrap="square" rtlCol="0">
            <a:spAutoFit/>
          </a:bodyPr>
          <a:lstStyle/>
          <a:p>
            <a:pPr algn="ctr"/>
            <a:r>
              <a:rPr lang="en-US" sz="3600" b="1" dirty="0">
                <a:solidFill>
                  <a:schemeClr val="bg1"/>
                </a:solidFill>
                <a:latin typeface="Lato" charset="0"/>
                <a:ea typeface="Lato" charset="0"/>
                <a:cs typeface="Lato" charset="0"/>
              </a:rPr>
              <a:t>Abstraction, Levelling and Scope</a:t>
            </a:r>
          </a:p>
        </p:txBody>
      </p:sp>
      <p:sp>
        <p:nvSpPr>
          <p:cNvPr id="5" name="Rectangle 4">
            <a:extLst>
              <a:ext uri="{FF2B5EF4-FFF2-40B4-BE49-F238E27FC236}">
                <a16:creationId xmlns:a16="http://schemas.microsoft.com/office/drawing/2014/main" id="{2AF393C6-1414-6247-8304-3C5C2A41F6D2}"/>
              </a:ext>
            </a:extLst>
          </p:cNvPr>
          <p:cNvSpPr/>
          <p:nvPr/>
        </p:nvSpPr>
        <p:spPr>
          <a:xfrm>
            <a:off x="128016" y="1243065"/>
            <a:ext cx="9015984" cy="5109091"/>
          </a:xfrm>
          <a:prstGeom prst="rect">
            <a:avLst/>
          </a:prstGeom>
        </p:spPr>
        <p:txBody>
          <a:bodyPr wrap="square">
            <a:spAutoFit/>
          </a:bodyPr>
          <a:lstStyle/>
          <a:p>
            <a:pPr marL="457200" indent="-457200">
              <a:buFont typeface="Arial" panose="020B0604020202020204" pitchFamily="34" charset="0"/>
              <a:buChar char="•"/>
            </a:pPr>
            <a:r>
              <a:rPr lang="en-US" sz="2000" dirty="0"/>
              <a:t>Classification</a:t>
            </a:r>
          </a:p>
          <a:p>
            <a:pPr marL="457200" indent="-457200">
              <a:buFont typeface="Arial" panose="020B0604020202020204" pitchFamily="34" charset="0"/>
              <a:buChar char="•"/>
            </a:pPr>
            <a:r>
              <a:rPr lang="en-US" sz="2000" dirty="0" err="1"/>
              <a:t>Generalisation</a:t>
            </a:r>
            <a:endParaRPr lang="en-US" sz="2000" dirty="0"/>
          </a:p>
          <a:p>
            <a:pPr marL="457200" indent="-457200">
              <a:buFont typeface="Arial" panose="020B0604020202020204" pitchFamily="34" charset="0"/>
              <a:buChar char="•"/>
            </a:pPr>
            <a:r>
              <a:rPr lang="en-US" sz="2000" dirty="0"/>
              <a:t>Composition</a:t>
            </a:r>
          </a:p>
          <a:p>
            <a:pPr marL="457200" indent="-457200">
              <a:buFont typeface="Arial" panose="020B0604020202020204" pitchFamily="34" charset="0"/>
              <a:buChar char="•"/>
            </a:pPr>
            <a:r>
              <a:rPr lang="en-US" sz="2000" dirty="0" err="1"/>
              <a:t>Idealisation</a:t>
            </a:r>
            <a:endParaRPr lang="en-US" sz="2000" dirty="0"/>
          </a:p>
          <a:p>
            <a:pPr marL="914400" lvl="1" indent="-457200">
              <a:buFont typeface="Arial" panose="020B0604020202020204" pitchFamily="34" charset="0"/>
              <a:buChar char="•"/>
            </a:pPr>
            <a:r>
              <a:rPr lang="en-US" sz="2000" dirty="0"/>
              <a:t>Contextual model</a:t>
            </a:r>
          </a:p>
          <a:p>
            <a:pPr marL="1371600" lvl="2" indent="-457200">
              <a:buFont typeface="Arial" panose="020B0604020202020204" pitchFamily="34" charset="0"/>
              <a:buChar char="•"/>
            </a:pPr>
            <a:r>
              <a:rPr lang="en-US" dirty="0"/>
              <a:t>an unstructured representation that helps to outline the scope and purpose of an element or system. It provides the background for the other levels</a:t>
            </a:r>
          </a:p>
          <a:p>
            <a:pPr marL="914400" lvl="1" indent="-457200">
              <a:buFont typeface="Arial" panose="020B0604020202020204" pitchFamily="34" charset="0"/>
              <a:buChar char="•"/>
            </a:pPr>
            <a:r>
              <a:rPr lang="en-US" sz="2000" dirty="0"/>
              <a:t>Conceptual model</a:t>
            </a:r>
          </a:p>
          <a:p>
            <a:pPr marL="1371600" lvl="2" indent="-457200">
              <a:buFont typeface="Arial" panose="020B0604020202020204" pitchFamily="34" charset="0"/>
              <a:buChar char="•"/>
            </a:pPr>
            <a:r>
              <a:rPr lang="en-US" dirty="0"/>
              <a:t>a structured description and high-level detail about the element without regard to implementation, for example a business process or data structure. Conceptual models are often incomplete or not structurally robust.</a:t>
            </a:r>
          </a:p>
          <a:p>
            <a:pPr marL="914400" lvl="1" indent="-457200">
              <a:buFont typeface="Arial" panose="020B0604020202020204" pitchFamily="34" charset="0"/>
              <a:buChar char="•"/>
            </a:pPr>
            <a:r>
              <a:rPr lang="en-US" sz="2000" dirty="0"/>
              <a:t>Logical model</a:t>
            </a:r>
          </a:p>
          <a:p>
            <a:pPr marL="1371600" lvl="2" indent="-457200">
              <a:buFont typeface="Arial" panose="020B0604020202020204" pitchFamily="34" charset="0"/>
              <a:buChar char="•"/>
            </a:pPr>
            <a:r>
              <a:rPr lang="en-US" dirty="0"/>
              <a:t>Logical models should be more complete and structurally robust while still ignoring implementation issues</a:t>
            </a:r>
            <a:endParaRPr lang="en-US" sz="2000" dirty="0"/>
          </a:p>
          <a:p>
            <a:pPr marL="914400" lvl="1" indent="-457200">
              <a:buFont typeface="Arial" panose="020B0604020202020204" pitchFamily="34" charset="0"/>
              <a:buChar char="•"/>
            </a:pPr>
            <a:r>
              <a:rPr lang="en-US" sz="2000" dirty="0"/>
              <a:t>Physical model</a:t>
            </a:r>
          </a:p>
          <a:p>
            <a:pPr marL="1371600" lvl="2" indent="-457200">
              <a:buFont typeface="Arial" panose="020B0604020202020204" pitchFamily="34" charset="0"/>
              <a:buChar char="•"/>
            </a:pPr>
            <a:r>
              <a:rPr lang="en-US" dirty="0"/>
              <a:t>Physical model considers implementation issues, such as technology-specific details, physical location details and so forth.</a:t>
            </a:r>
            <a:endParaRPr lang="en-US" sz="2400" dirty="0"/>
          </a:p>
        </p:txBody>
      </p:sp>
    </p:spTree>
    <p:extLst>
      <p:ext uri="{BB962C8B-B14F-4D97-AF65-F5344CB8AC3E}">
        <p14:creationId xmlns:p14="http://schemas.microsoft.com/office/powerpoint/2010/main" val="30843348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0" y="0"/>
            <a:ext cx="9144000" cy="12252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Lato Light" charset="0"/>
            </a:endParaRPr>
          </a:p>
        </p:txBody>
      </p:sp>
      <p:sp>
        <p:nvSpPr>
          <p:cNvPr id="11" name="TextBox 10"/>
          <p:cNvSpPr txBox="1"/>
          <p:nvPr/>
        </p:nvSpPr>
        <p:spPr>
          <a:xfrm>
            <a:off x="570160" y="295761"/>
            <a:ext cx="8065840" cy="646331"/>
          </a:xfrm>
          <a:prstGeom prst="rect">
            <a:avLst/>
          </a:prstGeom>
          <a:noFill/>
        </p:spPr>
        <p:txBody>
          <a:bodyPr wrap="square" rtlCol="0">
            <a:spAutoFit/>
          </a:bodyPr>
          <a:lstStyle/>
          <a:p>
            <a:pPr algn="ctr"/>
            <a:r>
              <a:rPr lang="en-US" sz="3600" b="1" dirty="0">
                <a:solidFill>
                  <a:schemeClr val="bg1"/>
                </a:solidFill>
                <a:latin typeface="Lato" charset="0"/>
                <a:ea typeface="Lato" charset="0"/>
                <a:cs typeface="Lato" charset="0"/>
              </a:rPr>
              <a:t>Opaqueness of Model Elements</a:t>
            </a:r>
          </a:p>
        </p:txBody>
      </p:sp>
      <p:sp>
        <p:nvSpPr>
          <p:cNvPr id="5" name="Rectangle 4">
            <a:extLst>
              <a:ext uri="{FF2B5EF4-FFF2-40B4-BE49-F238E27FC236}">
                <a16:creationId xmlns:a16="http://schemas.microsoft.com/office/drawing/2014/main" id="{2AF393C6-1414-6247-8304-3C5C2A41F6D2}"/>
              </a:ext>
            </a:extLst>
          </p:cNvPr>
          <p:cNvSpPr/>
          <p:nvPr/>
        </p:nvSpPr>
        <p:spPr>
          <a:xfrm>
            <a:off x="128016" y="1243065"/>
            <a:ext cx="9015984" cy="3785652"/>
          </a:xfrm>
          <a:prstGeom prst="rect">
            <a:avLst/>
          </a:prstGeom>
        </p:spPr>
        <p:txBody>
          <a:bodyPr wrap="square">
            <a:spAutoFit/>
          </a:bodyPr>
          <a:lstStyle/>
          <a:p>
            <a:pPr marL="457200" indent="-457200">
              <a:buFont typeface="Arial" panose="020B0604020202020204" pitchFamily="34" charset="0"/>
              <a:buChar char="•"/>
            </a:pPr>
            <a:r>
              <a:rPr lang="en-US" sz="2400" dirty="0"/>
              <a:t>Black-box elements</a:t>
            </a:r>
          </a:p>
          <a:p>
            <a:pPr marL="914400" lvl="1" indent="-457200">
              <a:buFont typeface="Arial" panose="020B0604020202020204" pitchFamily="34" charset="0"/>
              <a:buChar char="•"/>
            </a:pPr>
            <a:r>
              <a:rPr lang="en-US" sz="2400" dirty="0"/>
              <a:t>where we are not concerned about its inner workings, but only concerned with it as a whole and its links and dependencies on other </a:t>
            </a:r>
            <a:r>
              <a:rPr lang="en-US" sz="2400" dirty="0" err="1"/>
              <a:t>elementsflow</a:t>
            </a:r>
            <a:r>
              <a:rPr lang="en-US" sz="2400" dirty="0"/>
              <a:t> chart (including variants such as </a:t>
            </a:r>
            <a:r>
              <a:rPr lang="en-US" sz="2400" dirty="0" err="1"/>
              <a:t>swimlane</a:t>
            </a:r>
            <a:r>
              <a:rPr lang="en-US" sz="2400" dirty="0"/>
              <a:t> diagrams);</a:t>
            </a:r>
          </a:p>
          <a:p>
            <a:pPr marL="914400" lvl="1" indent="-457200">
              <a:buFont typeface="Arial" panose="020B0604020202020204" pitchFamily="34" charset="0"/>
              <a:buChar char="•"/>
            </a:pPr>
            <a:r>
              <a:rPr lang="en-US" sz="2400" dirty="0"/>
              <a:t>Example:</a:t>
            </a:r>
          </a:p>
          <a:p>
            <a:pPr marL="1371600" lvl="2" indent="-457200">
              <a:buFont typeface="Arial" panose="020B0604020202020204" pitchFamily="34" charset="0"/>
              <a:buChar char="•"/>
            </a:pPr>
            <a:r>
              <a:rPr lang="en-US" sz="2400" dirty="0"/>
              <a:t>Context diagram</a:t>
            </a:r>
          </a:p>
          <a:p>
            <a:pPr marL="1371600" lvl="2" indent="-457200">
              <a:buFont typeface="Arial" panose="020B0604020202020204" pitchFamily="34" charset="0"/>
              <a:buChar char="•"/>
            </a:pPr>
            <a:r>
              <a:rPr lang="en-US" sz="2400" dirty="0"/>
              <a:t>Use case diagram</a:t>
            </a:r>
          </a:p>
          <a:p>
            <a:pPr marL="457200" indent="-457200">
              <a:buFont typeface="Arial" panose="020B0604020202020204" pitchFamily="34" charset="0"/>
              <a:buChar char="•"/>
            </a:pPr>
            <a:r>
              <a:rPr lang="en-US" sz="2400" dirty="0"/>
              <a:t>White-box views</a:t>
            </a:r>
          </a:p>
          <a:p>
            <a:pPr marL="914400" lvl="1" indent="-457200">
              <a:buFont typeface="Arial" panose="020B0604020202020204" pitchFamily="34" charset="0"/>
              <a:buChar char="•"/>
            </a:pPr>
            <a:r>
              <a:rPr lang="en-US" sz="2400" dirty="0"/>
              <a:t>where we are interested in its internal workings</a:t>
            </a:r>
          </a:p>
        </p:txBody>
      </p:sp>
    </p:spTree>
    <p:extLst>
      <p:ext uri="{BB962C8B-B14F-4D97-AF65-F5344CB8AC3E}">
        <p14:creationId xmlns:p14="http://schemas.microsoft.com/office/powerpoint/2010/main" val="36866535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0" y="0"/>
            <a:ext cx="9144000" cy="12252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Lato Light" charset="0"/>
            </a:endParaRPr>
          </a:p>
        </p:txBody>
      </p:sp>
      <p:sp>
        <p:nvSpPr>
          <p:cNvPr id="11" name="TextBox 10"/>
          <p:cNvSpPr txBox="1"/>
          <p:nvPr/>
        </p:nvSpPr>
        <p:spPr>
          <a:xfrm>
            <a:off x="570160" y="295761"/>
            <a:ext cx="8065840" cy="646331"/>
          </a:xfrm>
          <a:prstGeom prst="rect">
            <a:avLst/>
          </a:prstGeom>
          <a:noFill/>
        </p:spPr>
        <p:txBody>
          <a:bodyPr wrap="square" rtlCol="0">
            <a:spAutoFit/>
          </a:bodyPr>
          <a:lstStyle/>
          <a:p>
            <a:pPr algn="ctr"/>
            <a:r>
              <a:rPr lang="en-US" sz="3600" b="1" dirty="0">
                <a:solidFill>
                  <a:schemeClr val="bg1"/>
                </a:solidFill>
                <a:latin typeface="Lato" charset="0"/>
                <a:ea typeface="Lato" charset="0"/>
                <a:cs typeface="Lato" charset="0"/>
              </a:rPr>
              <a:t>Cross-referencing Models</a:t>
            </a:r>
          </a:p>
        </p:txBody>
      </p:sp>
      <p:sp>
        <p:nvSpPr>
          <p:cNvPr id="5" name="Rectangle 4">
            <a:extLst>
              <a:ext uri="{FF2B5EF4-FFF2-40B4-BE49-F238E27FC236}">
                <a16:creationId xmlns:a16="http://schemas.microsoft.com/office/drawing/2014/main" id="{2AF393C6-1414-6247-8304-3C5C2A41F6D2}"/>
              </a:ext>
            </a:extLst>
          </p:cNvPr>
          <p:cNvSpPr/>
          <p:nvPr/>
        </p:nvSpPr>
        <p:spPr>
          <a:xfrm>
            <a:off x="128016" y="1243065"/>
            <a:ext cx="9015984" cy="5262979"/>
          </a:xfrm>
          <a:prstGeom prst="rect">
            <a:avLst/>
          </a:prstGeom>
        </p:spPr>
        <p:txBody>
          <a:bodyPr wrap="square">
            <a:spAutoFit/>
          </a:bodyPr>
          <a:lstStyle/>
          <a:p>
            <a:pPr marL="457200" indent="-457200">
              <a:buFont typeface="Arial" panose="020B0604020202020204" pitchFamily="34" charset="0"/>
              <a:buChar char="•"/>
            </a:pPr>
            <a:r>
              <a:rPr lang="en-US" sz="2400" dirty="0"/>
              <a:t>Producing a number of models is all well and good, but in order to be effective they need to be consistent with each other in terms of:</a:t>
            </a:r>
          </a:p>
          <a:p>
            <a:pPr marL="914400" lvl="1" indent="-457200">
              <a:buFont typeface="Arial" panose="020B0604020202020204" pitchFamily="34" charset="0"/>
              <a:buChar char="•"/>
            </a:pPr>
            <a:r>
              <a:rPr lang="en-US" sz="2400" dirty="0"/>
              <a:t>validating that model elements can be traced back to underlying business requirements;</a:t>
            </a:r>
          </a:p>
          <a:p>
            <a:pPr marL="914400" lvl="1" indent="-457200">
              <a:buFont typeface="Arial" panose="020B0604020202020204" pitchFamily="34" charset="0"/>
              <a:buChar char="•"/>
            </a:pPr>
            <a:r>
              <a:rPr lang="en-US" sz="2400" dirty="0"/>
              <a:t>cross-referencing elements in one view or model to related elements in other models where there is some dependency; for example, certain events can be mapped to use cases, which in turn are mapped to the static data they manipulate;</a:t>
            </a:r>
          </a:p>
          <a:p>
            <a:pPr marL="914400" lvl="1" indent="-457200">
              <a:buFont typeface="Arial" panose="020B0604020202020204" pitchFamily="34" charset="0"/>
              <a:buChar char="•"/>
            </a:pPr>
            <a:r>
              <a:rPr lang="en-US" sz="2400" dirty="0"/>
              <a:t>ensuring different views are modelling consistent system scopes;</a:t>
            </a:r>
          </a:p>
          <a:p>
            <a:pPr marL="914400" lvl="1" indent="-457200">
              <a:buFont typeface="Arial" panose="020B0604020202020204" pitchFamily="34" charset="0"/>
              <a:buChar char="•"/>
            </a:pPr>
            <a:r>
              <a:rPr lang="en-US" sz="2400" dirty="0"/>
              <a:t>checking that models and views conform to the same semantics; i.e. calculations and conditions in Physical models correctly implement business rules defined in Conceptual and Logical models.</a:t>
            </a:r>
          </a:p>
        </p:txBody>
      </p:sp>
    </p:spTree>
    <p:extLst>
      <p:ext uri="{BB962C8B-B14F-4D97-AF65-F5344CB8AC3E}">
        <p14:creationId xmlns:p14="http://schemas.microsoft.com/office/powerpoint/2010/main" val="32147215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0" y="0"/>
            <a:ext cx="9144000" cy="12252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Lato Light" charset="0"/>
            </a:endParaRPr>
          </a:p>
        </p:txBody>
      </p:sp>
      <p:sp>
        <p:nvSpPr>
          <p:cNvPr id="11" name="TextBox 10"/>
          <p:cNvSpPr txBox="1"/>
          <p:nvPr/>
        </p:nvSpPr>
        <p:spPr>
          <a:xfrm>
            <a:off x="603088" y="264670"/>
            <a:ext cx="8065840" cy="646331"/>
          </a:xfrm>
          <a:prstGeom prst="rect">
            <a:avLst/>
          </a:prstGeom>
          <a:noFill/>
        </p:spPr>
        <p:txBody>
          <a:bodyPr wrap="square" rtlCol="0">
            <a:spAutoFit/>
          </a:bodyPr>
          <a:lstStyle/>
          <a:p>
            <a:pPr algn="ctr"/>
            <a:r>
              <a:rPr lang="en-US" sz="3600" b="1" dirty="0">
                <a:solidFill>
                  <a:schemeClr val="bg1"/>
                </a:solidFill>
                <a:latin typeface="Lato" charset="0"/>
                <a:ea typeface="Lato" charset="0"/>
                <a:cs typeface="Lato" charset="0"/>
              </a:rPr>
              <a:t>Traceability</a:t>
            </a:r>
          </a:p>
        </p:txBody>
      </p:sp>
      <p:sp>
        <p:nvSpPr>
          <p:cNvPr id="5" name="Rectangle 4">
            <a:extLst>
              <a:ext uri="{FF2B5EF4-FFF2-40B4-BE49-F238E27FC236}">
                <a16:creationId xmlns:a16="http://schemas.microsoft.com/office/drawing/2014/main" id="{2AF393C6-1414-6247-8304-3C5C2A41F6D2}"/>
              </a:ext>
            </a:extLst>
          </p:cNvPr>
          <p:cNvSpPr/>
          <p:nvPr/>
        </p:nvSpPr>
        <p:spPr>
          <a:xfrm>
            <a:off x="128016" y="1243065"/>
            <a:ext cx="9015984" cy="4154984"/>
          </a:xfrm>
          <a:prstGeom prst="rect">
            <a:avLst/>
          </a:prstGeom>
        </p:spPr>
        <p:txBody>
          <a:bodyPr wrap="square">
            <a:spAutoFit/>
          </a:bodyPr>
          <a:lstStyle/>
          <a:p>
            <a:pPr marL="457200" indent="-457200">
              <a:buFont typeface="Arial" panose="020B0604020202020204" pitchFamily="34" charset="0"/>
              <a:buChar char="•"/>
            </a:pPr>
            <a:r>
              <a:rPr lang="en-US" sz="2400" dirty="0"/>
              <a:t>Traceability from business requirements to deliverables via intervening models can reveal the following:</a:t>
            </a:r>
          </a:p>
          <a:p>
            <a:pPr marL="914400" lvl="1" indent="-457200">
              <a:buFont typeface="Arial" panose="020B0604020202020204" pitchFamily="34" charset="0"/>
              <a:buChar char="•"/>
            </a:pPr>
            <a:r>
              <a:rPr lang="en-US" sz="2400" dirty="0"/>
              <a:t>which requirements have been met or not;</a:t>
            </a:r>
          </a:p>
          <a:p>
            <a:pPr marL="914400" lvl="1" indent="-457200">
              <a:buFont typeface="Arial" panose="020B0604020202020204" pitchFamily="34" charset="0"/>
              <a:buChar char="•"/>
            </a:pPr>
            <a:r>
              <a:rPr lang="en-US" sz="2400" dirty="0"/>
              <a:t>how to plan incremental delivery based on requirement priority</a:t>
            </a:r>
          </a:p>
          <a:p>
            <a:pPr marL="914400" lvl="1" indent="-457200">
              <a:buFont typeface="Arial" panose="020B0604020202020204" pitchFamily="34" charset="0"/>
              <a:buChar char="•"/>
            </a:pPr>
            <a:r>
              <a:rPr lang="en-US" sz="2400" dirty="0"/>
              <a:t>which deliverables, and intervening models, are effected by a proposed requirements change request; the first dimension of impact analysis</a:t>
            </a:r>
          </a:p>
          <a:p>
            <a:pPr marL="457200" indent="-457200">
              <a:buFont typeface="Arial" panose="020B0604020202020204" pitchFamily="34" charset="0"/>
              <a:buChar char="•"/>
            </a:pPr>
            <a:endParaRPr lang="en-US" sz="2400" dirty="0"/>
          </a:p>
          <a:p>
            <a:pPr marL="457200" indent="-457200">
              <a:buFont typeface="Arial" panose="020B0604020202020204" pitchFamily="34" charset="0"/>
              <a:buChar char="•"/>
            </a:pPr>
            <a:r>
              <a:rPr lang="en-US" sz="2400" dirty="0"/>
              <a:t>Tools:</a:t>
            </a:r>
          </a:p>
          <a:p>
            <a:pPr marL="914400" lvl="1" indent="-457200">
              <a:buFont typeface="Arial" panose="020B0604020202020204" pitchFamily="34" charset="0"/>
              <a:buChar char="•"/>
            </a:pPr>
            <a:r>
              <a:rPr lang="en-US" sz="2400" dirty="0"/>
              <a:t>Matrices</a:t>
            </a:r>
          </a:p>
          <a:p>
            <a:pPr marL="914400" lvl="1" indent="-457200">
              <a:buFont typeface="Arial" panose="020B0604020202020204" pitchFamily="34" charset="0"/>
              <a:buChar char="•"/>
            </a:pPr>
            <a:endParaRPr lang="en-US" sz="2400" dirty="0"/>
          </a:p>
        </p:txBody>
      </p:sp>
    </p:spTree>
    <p:extLst>
      <p:ext uri="{BB962C8B-B14F-4D97-AF65-F5344CB8AC3E}">
        <p14:creationId xmlns:p14="http://schemas.microsoft.com/office/powerpoint/2010/main" val="20682767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0" y="0"/>
            <a:ext cx="9144000" cy="12252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Lato Light" charset="0"/>
            </a:endParaRPr>
          </a:p>
        </p:txBody>
      </p:sp>
      <p:sp>
        <p:nvSpPr>
          <p:cNvPr id="11" name="TextBox 10"/>
          <p:cNvSpPr txBox="1"/>
          <p:nvPr/>
        </p:nvSpPr>
        <p:spPr>
          <a:xfrm>
            <a:off x="603088" y="264670"/>
            <a:ext cx="8065840" cy="646331"/>
          </a:xfrm>
          <a:prstGeom prst="rect">
            <a:avLst/>
          </a:prstGeom>
          <a:noFill/>
        </p:spPr>
        <p:txBody>
          <a:bodyPr wrap="square" rtlCol="0">
            <a:spAutoFit/>
          </a:bodyPr>
          <a:lstStyle/>
          <a:p>
            <a:pPr algn="ctr"/>
            <a:r>
              <a:rPr lang="en-US" sz="3600" b="1" dirty="0">
                <a:solidFill>
                  <a:schemeClr val="bg1"/>
                </a:solidFill>
                <a:latin typeface="Lato" charset="0"/>
                <a:ea typeface="Lato" charset="0"/>
                <a:cs typeface="Lato" charset="0"/>
              </a:rPr>
              <a:t>Matrices Examples</a:t>
            </a:r>
          </a:p>
        </p:txBody>
      </p:sp>
      <p:sp>
        <p:nvSpPr>
          <p:cNvPr id="5" name="Rectangle 4">
            <a:extLst>
              <a:ext uri="{FF2B5EF4-FFF2-40B4-BE49-F238E27FC236}">
                <a16:creationId xmlns:a16="http://schemas.microsoft.com/office/drawing/2014/main" id="{2AF393C6-1414-6247-8304-3C5C2A41F6D2}"/>
              </a:ext>
            </a:extLst>
          </p:cNvPr>
          <p:cNvSpPr/>
          <p:nvPr/>
        </p:nvSpPr>
        <p:spPr>
          <a:xfrm>
            <a:off x="128016" y="1243065"/>
            <a:ext cx="9015984" cy="4401205"/>
          </a:xfrm>
          <a:prstGeom prst="rect">
            <a:avLst/>
          </a:prstGeom>
        </p:spPr>
        <p:txBody>
          <a:bodyPr wrap="square">
            <a:spAutoFit/>
          </a:bodyPr>
          <a:lstStyle/>
          <a:p>
            <a:pPr marL="457200" indent="-457200">
              <a:buFont typeface="Arial" panose="020B0604020202020204" pitchFamily="34" charset="0"/>
              <a:buChar char="•"/>
            </a:pPr>
            <a:r>
              <a:rPr lang="en-US" sz="2000" dirty="0"/>
              <a:t>Mapping functional business requirements to system use case: this reveals which requirements have and, more importantly, have not been incorporated into the system functional model.</a:t>
            </a:r>
          </a:p>
          <a:p>
            <a:pPr marL="457200" indent="-457200">
              <a:buFont typeface="Arial" panose="020B0604020202020204" pitchFamily="34" charset="0"/>
              <a:buChar char="•"/>
            </a:pPr>
            <a:r>
              <a:rPr lang="en-US" sz="2000" dirty="0"/>
              <a:t>Mapping entities in a Conceptual data model to those in the Logical data model or on to physical database tables: at the first level, this is done to ensure that all the data entities have been incorporated; then to indicate where the data semantics (meaning and rules) need to be checked for consistency.</a:t>
            </a:r>
          </a:p>
          <a:p>
            <a:pPr marL="457200" indent="-457200">
              <a:buFont typeface="Arial" panose="020B0604020202020204" pitchFamily="34" charset="0"/>
              <a:buChar char="•"/>
            </a:pPr>
            <a:r>
              <a:rPr lang="en-US" sz="2000" dirty="0"/>
              <a:t>Mapping external entities of a system (actors) to the services they require from the system.</a:t>
            </a:r>
          </a:p>
          <a:p>
            <a:pPr marL="457200" indent="-457200">
              <a:buFont typeface="Arial" panose="020B0604020202020204" pitchFamily="34" charset="0"/>
              <a:buChar char="•"/>
            </a:pPr>
            <a:r>
              <a:rPr lang="en-US" sz="2000" dirty="0"/>
              <a:t>Mapping events to the functional elements that are triggered.</a:t>
            </a:r>
          </a:p>
          <a:p>
            <a:pPr marL="457200" indent="-457200">
              <a:buFont typeface="Arial" panose="020B0604020202020204" pitchFamily="34" charset="0"/>
              <a:buChar char="•"/>
            </a:pPr>
            <a:r>
              <a:rPr lang="en-US" sz="2000" dirty="0"/>
              <a:t>Mapping functional elements to static data elements at any level of </a:t>
            </a:r>
            <a:r>
              <a:rPr lang="en-US" sz="2000" dirty="0" err="1"/>
              <a:t>idealisation</a:t>
            </a:r>
            <a:r>
              <a:rPr lang="en-US" sz="2000" dirty="0"/>
              <a:t>: a commonly used example of this is referred to as the CRUD matrix.</a:t>
            </a:r>
          </a:p>
          <a:p>
            <a:pPr marL="457200" indent="-457200">
              <a:buFont typeface="Arial" panose="020B0604020202020204" pitchFamily="34" charset="0"/>
              <a:buChar char="•"/>
            </a:pPr>
            <a:r>
              <a:rPr lang="en-US" sz="2000" dirty="0"/>
              <a:t>Mapping events to the data elements that are likely to be effected can also be shown in a CRUD matrix.</a:t>
            </a:r>
          </a:p>
        </p:txBody>
      </p:sp>
    </p:spTree>
    <p:extLst>
      <p:ext uri="{BB962C8B-B14F-4D97-AF65-F5344CB8AC3E}">
        <p14:creationId xmlns:p14="http://schemas.microsoft.com/office/powerpoint/2010/main" val="13951486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0" y="0"/>
            <a:ext cx="9144000" cy="12252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Lato Light" charset="0"/>
            </a:endParaRPr>
          </a:p>
        </p:txBody>
      </p:sp>
      <p:sp>
        <p:nvSpPr>
          <p:cNvPr id="11" name="TextBox 10"/>
          <p:cNvSpPr txBox="1"/>
          <p:nvPr/>
        </p:nvSpPr>
        <p:spPr>
          <a:xfrm>
            <a:off x="570160" y="295761"/>
            <a:ext cx="8065840" cy="646331"/>
          </a:xfrm>
          <a:prstGeom prst="rect">
            <a:avLst/>
          </a:prstGeom>
          <a:noFill/>
        </p:spPr>
        <p:txBody>
          <a:bodyPr wrap="square" rtlCol="0">
            <a:spAutoFit/>
          </a:bodyPr>
          <a:lstStyle/>
          <a:p>
            <a:pPr algn="ctr"/>
            <a:r>
              <a:rPr lang="en-US" sz="3600" b="1" dirty="0">
                <a:solidFill>
                  <a:schemeClr val="bg1"/>
                </a:solidFill>
                <a:latin typeface="Lato" charset="0"/>
                <a:ea typeface="Lato" charset="0"/>
                <a:cs typeface="Lato" charset="0"/>
              </a:rPr>
              <a:t>CRUD Matrix</a:t>
            </a:r>
          </a:p>
        </p:txBody>
      </p:sp>
      <p:pic>
        <p:nvPicPr>
          <p:cNvPr id="3" name="Picture 2">
            <a:extLst>
              <a:ext uri="{FF2B5EF4-FFF2-40B4-BE49-F238E27FC236}">
                <a16:creationId xmlns:a16="http://schemas.microsoft.com/office/drawing/2014/main" id="{BF2C7F33-999A-415C-999A-B4A7AEE28A3C}"/>
              </a:ext>
            </a:extLst>
          </p:cNvPr>
          <p:cNvPicPr>
            <a:picLocks noChangeAspect="1"/>
          </p:cNvPicPr>
          <p:nvPr/>
        </p:nvPicPr>
        <p:blipFill>
          <a:blip r:embed="rId3"/>
          <a:stretch>
            <a:fillRect/>
          </a:stretch>
        </p:blipFill>
        <p:spPr>
          <a:xfrm>
            <a:off x="508000" y="1461852"/>
            <a:ext cx="7888868" cy="5196260"/>
          </a:xfrm>
          <a:prstGeom prst="rect">
            <a:avLst/>
          </a:prstGeom>
        </p:spPr>
      </p:pic>
    </p:spTree>
    <p:extLst>
      <p:ext uri="{BB962C8B-B14F-4D97-AF65-F5344CB8AC3E}">
        <p14:creationId xmlns:p14="http://schemas.microsoft.com/office/powerpoint/2010/main" val="42606753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0" y="0"/>
            <a:ext cx="9144000" cy="12252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Lato Light" charset="0"/>
            </a:endParaRPr>
          </a:p>
        </p:txBody>
      </p:sp>
      <p:sp>
        <p:nvSpPr>
          <p:cNvPr id="11" name="TextBox 10"/>
          <p:cNvSpPr txBox="1"/>
          <p:nvPr/>
        </p:nvSpPr>
        <p:spPr>
          <a:xfrm>
            <a:off x="570160" y="295761"/>
            <a:ext cx="8065840" cy="646331"/>
          </a:xfrm>
          <a:prstGeom prst="rect">
            <a:avLst/>
          </a:prstGeom>
          <a:noFill/>
        </p:spPr>
        <p:txBody>
          <a:bodyPr wrap="square" rtlCol="0">
            <a:spAutoFit/>
          </a:bodyPr>
          <a:lstStyle/>
          <a:p>
            <a:pPr algn="ctr"/>
            <a:r>
              <a:rPr lang="en-US" sz="3600" b="1" dirty="0">
                <a:solidFill>
                  <a:schemeClr val="bg1"/>
                </a:solidFill>
                <a:latin typeface="Lato" charset="0"/>
                <a:ea typeface="Lato" charset="0"/>
                <a:cs typeface="Lato" charset="0"/>
              </a:rPr>
              <a:t>Functional Model Map</a:t>
            </a:r>
          </a:p>
        </p:txBody>
      </p:sp>
      <p:pic>
        <p:nvPicPr>
          <p:cNvPr id="2" name="Picture 1">
            <a:extLst>
              <a:ext uri="{FF2B5EF4-FFF2-40B4-BE49-F238E27FC236}">
                <a16:creationId xmlns:a16="http://schemas.microsoft.com/office/drawing/2014/main" id="{5D29A648-7089-4B9F-978B-B1FD3F5DD2DF}"/>
              </a:ext>
            </a:extLst>
          </p:cNvPr>
          <p:cNvPicPr>
            <a:picLocks noChangeAspect="1"/>
          </p:cNvPicPr>
          <p:nvPr/>
        </p:nvPicPr>
        <p:blipFill>
          <a:blip r:embed="rId3"/>
          <a:stretch>
            <a:fillRect/>
          </a:stretch>
        </p:blipFill>
        <p:spPr>
          <a:xfrm>
            <a:off x="858644" y="1350562"/>
            <a:ext cx="7426712" cy="4704122"/>
          </a:xfrm>
          <a:prstGeom prst="rect">
            <a:avLst/>
          </a:prstGeom>
        </p:spPr>
      </p:pic>
      <p:sp>
        <p:nvSpPr>
          <p:cNvPr id="4" name="TextBox 3">
            <a:extLst>
              <a:ext uri="{FF2B5EF4-FFF2-40B4-BE49-F238E27FC236}">
                <a16:creationId xmlns:a16="http://schemas.microsoft.com/office/drawing/2014/main" id="{9645C6D5-F079-4703-B900-2015A8BA5E1F}"/>
              </a:ext>
            </a:extLst>
          </p:cNvPr>
          <p:cNvSpPr txBox="1"/>
          <p:nvPr/>
        </p:nvSpPr>
        <p:spPr>
          <a:xfrm>
            <a:off x="1382751" y="6088138"/>
            <a:ext cx="7047571" cy="369332"/>
          </a:xfrm>
          <a:prstGeom prst="rect">
            <a:avLst/>
          </a:prstGeom>
          <a:noFill/>
        </p:spPr>
        <p:txBody>
          <a:bodyPr wrap="square" rtlCol="0">
            <a:spAutoFit/>
          </a:bodyPr>
          <a:lstStyle/>
          <a:p>
            <a:r>
              <a:rPr lang="en-US" dirty="0"/>
              <a:t>overlaid with traceability paths from requirements to code</a:t>
            </a:r>
            <a:endParaRPr lang="id-ID" dirty="0"/>
          </a:p>
        </p:txBody>
      </p:sp>
    </p:spTree>
    <p:extLst>
      <p:ext uri="{BB962C8B-B14F-4D97-AF65-F5344CB8AC3E}">
        <p14:creationId xmlns:p14="http://schemas.microsoft.com/office/powerpoint/2010/main" val="18889227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0" y="0"/>
            <a:ext cx="9144000" cy="12252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Lato Light" charset="0"/>
            </a:endParaRPr>
          </a:p>
        </p:txBody>
      </p:sp>
      <p:sp>
        <p:nvSpPr>
          <p:cNvPr id="11" name="TextBox 10"/>
          <p:cNvSpPr txBox="1"/>
          <p:nvPr/>
        </p:nvSpPr>
        <p:spPr>
          <a:xfrm>
            <a:off x="603088" y="264670"/>
            <a:ext cx="8065840" cy="646331"/>
          </a:xfrm>
          <a:prstGeom prst="rect">
            <a:avLst/>
          </a:prstGeom>
          <a:noFill/>
        </p:spPr>
        <p:txBody>
          <a:bodyPr wrap="square" rtlCol="0">
            <a:spAutoFit/>
          </a:bodyPr>
          <a:lstStyle/>
          <a:p>
            <a:pPr algn="ctr"/>
            <a:r>
              <a:rPr lang="en-US" sz="3600" b="1" dirty="0">
                <a:solidFill>
                  <a:schemeClr val="bg1"/>
                </a:solidFill>
                <a:latin typeface="Lato" charset="0"/>
                <a:ea typeface="Lato" charset="0"/>
                <a:cs typeface="Lato" charset="0"/>
              </a:rPr>
              <a:t>Documentation</a:t>
            </a:r>
          </a:p>
        </p:txBody>
      </p:sp>
      <p:sp>
        <p:nvSpPr>
          <p:cNvPr id="5" name="Rectangle 4">
            <a:extLst>
              <a:ext uri="{FF2B5EF4-FFF2-40B4-BE49-F238E27FC236}">
                <a16:creationId xmlns:a16="http://schemas.microsoft.com/office/drawing/2014/main" id="{2AF393C6-1414-6247-8304-3C5C2A41F6D2}"/>
              </a:ext>
            </a:extLst>
          </p:cNvPr>
          <p:cNvSpPr/>
          <p:nvPr/>
        </p:nvSpPr>
        <p:spPr>
          <a:xfrm>
            <a:off x="128016" y="1243065"/>
            <a:ext cx="9015984" cy="5324535"/>
          </a:xfrm>
          <a:prstGeom prst="rect">
            <a:avLst/>
          </a:prstGeom>
        </p:spPr>
        <p:txBody>
          <a:bodyPr wrap="square">
            <a:spAutoFit/>
          </a:bodyPr>
          <a:lstStyle/>
          <a:p>
            <a:pPr marL="457200" indent="-457200">
              <a:buFont typeface="Arial" panose="020B0604020202020204" pitchFamily="34" charset="0"/>
              <a:buChar char="•"/>
            </a:pPr>
            <a:r>
              <a:rPr lang="en-US" sz="2000" dirty="0"/>
              <a:t>Waterfall lifecycle documentation</a:t>
            </a:r>
          </a:p>
          <a:p>
            <a:pPr marL="914400" lvl="1" indent="-457200">
              <a:buFont typeface="Arial" panose="020B0604020202020204" pitchFamily="34" charset="0"/>
              <a:buChar char="•"/>
            </a:pPr>
            <a:r>
              <a:rPr lang="en-US" sz="2000" dirty="0"/>
              <a:t>1. business case and feasibility study;</a:t>
            </a:r>
          </a:p>
          <a:p>
            <a:pPr marL="914400" lvl="1" indent="-457200">
              <a:buFont typeface="Arial" panose="020B0604020202020204" pitchFamily="34" charset="0"/>
              <a:buChar char="•"/>
            </a:pPr>
            <a:r>
              <a:rPr lang="en-US" sz="2000" dirty="0"/>
              <a:t>2. requirements document;</a:t>
            </a:r>
          </a:p>
          <a:p>
            <a:pPr marL="914400" lvl="1" indent="-457200">
              <a:buFont typeface="Arial" panose="020B0604020202020204" pitchFamily="34" charset="0"/>
              <a:buChar char="•"/>
            </a:pPr>
            <a:r>
              <a:rPr lang="en-US" sz="2000" dirty="0"/>
              <a:t>3. system specification document;</a:t>
            </a:r>
          </a:p>
          <a:p>
            <a:pPr marL="914400" lvl="1" indent="-457200">
              <a:buFont typeface="Arial" panose="020B0604020202020204" pitchFamily="34" charset="0"/>
              <a:buChar char="•"/>
            </a:pPr>
            <a:r>
              <a:rPr lang="en-US" sz="2000" dirty="0"/>
              <a:t>4. system design document;</a:t>
            </a:r>
          </a:p>
          <a:p>
            <a:pPr marL="914400" lvl="1" indent="-457200">
              <a:buFont typeface="Arial" panose="020B0604020202020204" pitchFamily="34" charset="0"/>
              <a:buChar char="•"/>
            </a:pPr>
            <a:r>
              <a:rPr lang="en-US" sz="2000" dirty="0"/>
              <a:t>5. test documentation;</a:t>
            </a:r>
          </a:p>
          <a:p>
            <a:pPr marL="914400" lvl="1" indent="-457200">
              <a:buFont typeface="Arial" panose="020B0604020202020204" pitchFamily="34" charset="0"/>
              <a:buChar char="•"/>
            </a:pPr>
            <a:r>
              <a:rPr lang="en-US" sz="2000" dirty="0"/>
              <a:t>6. implemented system documentation:</a:t>
            </a:r>
          </a:p>
          <a:p>
            <a:pPr marL="1371600" lvl="2" indent="-457200">
              <a:buFont typeface="Arial" panose="020B0604020202020204" pitchFamily="34" charset="0"/>
              <a:buChar char="•"/>
            </a:pPr>
            <a:r>
              <a:rPr lang="en-US" sz="2000" dirty="0"/>
              <a:t>a. operations manual</a:t>
            </a:r>
          </a:p>
          <a:p>
            <a:pPr marL="1371600" lvl="2" indent="-457200">
              <a:buFont typeface="Arial" panose="020B0604020202020204" pitchFamily="34" charset="0"/>
              <a:buChar char="•"/>
            </a:pPr>
            <a:r>
              <a:rPr lang="en-US" sz="2000" dirty="0"/>
              <a:t>b. user documentation</a:t>
            </a:r>
          </a:p>
          <a:p>
            <a:pPr marL="1371600" lvl="2" indent="-457200">
              <a:buFont typeface="Arial" panose="020B0604020202020204" pitchFamily="34" charset="0"/>
              <a:buChar char="•"/>
            </a:pPr>
            <a:r>
              <a:rPr lang="en-US" sz="2000" dirty="0"/>
              <a:t>c. training materials.</a:t>
            </a:r>
          </a:p>
          <a:p>
            <a:pPr marL="457200" indent="-457200">
              <a:buFont typeface="Arial" panose="020B0604020202020204" pitchFamily="34" charset="0"/>
              <a:buChar char="•"/>
            </a:pPr>
            <a:r>
              <a:rPr lang="en-US" sz="2000" dirty="0"/>
              <a:t>Agile documentation</a:t>
            </a:r>
          </a:p>
          <a:p>
            <a:pPr marL="914400" lvl="1" indent="-457200">
              <a:buFont typeface="Arial" panose="020B0604020202020204" pitchFamily="34" charset="0"/>
              <a:buChar char="•"/>
            </a:pPr>
            <a:r>
              <a:rPr lang="en-US" sz="2000" dirty="0"/>
              <a:t>a business case defining scope and providing the project justification with which to control the project;</a:t>
            </a:r>
          </a:p>
          <a:p>
            <a:pPr marL="914400" lvl="1" indent="-457200">
              <a:buFont typeface="Arial" panose="020B0604020202020204" pitchFamily="34" charset="0"/>
              <a:buChar char="•"/>
            </a:pPr>
            <a:r>
              <a:rPr lang="en-US" sz="2000" dirty="0"/>
              <a:t>evidence of testing and quality control;</a:t>
            </a:r>
          </a:p>
          <a:p>
            <a:pPr marL="914400" lvl="1" indent="-457200">
              <a:buFont typeface="Arial" panose="020B0604020202020204" pitchFamily="34" charset="0"/>
              <a:buChar char="•"/>
            </a:pPr>
            <a:r>
              <a:rPr lang="en-US" sz="2000" dirty="0"/>
              <a:t>documentation for the released product (ops manual, user documentation and training materials).</a:t>
            </a:r>
          </a:p>
          <a:p>
            <a:pPr marL="457200" indent="-457200">
              <a:buFont typeface="Arial" panose="020B0604020202020204" pitchFamily="34" charset="0"/>
              <a:buChar char="•"/>
            </a:pPr>
            <a:endParaRPr lang="en-US" sz="2000" dirty="0"/>
          </a:p>
        </p:txBody>
      </p:sp>
    </p:spTree>
    <p:extLst>
      <p:ext uri="{BB962C8B-B14F-4D97-AF65-F5344CB8AC3E}">
        <p14:creationId xmlns:p14="http://schemas.microsoft.com/office/powerpoint/2010/main" val="31004623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0" y="0"/>
            <a:ext cx="9144000" cy="12252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Lato Light" charset="0"/>
            </a:endParaRPr>
          </a:p>
        </p:txBody>
      </p:sp>
      <p:sp>
        <p:nvSpPr>
          <p:cNvPr id="11" name="TextBox 10"/>
          <p:cNvSpPr txBox="1"/>
          <p:nvPr/>
        </p:nvSpPr>
        <p:spPr>
          <a:xfrm>
            <a:off x="603088" y="264670"/>
            <a:ext cx="8065840" cy="646331"/>
          </a:xfrm>
          <a:prstGeom prst="rect">
            <a:avLst/>
          </a:prstGeom>
          <a:noFill/>
        </p:spPr>
        <p:txBody>
          <a:bodyPr wrap="square" rtlCol="0">
            <a:spAutoFit/>
          </a:bodyPr>
          <a:lstStyle/>
          <a:p>
            <a:pPr algn="ctr"/>
            <a:r>
              <a:rPr lang="en-US" sz="3600" b="1" dirty="0">
                <a:solidFill>
                  <a:schemeClr val="bg1"/>
                </a:solidFill>
                <a:latin typeface="Lato" charset="0"/>
                <a:ea typeface="Lato" charset="0"/>
                <a:cs typeface="Lato" charset="0"/>
              </a:rPr>
              <a:t>Which model?</a:t>
            </a:r>
          </a:p>
        </p:txBody>
      </p:sp>
      <p:sp>
        <p:nvSpPr>
          <p:cNvPr id="5" name="Rectangle 4">
            <a:extLst>
              <a:ext uri="{FF2B5EF4-FFF2-40B4-BE49-F238E27FC236}">
                <a16:creationId xmlns:a16="http://schemas.microsoft.com/office/drawing/2014/main" id="{2AF393C6-1414-6247-8304-3C5C2A41F6D2}"/>
              </a:ext>
            </a:extLst>
          </p:cNvPr>
          <p:cNvSpPr/>
          <p:nvPr/>
        </p:nvSpPr>
        <p:spPr>
          <a:xfrm>
            <a:off x="128016" y="1243065"/>
            <a:ext cx="9015984" cy="4093428"/>
          </a:xfrm>
          <a:prstGeom prst="rect">
            <a:avLst/>
          </a:prstGeom>
        </p:spPr>
        <p:txBody>
          <a:bodyPr wrap="square">
            <a:spAutoFit/>
          </a:bodyPr>
          <a:lstStyle/>
          <a:p>
            <a:pPr marL="457200" indent="-457200">
              <a:buFont typeface="Arial" panose="020B0604020202020204" pitchFamily="34" charset="0"/>
              <a:buChar char="•"/>
            </a:pPr>
            <a:r>
              <a:rPr lang="en-US" sz="2400" dirty="0"/>
              <a:t>A significant factor in these choices will be practical ones such as:</a:t>
            </a:r>
          </a:p>
          <a:p>
            <a:pPr marL="914400" lvl="1" indent="-457200">
              <a:buFont typeface="Arial" panose="020B0604020202020204" pitchFamily="34" charset="0"/>
              <a:buChar char="•"/>
            </a:pPr>
            <a:r>
              <a:rPr lang="en-US" sz="2400" dirty="0"/>
              <a:t>what modelling skills team members possess;</a:t>
            </a:r>
          </a:p>
          <a:p>
            <a:pPr marL="914400" lvl="1" indent="-457200">
              <a:buFont typeface="Arial" panose="020B0604020202020204" pitchFamily="34" charset="0"/>
              <a:buChar char="•"/>
            </a:pPr>
            <a:r>
              <a:rPr lang="en-US" sz="2400" dirty="0"/>
              <a:t>what tools, whether pen and paper, diagramming software or modelling software are available to the team;</a:t>
            </a:r>
          </a:p>
          <a:p>
            <a:pPr marL="914400" lvl="1" indent="-457200">
              <a:buFont typeface="Arial" panose="020B0604020202020204" pitchFamily="34" charset="0"/>
              <a:buChar char="•"/>
            </a:pPr>
            <a:r>
              <a:rPr lang="en-US" sz="2400" dirty="0"/>
              <a:t>what standards are adopted within the </a:t>
            </a:r>
            <a:r>
              <a:rPr lang="en-US" sz="2400" dirty="0" err="1"/>
              <a:t>organisation</a:t>
            </a:r>
            <a:r>
              <a:rPr lang="en-US" sz="2400" dirty="0"/>
              <a:t> or even industry.</a:t>
            </a:r>
          </a:p>
          <a:p>
            <a:pPr marL="914400" lvl="1" indent="-457200">
              <a:buFont typeface="Arial" panose="020B0604020202020204" pitchFamily="34" charset="0"/>
              <a:buChar char="•"/>
            </a:pPr>
            <a:endParaRPr lang="en-US" sz="2400" dirty="0"/>
          </a:p>
          <a:p>
            <a:pPr marL="457200" indent="-457200">
              <a:buFont typeface="Arial" panose="020B0604020202020204" pitchFamily="34" charset="0"/>
              <a:buChar char="•"/>
            </a:pPr>
            <a:r>
              <a:rPr lang="en-US" sz="2400" dirty="0"/>
              <a:t>Most important of all, before spending time and effort modelling each artefact:</a:t>
            </a:r>
          </a:p>
          <a:p>
            <a:pPr marL="914400" lvl="1" indent="-457200">
              <a:buFont typeface="Arial" panose="020B0604020202020204" pitchFamily="34" charset="0"/>
              <a:buChar char="•"/>
            </a:pPr>
            <a:r>
              <a:rPr lang="en-US" sz="4400" dirty="0">
                <a:solidFill>
                  <a:schemeClr val="accent6">
                    <a:lumMod val="75000"/>
                  </a:schemeClr>
                </a:solidFill>
              </a:rPr>
              <a:t>Is it or will it be useful?</a:t>
            </a:r>
            <a:endParaRPr lang="en-US" sz="2400" dirty="0">
              <a:solidFill>
                <a:schemeClr val="accent6">
                  <a:lumMod val="75000"/>
                </a:schemeClr>
              </a:solidFill>
            </a:endParaRPr>
          </a:p>
        </p:txBody>
      </p:sp>
    </p:spTree>
    <p:extLst>
      <p:ext uri="{BB962C8B-B14F-4D97-AF65-F5344CB8AC3E}">
        <p14:creationId xmlns:p14="http://schemas.microsoft.com/office/powerpoint/2010/main" val="5243903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4042</TotalTime>
  <Words>1628</Words>
  <Application>Microsoft Office PowerPoint</Application>
  <PresentationFormat>On-screen Show (4:3)</PresentationFormat>
  <Paragraphs>194</Paragraphs>
  <Slides>22</Slides>
  <Notes>21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vt:i4>
      </vt:variant>
    </vt:vector>
  </HeadingPairs>
  <TitlesOfParts>
    <vt:vector size="29" baseType="lpstr">
      <vt:lpstr>Lato Heavy</vt:lpstr>
      <vt:lpstr>Arial</vt:lpstr>
      <vt:lpstr>Calibri</vt:lpstr>
      <vt:lpstr>Lato</vt:lpstr>
      <vt:lpstr>Lato Light</vt:lpstr>
      <vt:lpstr>Poppins</vt:lpstr>
      <vt:lpstr>Office Theme</vt:lpstr>
      <vt:lpstr>PowerPoint Presentation</vt:lpstr>
      <vt:lpstr>Analisis Build or Buy Sistem Informasi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ITB</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IF4043 Sistem Informasi Lanjut</dc:title>
  <dc:creator>W G</dc:creator>
  <cp:lastModifiedBy>Dicky Prima Satya, S.T, M.T.</cp:lastModifiedBy>
  <cp:revision>74</cp:revision>
  <dcterms:created xsi:type="dcterms:W3CDTF">2016-08-24T04:55:45Z</dcterms:created>
  <dcterms:modified xsi:type="dcterms:W3CDTF">2023-10-24T02:16:57Z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38b525e5-f3da-4501-8f1e-526b6769fc56_Enabled">
    <vt:lpwstr>true</vt:lpwstr>
  </property>
  <property fmtid="{D5CDD505-2E9C-101B-9397-08002B2CF9AE}" pid="3" name="MSIP_Label_38b525e5-f3da-4501-8f1e-526b6769fc56_SetDate">
    <vt:lpwstr>2023-10-24T02:13:00Z</vt:lpwstr>
  </property>
  <property fmtid="{D5CDD505-2E9C-101B-9397-08002B2CF9AE}" pid="4" name="MSIP_Label_38b525e5-f3da-4501-8f1e-526b6769fc56_Method">
    <vt:lpwstr>Standard</vt:lpwstr>
  </property>
  <property fmtid="{D5CDD505-2E9C-101B-9397-08002B2CF9AE}" pid="5" name="MSIP_Label_38b525e5-f3da-4501-8f1e-526b6769fc56_Name">
    <vt:lpwstr>defa4170-0d19-0005-0004-bc88714345d2</vt:lpwstr>
  </property>
  <property fmtid="{D5CDD505-2E9C-101B-9397-08002B2CF9AE}" pid="6" name="MSIP_Label_38b525e5-f3da-4501-8f1e-526b6769fc56_SiteId">
    <vt:lpwstr>db6e1183-4c65-405c-82ce-7cd53fa6e9dc</vt:lpwstr>
  </property>
  <property fmtid="{D5CDD505-2E9C-101B-9397-08002B2CF9AE}" pid="7" name="MSIP_Label_38b525e5-f3da-4501-8f1e-526b6769fc56_ActionId">
    <vt:lpwstr>83b081bb-94f2-4b01-bfb6-7715b69aa551</vt:lpwstr>
  </property>
  <property fmtid="{D5CDD505-2E9C-101B-9397-08002B2CF9AE}" pid="8" name="MSIP_Label_38b525e5-f3da-4501-8f1e-526b6769fc56_ContentBits">
    <vt:lpwstr>0</vt:lpwstr>
  </property>
</Properties>
</file>