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79" r:id="rId2"/>
    <p:sldId id="307" r:id="rId3"/>
    <p:sldId id="318" r:id="rId4"/>
    <p:sldId id="323" r:id="rId5"/>
    <p:sldId id="324" r:id="rId6"/>
    <p:sldId id="325" r:id="rId7"/>
    <p:sldId id="319" r:id="rId8"/>
    <p:sldId id="326" r:id="rId9"/>
    <p:sldId id="320" r:id="rId10"/>
    <p:sldId id="327" r:id="rId11"/>
    <p:sldId id="328" r:id="rId12"/>
    <p:sldId id="321" r:id="rId13"/>
    <p:sldId id="322" r:id="rId14"/>
    <p:sldId id="329" r:id="rId15"/>
    <p:sldId id="33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79450" autoAdjust="0"/>
  </p:normalViewPr>
  <p:slideViewPr>
    <p:cSldViewPr snapToGrid="0" snapToObjects="1">
      <p:cViewPr varScale="1">
        <p:scale>
          <a:sx n="94" d="100"/>
          <a:sy n="94" d="100"/>
        </p:scale>
        <p:origin x="2264" y="184"/>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cky P. Satya" userId="7b1458c4df7e003a" providerId="LiveId" clId="{365C8551-5CC7-1247-BA1A-7E15E3C6967E}"/>
    <pc:docChg chg="modSld">
      <pc:chgData name="Dicky P. Satya" userId="7b1458c4df7e003a" providerId="LiveId" clId="{365C8551-5CC7-1247-BA1A-7E15E3C6967E}" dt="2025-04-23T02:24:23.521" v="5" actId="20577"/>
      <pc:docMkLst>
        <pc:docMk/>
      </pc:docMkLst>
      <pc:sldChg chg="modSp mod">
        <pc:chgData name="Dicky P. Satya" userId="7b1458c4df7e003a" providerId="LiveId" clId="{365C8551-5CC7-1247-BA1A-7E15E3C6967E}" dt="2025-04-23T02:24:23.521" v="5" actId="20577"/>
        <pc:sldMkLst>
          <pc:docMk/>
          <pc:sldMk cId="4065354264" sldId="279"/>
        </pc:sldMkLst>
        <pc:spChg chg="mod">
          <ac:chgData name="Dicky P. Satya" userId="7b1458c4df7e003a" providerId="LiveId" clId="{365C8551-5CC7-1247-BA1A-7E15E3C6967E}" dt="2025-04-23T02:24:23.521" v="5" actId="20577"/>
          <ac:spMkLst>
            <pc:docMk/>
            <pc:sldMk cId="4065354264" sldId="279"/>
            <ac:spMk id="12" creationId="{00000000-0000-0000-0000-000000000000}"/>
          </ac:spMkLst>
        </pc:spChg>
      </pc:sldChg>
    </pc:docChg>
  </pc:docChgLst>
  <pc:docChgLst>
    <pc:chgData name="Dicky Prima Satya, S.T, M.T." userId="c98a5452-b725-4dbc-8599-e4256e85a980" providerId="ADAL" clId="{9CBFB79D-EE49-4D14-AD7F-495597649036}"/>
    <pc:docChg chg="modSld">
      <pc:chgData name="Dicky Prima Satya, S.T, M.T." userId="c98a5452-b725-4dbc-8599-e4256e85a980" providerId="ADAL" clId="{9CBFB79D-EE49-4D14-AD7F-495597649036}" dt="2023-10-24T02:15:56.948" v="5" actId="20577"/>
      <pc:docMkLst>
        <pc:docMk/>
      </pc:docMkLst>
      <pc:sldChg chg="modSp mod">
        <pc:chgData name="Dicky Prima Satya, S.T, M.T." userId="c98a5452-b725-4dbc-8599-e4256e85a980" providerId="ADAL" clId="{9CBFB79D-EE49-4D14-AD7F-495597649036}" dt="2023-10-24T02:15:56.948" v="5" actId="20577"/>
        <pc:sldMkLst>
          <pc:docMk/>
          <pc:sldMk cId="4065354264"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C96555-1331-A948-B8C0-76C5C61AF710}" type="datetimeFigureOut">
              <a:t>4/23/25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2B5633-2346-D94D-BA9C-6A3E2BD83B6F}" type="slidenum">
              <a:t>‹#›</a:t>
            </a:fld>
            <a:endParaRPr lang="en-US"/>
          </a:p>
        </p:txBody>
      </p:sp>
    </p:spTree>
    <p:extLst>
      <p:ext uri="{BB962C8B-B14F-4D97-AF65-F5344CB8AC3E}">
        <p14:creationId xmlns:p14="http://schemas.microsoft.com/office/powerpoint/2010/main" val="1103348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ED8A9B0-80EF-A34D-B345-E2DEC5501E01}" type="slidenum">
              <a:rPr lang="en-US" smtClean="0"/>
              <a:t>1</a:t>
            </a:fld>
            <a:endParaRPr lang="en-US"/>
          </a:p>
        </p:txBody>
      </p:sp>
    </p:spTree>
    <p:extLst>
      <p:ext uri="{BB962C8B-B14F-4D97-AF65-F5344CB8AC3E}">
        <p14:creationId xmlns:p14="http://schemas.microsoft.com/office/powerpoint/2010/main" val="4016321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Commercial off the self (</a:t>
            </a:r>
            <a:r>
              <a:rPr lang="en-US" sz="1200" b="1" i="0" kern="1200" dirty="0">
                <a:solidFill>
                  <a:schemeClr val="tx1"/>
                </a:solidFill>
                <a:effectLst/>
                <a:latin typeface="+mn-lt"/>
                <a:ea typeface="+mn-ea"/>
                <a:cs typeface="+mn-cs"/>
              </a:rPr>
              <a:t>COTS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adalah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produk-produk</a:t>
            </a:r>
            <a:r>
              <a:rPr lang="en-US" sz="1200" b="0" i="0" kern="1200" dirty="0">
                <a:solidFill>
                  <a:schemeClr val="tx1"/>
                </a:solidFill>
                <a:effectLst/>
                <a:latin typeface="+mn-lt"/>
                <a:ea typeface="+mn-ea"/>
                <a:cs typeface="+mn-cs"/>
              </a:rPr>
              <a:t> yang </a:t>
            </a:r>
            <a:r>
              <a:rPr lang="en-US" sz="1200" b="0" i="0" kern="1200" dirty="0" err="1">
                <a:solidFill>
                  <a:schemeClr val="tx1"/>
                </a:solidFill>
                <a:effectLst/>
                <a:latin typeface="+mn-lt"/>
                <a:ea typeface="+mn-ea"/>
                <a:cs typeface="+mn-cs"/>
              </a:rPr>
              <a:t>berupa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suatu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paket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aplikasi</a:t>
            </a:r>
            <a:r>
              <a:rPr lang="en-US" sz="1200" b="0" i="0" kern="1200" dirty="0">
                <a:solidFill>
                  <a:schemeClr val="tx1"/>
                </a:solidFill>
                <a:effectLst/>
                <a:latin typeface="+mn-lt"/>
                <a:ea typeface="+mn-ea"/>
                <a:cs typeface="+mn-cs"/>
              </a:rPr>
              <a:t>, sub </a:t>
            </a:r>
            <a:r>
              <a:rPr lang="en-US" sz="1200" b="0" i="0" kern="1200" dirty="0" err="1">
                <a:solidFill>
                  <a:schemeClr val="tx1"/>
                </a:solidFill>
                <a:effectLst/>
                <a:latin typeface="+mn-lt"/>
                <a:ea typeface="+mn-ea"/>
                <a:cs typeface="+mn-cs"/>
              </a:rPr>
              <a:t>sistem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ataupun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modul-modul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perangkat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lunak</a:t>
            </a:r>
            <a:r>
              <a:rPr lang="en-US" sz="1200" b="0" i="0" kern="1200" dirty="0">
                <a:solidFill>
                  <a:schemeClr val="tx1"/>
                </a:solidFill>
                <a:effectLst/>
                <a:latin typeface="+mn-lt"/>
                <a:ea typeface="+mn-ea"/>
                <a:cs typeface="+mn-cs"/>
              </a:rPr>
              <a:t> yang </a:t>
            </a:r>
            <a:r>
              <a:rPr lang="en-US" sz="1200" b="0" i="0" kern="1200" dirty="0" err="1">
                <a:solidFill>
                  <a:schemeClr val="tx1"/>
                </a:solidFill>
                <a:effectLst/>
                <a:latin typeface="+mn-lt"/>
                <a:ea typeface="+mn-ea"/>
                <a:cs typeface="+mn-cs"/>
              </a:rPr>
              <a:t>telah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dirancang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sesuai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dengan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suatu</a:t>
            </a:r>
            <a:r>
              <a:rPr lang="en-US" sz="1200" b="0" i="0" kern="1200" dirty="0">
                <a:solidFill>
                  <a:schemeClr val="tx1"/>
                </a:solidFill>
                <a:effectLst/>
                <a:latin typeface="+mn-lt"/>
                <a:ea typeface="+mn-ea"/>
                <a:cs typeface="+mn-cs"/>
              </a:rPr>
              <a:t> standard proses </a:t>
            </a:r>
            <a:r>
              <a:rPr lang="en-US" sz="1200" b="0" i="0" kern="1200" dirty="0" err="1">
                <a:solidFill>
                  <a:schemeClr val="tx1"/>
                </a:solidFill>
                <a:effectLst/>
                <a:latin typeface="+mn-lt"/>
                <a:ea typeface="+mn-ea"/>
                <a:cs typeface="+mn-cs"/>
              </a:rPr>
              <a:t>bisnis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tertentu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tersedia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secara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luas</a:t>
            </a:r>
            <a:r>
              <a:rPr lang="en-US" sz="1200" b="0" i="0" kern="1200" dirty="0">
                <a:solidFill>
                  <a:schemeClr val="tx1"/>
                </a:solidFill>
                <a:effectLst/>
                <a:latin typeface="+mn-lt"/>
                <a:ea typeface="+mn-ea"/>
                <a:cs typeface="+mn-cs"/>
              </a:rPr>
              <a:t> di </a:t>
            </a:r>
            <a:r>
              <a:rPr lang="en-US" sz="1200" b="0" i="0" kern="1200" dirty="0" err="1">
                <a:solidFill>
                  <a:schemeClr val="tx1"/>
                </a:solidFill>
                <a:effectLst/>
                <a:latin typeface="+mn-lt"/>
                <a:ea typeface="+mn-ea"/>
                <a:cs typeface="+mn-cs"/>
              </a:rPr>
              <a:t>pasar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untuk</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dapat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dipergunakan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dengan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modifikasi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seminimal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mungkin</a:t>
            </a:r>
            <a:r>
              <a:rPr lang="en-US" sz="1200" b="0" i="0" kern="1200" dirty="0">
                <a:solidFill>
                  <a:schemeClr val="tx1"/>
                </a:solidFill>
                <a:effectLst/>
                <a:latin typeface="+mn-lt"/>
                <a:ea typeface="+mn-ea"/>
                <a:cs typeface="+mn-cs"/>
              </a:rPr>
              <a:t>.</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a:t>
            </a:fld>
            <a:endParaRPr lang="en-US"/>
          </a:p>
        </p:txBody>
      </p:sp>
    </p:spTree>
    <p:extLst>
      <p:ext uri="{BB962C8B-B14F-4D97-AF65-F5344CB8AC3E}">
        <p14:creationId xmlns:p14="http://schemas.microsoft.com/office/powerpoint/2010/main" val="2038892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1" dirty="0"/>
          </a:p>
        </p:txBody>
      </p:sp>
      <p:sp>
        <p:nvSpPr>
          <p:cNvPr id="4" name="Slide Number Placeholder 3"/>
          <p:cNvSpPr>
            <a:spLocks noGrp="1"/>
          </p:cNvSpPr>
          <p:nvPr>
            <p:ph type="sldNum" sz="quarter" idx="10"/>
          </p:nvPr>
        </p:nvSpPr>
        <p:spPr/>
        <p:txBody>
          <a:bodyPr/>
          <a:lstStyle/>
          <a:p>
            <a:fld id="{0ED8A9B0-80EF-A34D-B345-E2DEC5501E01}" type="slidenum">
              <a:rPr lang="en-US" smtClean="0"/>
              <a:t>3</a:t>
            </a:fld>
            <a:endParaRPr lang="en-US"/>
          </a:p>
        </p:txBody>
      </p:sp>
    </p:spTree>
    <p:extLst>
      <p:ext uri="{BB962C8B-B14F-4D97-AF65-F5344CB8AC3E}">
        <p14:creationId xmlns:p14="http://schemas.microsoft.com/office/powerpoint/2010/main" val="3724762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1" dirty="0"/>
          </a:p>
        </p:txBody>
      </p:sp>
      <p:sp>
        <p:nvSpPr>
          <p:cNvPr id="4" name="Slide Number Placeholder 3"/>
          <p:cNvSpPr>
            <a:spLocks noGrp="1"/>
          </p:cNvSpPr>
          <p:nvPr>
            <p:ph type="sldNum" sz="quarter" idx="10"/>
          </p:nvPr>
        </p:nvSpPr>
        <p:spPr/>
        <p:txBody>
          <a:bodyPr/>
          <a:lstStyle/>
          <a:p>
            <a:fld id="{0ED8A9B0-80EF-A34D-B345-E2DEC5501E01}" type="slidenum">
              <a:rPr lang="en-US" smtClean="0"/>
              <a:t>4</a:t>
            </a:fld>
            <a:endParaRPr lang="en-US"/>
          </a:p>
        </p:txBody>
      </p:sp>
    </p:spTree>
    <p:extLst>
      <p:ext uri="{BB962C8B-B14F-4D97-AF65-F5344CB8AC3E}">
        <p14:creationId xmlns:p14="http://schemas.microsoft.com/office/powerpoint/2010/main" val="3448474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1" dirty="0"/>
          </a:p>
        </p:txBody>
      </p:sp>
      <p:sp>
        <p:nvSpPr>
          <p:cNvPr id="4" name="Slide Number Placeholder 3"/>
          <p:cNvSpPr>
            <a:spLocks noGrp="1"/>
          </p:cNvSpPr>
          <p:nvPr>
            <p:ph type="sldNum" sz="quarter" idx="10"/>
          </p:nvPr>
        </p:nvSpPr>
        <p:spPr/>
        <p:txBody>
          <a:bodyPr/>
          <a:lstStyle/>
          <a:p>
            <a:fld id="{0ED8A9B0-80EF-A34D-B345-E2DEC5501E01}" type="slidenum">
              <a:rPr lang="en-US" smtClean="0"/>
              <a:t>5</a:t>
            </a:fld>
            <a:endParaRPr lang="en-US"/>
          </a:p>
        </p:txBody>
      </p:sp>
    </p:spTree>
    <p:extLst>
      <p:ext uri="{BB962C8B-B14F-4D97-AF65-F5344CB8AC3E}">
        <p14:creationId xmlns:p14="http://schemas.microsoft.com/office/powerpoint/2010/main" val="4285209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System Application and Product in Data Processing (</a:t>
            </a:r>
            <a:r>
              <a:rPr lang="en-US" sz="1200" b="1" i="0" kern="1200" dirty="0">
                <a:solidFill>
                  <a:schemeClr val="tx1"/>
                </a:solidFill>
                <a:effectLst/>
                <a:latin typeface="+mn-lt"/>
                <a:ea typeface="+mn-ea"/>
                <a:cs typeface="+mn-cs"/>
              </a:rPr>
              <a:t>SAP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adalah</a:t>
            </a:r>
            <a:r>
              <a:rPr lang="en-US" sz="1200" b="0" i="0" kern="1200" dirty="0">
                <a:solidFill>
                  <a:schemeClr val="tx1"/>
                </a:solidFill>
                <a:effectLst/>
                <a:latin typeface="+mn-lt"/>
                <a:ea typeface="+mn-ea"/>
                <a:cs typeface="+mn-cs"/>
              </a:rPr>
              <a:t> software yang </a:t>
            </a:r>
            <a:r>
              <a:rPr lang="en-US" sz="1200" b="0" i="0" kern="1200" dirty="0" err="1">
                <a:solidFill>
                  <a:schemeClr val="tx1"/>
                </a:solidFill>
                <a:effectLst/>
                <a:latin typeface="+mn-lt"/>
                <a:ea typeface="+mn-ea"/>
                <a:cs typeface="+mn-cs"/>
              </a:rPr>
              <a:t>berbasis</a:t>
            </a:r>
            <a:r>
              <a:rPr lang="en-US" sz="1200" b="0" i="0" kern="1200" dirty="0">
                <a:solidFill>
                  <a:schemeClr val="tx1"/>
                </a:solidFill>
                <a:effectLst/>
                <a:latin typeface="+mn-lt"/>
                <a:ea typeface="+mn-ea"/>
                <a:cs typeface="+mn-cs"/>
              </a:rPr>
              <a:t> ERP (Enterprise Resources Planning) yang </a:t>
            </a:r>
            <a:r>
              <a:rPr lang="en-US" sz="1200" b="0" i="0" kern="1200" dirty="0" err="1">
                <a:solidFill>
                  <a:schemeClr val="tx1"/>
                </a:solidFill>
                <a:effectLst/>
                <a:latin typeface="+mn-lt"/>
                <a:ea typeface="+mn-ea"/>
                <a:cs typeface="+mn-cs"/>
              </a:rPr>
              <a:t>digunakan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sebagai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alat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untuk</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membantu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manajemen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perusahaan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perencanaan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hingga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melakukan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operasionalnya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secara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lebih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efektif</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efisien</a:t>
            </a:r>
            <a:r>
              <a:rPr lang="en-US" sz="1200" b="0" i="0" kern="1200" dirty="0">
                <a:solidFill>
                  <a:schemeClr val="tx1"/>
                </a:solidFill>
                <a:effectLst/>
                <a:latin typeface="+mn-lt"/>
                <a:ea typeface="+mn-ea"/>
                <a:cs typeface="+mn-cs"/>
              </a:rPr>
              <a:t>.</a:t>
            </a:r>
            <a:endParaRPr lang="en-US" sz="2400" b="1" dirty="0"/>
          </a:p>
        </p:txBody>
      </p:sp>
      <p:sp>
        <p:nvSpPr>
          <p:cNvPr id="4" name="Slide Number Placeholder 3"/>
          <p:cNvSpPr>
            <a:spLocks noGrp="1"/>
          </p:cNvSpPr>
          <p:nvPr>
            <p:ph type="sldNum" sz="quarter" idx="10"/>
          </p:nvPr>
        </p:nvSpPr>
        <p:spPr/>
        <p:txBody>
          <a:bodyPr/>
          <a:lstStyle/>
          <a:p>
            <a:fld id="{0ED8A9B0-80EF-A34D-B345-E2DEC5501E01}" type="slidenum">
              <a:rPr lang="en-US" smtClean="0"/>
              <a:t>6</a:t>
            </a:fld>
            <a:endParaRPr lang="en-US"/>
          </a:p>
        </p:txBody>
      </p:sp>
    </p:spTree>
    <p:extLst>
      <p:ext uri="{BB962C8B-B14F-4D97-AF65-F5344CB8AC3E}">
        <p14:creationId xmlns:p14="http://schemas.microsoft.com/office/powerpoint/2010/main" val="2138311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1" dirty="0"/>
          </a:p>
        </p:txBody>
      </p:sp>
      <p:sp>
        <p:nvSpPr>
          <p:cNvPr id="4" name="Slide Number Placeholder 3"/>
          <p:cNvSpPr>
            <a:spLocks noGrp="1"/>
          </p:cNvSpPr>
          <p:nvPr>
            <p:ph type="sldNum" sz="quarter" idx="10"/>
          </p:nvPr>
        </p:nvSpPr>
        <p:spPr/>
        <p:txBody>
          <a:bodyPr/>
          <a:lstStyle/>
          <a:p>
            <a:fld id="{0ED8A9B0-80EF-A34D-B345-E2DEC5501E01}" type="slidenum">
              <a:rPr lang="en-US" smtClean="0"/>
              <a:t>7</a:t>
            </a:fld>
            <a:endParaRPr lang="en-US"/>
          </a:p>
        </p:txBody>
      </p:sp>
    </p:spTree>
    <p:extLst>
      <p:ext uri="{BB962C8B-B14F-4D97-AF65-F5344CB8AC3E}">
        <p14:creationId xmlns:p14="http://schemas.microsoft.com/office/powerpoint/2010/main" val="2777161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i="0" kern="1200" dirty="0">
                <a:solidFill>
                  <a:schemeClr val="tx1"/>
                </a:solidFill>
                <a:effectLst/>
                <a:latin typeface="+mn-lt"/>
                <a:ea typeface="+mn-ea"/>
                <a:cs typeface="+mn-cs"/>
              </a:rPr>
              <a:t>Figure 6.3 shows three independent components: Logistics, Accounts and</a:t>
            </a:r>
            <a:r>
              <a:rPr lang="en-US" sz="1200" i="0" kern="1200" baseline="0" dirty="0">
                <a:solidFill>
                  <a:schemeClr val="tx1"/>
                </a:solidFill>
                <a:effectLst/>
                <a:latin typeface="+mn-lt"/>
                <a:ea typeface="+mn-ea"/>
                <a:cs typeface="+mn-cs"/>
              </a:rPr>
              <a:t> </a:t>
            </a:r>
            <a:r>
              <a:rPr lang="en-US" sz="1200" i="0" kern="1200" dirty="0" err="1">
                <a:solidFill>
                  <a:schemeClr val="tx1"/>
                </a:solidFill>
                <a:effectLst/>
                <a:latin typeface="+mn-lt"/>
                <a:ea typeface="+mn-ea"/>
                <a:cs typeface="+mn-cs"/>
              </a:rPr>
              <a:t>OrderManagement</a:t>
            </a:r>
            <a:r>
              <a:rPr lang="en-US" sz="1200" i="0" kern="1200" dirty="0">
                <a:solidFill>
                  <a:schemeClr val="tx1"/>
                </a:solidFill>
                <a:effectLst/>
                <a:latin typeface="+mn-lt"/>
                <a:ea typeface="+mn-ea"/>
                <a:cs typeface="+mn-cs"/>
              </a:rPr>
              <a:t>. The Logistics component exposes an interface called </a:t>
            </a:r>
            <a:r>
              <a:rPr lang="en-US" sz="1200" i="0" kern="1200" dirty="0" err="1">
                <a:solidFill>
                  <a:schemeClr val="tx1"/>
                </a:solidFill>
                <a:effectLst/>
                <a:latin typeface="+mn-lt"/>
                <a:ea typeface="+mn-ea"/>
                <a:cs typeface="+mn-cs"/>
              </a:rPr>
              <a:t>iLogistics</a:t>
            </a:r>
            <a:r>
              <a:rPr lang="en-US" sz="1200" i="0" kern="1200" dirty="0">
                <a:solidFill>
                  <a:schemeClr val="tx1"/>
                </a:solidFill>
                <a:effectLst/>
                <a:latin typeface="+mn-lt"/>
                <a:ea typeface="+mn-ea"/>
                <a:cs typeface="+mn-cs"/>
              </a:rPr>
              <a:t>,</a:t>
            </a:r>
            <a:br>
              <a:rPr lang="en-US" sz="1200" i="0" kern="1200" dirty="0">
                <a:solidFill>
                  <a:schemeClr val="tx1"/>
                </a:solidFill>
                <a:effectLst/>
                <a:latin typeface="+mn-lt"/>
                <a:ea typeface="+mn-ea"/>
                <a:cs typeface="+mn-cs"/>
              </a:rPr>
            </a:br>
            <a:r>
              <a:rPr lang="en-US" sz="1200" i="0" kern="1200" dirty="0">
                <a:solidFill>
                  <a:schemeClr val="tx1"/>
                </a:solidFill>
                <a:effectLst/>
                <a:latin typeface="+mn-lt"/>
                <a:ea typeface="+mn-ea"/>
                <a:cs typeface="+mn-cs"/>
              </a:rPr>
              <a:t>that can be used by other components to consume the services that it provides.</a:t>
            </a:r>
            <a:r>
              <a:rPr lang="en-US" sz="1200" i="0" kern="1200" baseline="0" dirty="0">
                <a:solidFill>
                  <a:schemeClr val="tx1"/>
                </a:solidFill>
                <a:effectLst/>
                <a:latin typeface="+mn-lt"/>
                <a:ea typeface="+mn-ea"/>
                <a:cs typeface="+mn-cs"/>
              </a:rPr>
              <a:t> </a:t>
            </a:r>
            <a:r>
              <a:rPr lang="en-US" sz="1200" i="0" kern="1200" dirty="0">
                <a:solidFill>
                  <a:schemeClr val="tx1"/>
                </a:solidFill>
                <a:effectLst/>
                <a:latin typeface="+mn-lt"/>
                <a:ea typeface="+mn-ea"/>
                <a:cs typeface="+mn-cs"/>
              </a:rPr>
              <a:t>Similarly, the Accounts component exposes an interface called </a:t>
            </a:r>
            <a:r>
              <a:rPr lang="en-US" sz="1200" i="0" kern="1200" dirty="0" err="1">
                <a:solidFill>
                  <a:schemeClr val="tx1"/>
                </a:solidFill>
                <a:effectLst/>
                <a:latin typeface="+mn-lt"/>
                <a:ea typeface="+mn-ea"/>
                <a:cs typeface="+mn-cs"/>
              </a:rPr>
              <a:t>iAccounts</a:t>
            </a:r>
            <a:r>
              <a:rPr lang="en-US" sz="1200" i="0" kern="1200" dirty="0">
                <a:solidFill>
                  <a:schemeClr val="tx1"/>
                </a:solidFill>
                <a:effectLst/>
                <a:latin typeface="+mn-lt"/>
                <a:ea typeface="+mn-ea"/>
                <a:cs typeface="+mn-cs"/>
              </a:rPr>
              <a:t> and the</a:t>
            </a:r>
            <a:br>
              <a:rPr lang="en-US" sz="1200" i="0" kern="1200" dirty="0">
                <a:solidFill>
                  <a:schemeClr val="tx1"/>
                </a:solidFill>
                <a:effectLst/>
                <a:latin typeface="+mn-lt"/>
                <a:ea typeface="+mn-ea"/>
                <a:cs typeface="+mn-cs"/>
              </a:rPr>
            </a:br>
            <a:r>
              <a:rPr lang="en-US" sz="1200" i="0" kern="1200" dirty="0" err="1">
                <a:solidFill>
                  <a:schemeClr val="tx1"/>
                </a:solidFill>
                <a:effectLst/>
                <a:latin typeface="+mn-lt"/>
                <a:ea typeface="+mn-ea"/>
                <a:cs typeface="+mn-cs"/>
              </a:rPr>
              <a:t>OrderManagement</a:t>
            </a:r>
            <a:r>
              <a:rPr lang="en-US" sz="1200" i="0" kern="1200" dirty="0">
                <a:solidFill>
                  <a:schemeClr val="tx1"/>
                </a:solidFill>
                <a:effectLst/>
                <a:latin typeface="+mn-lt"/>
                <a:ea typeface="+mn-ea"/>
                <a:cs typeface="+mn-cs"/>
              </a:rPr>
              <a:t> component exposes an interface called </a:t>
            </a:r>
            <a:r>
              <a:rPr lang="en-US" sz="1200" i="0" kern="1200" dirty="0" err="1">
                <a:solidFill>
                  <a:schemeClr val="tx1"/>
                </a:solidFill>
                <a:effectLst/>
                <a:latin typeface="+mn-lt"/>
                <a:ea typeface="+mn-ea"/>
                <a:cs typeface="+mn-cs"/>
              </a:rPr>
              <a:t>iOrders</a:t>
            </a:r>
            <a:r>
              <a:rPr lang="en-US" sz="1200" i="0" kern="1200" dirty="0">
                <a:solidFill>
                  <a:schemeClr val="tx1"/>
                </a:solidFill>
                <a:effectLst/>
                <a:latin typeface="+mn-lt"/>
                <a:ea typeface="+mn-ea"/>
                <a:cs typeface="+mn-cs"/>
              </a:rPr>
              <a:t>. Furthermore,</a:t>
            </a:r>
            <a:r>
              <a:rPr lang="en-US" sz="1200" i="0" kern="1200" baseline="0" dirty="0">
                <a:solidFill>
                  <a:schemeClr val="tx1"/>
                </a:solidFill>
                <a:effectLst/>
                <a:latin typeface="+mn-lt"/>
                <a:ea typeface="+mn-ea"/>
                <a:cs typeface="+mn-cs"/>
              </a:rPr>
              <a:t> </a:t>
            </a:r>
            <a:r>
              <a:rPr lang="en-US" sz="1200" i="0" kern="1200" dirty="0">
                <a:solidFill>
                  <a:schemeClr val="tx1"/>
                </a:solidFill>
                <a:effectLst/>
                <a:latin typeface="+mn-lt"/>
                <a:ea typeface="+mn-ea"/>
                <a:cs typeface="+mn-cs"/>
              </a:rPr>
              <a:t>Figure 6.3 shows that the Logistics and Accounts components are both using services</a:t>
            </a:r>
            <a:br>
              <a:rPr lang="en-US" sz="1200" i="0" kern="1200" dirty="0">
                <a:solidFill>
                  <a:schemeClr val="tx1"/>
                </a:solidFill>
                <a:effectLst/>
                <a:latin typeface="+mn-lt"/>
                <a:ea typeface="+mn-ea"/>
                <a:cs typeface="+mn-cs"/>
              </a:rPr>
            </a:br>
            <a:r>
              <a:rPr lang="en-US" sz="1200" i="0" kern="1200" dirty="0">
                <a:solidFill>
                  <a:schemeClr val="tx1"/>
                </a:solidFill>
                <a:effectLst/>
                <a:latin typeface="+mn-lt"/>
                <a:ea typeface="+mn-ea"/>
                <a:cs typeface="+mn-cs"/>
              </a:rPr>
              <a:t>provided by the </a:t>
            </a:r>
            <a:r>
              <a:rPr lang="en-US" sz="1200" i="0" kern="1200" dirty="0" err="1">
                <a:solidFill>
                  <a:schemeClr val="tx1"/>
                </a:solidFill>
                <a:effectLst/>
                <a:latin typeface="+mn-lt"/>
                <a:ea typeface="+mn-ea"/>
                <a:cs typeface="+mn-cs"/>
              </a:rPr>
              <a:t>OrderManagement</a:t>
            </a:r>
            <a:r>
              <a:rPr lang="en-US" sz="1200" i="0" kern="1200" dirty="0">
                <a:solidFill>
                  <a:schemeClr val="tx1"/>
                </a:solidFill>
                <a:effectLst/>
                <a:latin typeface="+mn-lt"/>
                <a:ea typeface="+mn-ea"/>
                <a:cs typeface="+mn-cs"/>
              </a:rPr>
              <a:t> component, by virtue of the fact that they have</a:t>
            </a:r>
            <a:r>
              <a:rPr lang="en-US" sz="1200" i="0" kern="1200" baseline="0" dirty="0">
                <a:solidFill>
                  <a:schemeClr val="tx1"/>
                </a:solidFill>
                <a:effectLst/>
                <a:latin typeface="+mn-lt"/>
                <a:ea typeface="+mn-ea"/>
                <a:cs typeface="+mn-cs"/>
              </a:rPr>
              <a:t> </a:t>
            </a:r>
            <a:r>
              <a:rPr lang="en-US" sz="1200" i="0" kern="1200" dirty="0">
                <a:solidFill>
                  <a:schemeClr val="tx1"/>
                </a:solidFill>
                <a:effectLst/>
                <a:latin typeface="+mn-lt"/>
                <a:ea typeface="+mn-ea"/>
                <a:cs typeface="+mn-cs"/>
              </a:rPr>
              <a:t>dependences on the </a:t>
            </a:r>
            <a:r>
              <a:rPr lang="en-US" sz="1200" i="0" kern="1200" dirty="0" err="1">
                <a:solidFill>
                  <a:schemeClr val="tx1"/>
                </a:solidFill>
                <a:effectLst/>
                <a:latin typeface="+mn-lt"/>
                <a:ea typeface="+mn-ea"/>
                <a:cs typeface="+mn-cs"/>
              </a:rPr>
              <a:t>iOrders</a:t>
            </a:r>
            <a:r>
              <a:rPr lang="en-US" sz="1200" i="0" kern="1200" dirty="0">
                <a:solidFill>
                  <a:schemeClr val="tx1"/>
                </a:solidFill>
                <a:effectLst/>
                <a:latin typeface="+mn-lt"/>
                <a:ea typeface="+mn-ea"/>
                <a:cs typeface="+mn-cs"/>
              </a:rPr>
              <a:t> interface (shown as dashed arrows).</a:t>
            </a:r>
            <a:br>
              <a:rPr lang="en-US" sz="1200" i="0" kern="1200" dirty="0">
                <a:solidFill>
                  <a:schemeClr val="tx1"/>
                </a:solidFill>
                <a:effectLst/>
                <a:latin typeface="+mn-lt"/>
                <a:ea typeface="+mn-ea"/>
                <a:cs typeface="+mn-cs"/>
              </a:rPr>
            </a:b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8</a:t>
            </a:fld>
            <a:endParaRPr lang="en-US"/>
          </a:p>
        </p:txBody>
      </p:sp>
    </p:spTree>
    <p:extLst>
      <p:ext uri="{BB962C8B-B14F-4D97-AF65-F5344CB8AC3E}">
        <p14:creationId xmlns:p14="http://schemas.microsoft.com/office/powerpoint/2010/main" val="2901276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1" dirty="0"/>
          </a:p>
        </p:txBody>
      </p:sp>
      <p:sp>
        <p:nvSpPr>
          <p:cNvPr id="4" name="Slide Number Placeholder 3"/>
          <p:cNvSpPr>
            <a:spLocks noGrp="1"/>
          </p:cNvSpPr>
          <p:nvPr>
            <p:ph type="sldNum" sz="quarter" idx="10"/>
          </p:nvPr>
        </p:nvSpPr>
        <p:spPr/>
        <p:txBody>
          <a:bodyPr/>
          <a:lstStyle/>
          <a:p>
            <a:fld id="{0ED8A9B0-80EF-A34D-B345-E2DEC5501E01}" type="slidenum">
              <a:rPr lang="en-US" smtClean="0"/>
              <a:t>9</a:t>
            </a:fld>
            <a:endParaRPr lang="en-US"/>
          </a:p>
        </p:txBody>
      </p:sp>
    </p:spTree>
    <p:extLst>
      <p:ext uri="{BB962C8B-B14F-4D97-AF65-F5344CB8AC3E}">
        <p14:creationId xmlns:p14="http://schemas.microsoft.com/office/powerpoint/2010/main" val="2238779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2400" dirty="0"/>
              <a:t>The steps are already known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10</a:t>
            </a:fld>
            <a:endParaRPr lang="en-US"/>
          </a:p>
        </p:txBody>
      </p:sp>
    </p:spTree>
    <p:extLst>
      <p:ext uri="{BB962C8B-B14F-4D97-AF65-F5344CB8AC3E}">
        <p14:creationId xmlns:p14="http://schemas.microsoft.com/office/powerpoint/2010/main" val="1314069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11</a:t>
            </a:fld>
            <a:endParaRPr lang="en-US"/>
          </a:p>
        </p:txBody>
      </p:sp>
    </p:spTree>
    <p:extLst>
      <p:ext uri="{BB962C8B-B14F-4D97-AF65-F5344CB8AC3E}">
        <p14:creationId xmlns:p14="http://schemas.microsoft.com/office/powerpoint/2010/main" val="16799509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1" dirty="0"/>
          </a:p>
        </p:txBody>
      </p:sp>
      <p:sp>
        <p:nvSpPr>
          <p:cNvPr id="4" name="Slide Number Placeholder 3"/>
          <p:cNvSpPr>
            <a:spLocks noGrp="1"/>
          </p:cNvSpPr>
          <p:nvPr>
            <p:ph type="sldNum" sz="quarter" idx="10"/>
          </p:nvPr>
        </p:nvSpPr>
        <p:spPr/>
        <p:txBody>
          <a:bodyPr/>
          <a:lstStyle/>
          <a:p>
            <a:fld id="{0ED8A9B0-80EF-A34D-B345-E2DEC5501E01}" type="slidenum">
              <a:rPr lang="en-US" smtClean="0"/>
              <a:t>12</a:t>
            </a:fld>
            <a:endParaRPr lang="en-US"/>
          </a:p>
        </p:txBody>
      </p:sp>
    </p:spTree>
    <p:extLst>
      <p:ext uri="{BB962C8B-B14F-4D97-AF65-F5344CB8AC3E}">
        <p14:creationId xmlns:p14="http://schemas.microsoft.com/office/powerpoint/2010/main" val="24470858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1" dirty="0"/>
          </a:p>
        </p:txBody>
      </p:sp>
      <p:sp>
        <p:nvSpPr>
          <p:cNvPr id="4" name="Slide Number Placeholder 3"/>
          <p:cNvSpPr>
            <a:spLocks noGrp="1"/>
          </p:cNvSpPr>
          <p:nvPr>
            <p:ph type="sldNum" sz="quarter" idx="10"/>
          </p:nvPr>
        </p:nvSpPr>
        <p:spPr/>
        <p:txBody>
          <a:bodyPr/>
          <a:lstStyle/>
          <a:p>
            <a:fld id="{0ED8A9B0-80EF-A34D-B345-E2DEC5501E01}" type="slidenum">
              <a:rPr lang="en-US" smtClean="0"/>
              <a:t>13</a:t>
            </a:fld>
            <a:endParaRPr lang="en-US"/>
          </a:p>
        </p:txBody>
      </p:sp>
    </p:spTree>
    <p:extLst>
      <p:ext uri="{BB962C8B-B14F-4D97-AF65-F5344CB8AC3E}">
        <p14:creationId xmlns:p14="http://schemas.microsoft.com/office/powerpoint/2010/main" val="18612180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1" dirty="0"/>
          </a:p>
        </p:txBody>
      </p:sp>
      <p:sp>
        <p:nvSpPr>
          <p:cNvPr id="4" name="Slide Number Placeholder 3"/>
          <p:cNvSpPr>
            <a:spLocks noGrp="1"/>
          </p:cNvSpPr>
          <p:nvPr>
            <p:ph type="sldNum" sz="quarter" idx="10"/>
          </p:nvPr>
        </p:nvSpPr>
        <p:spPr/>
        <p:txBody>
          <a:bodyPr/>
          <a:lstStyle/>
          <a:p>
            <a:fld id="{0ED8A9B0-80EF-A34D-B345-E2DEC5501E01}" type="slidenum">
              <a:rPr lang="en-US" smtClean="0"/>
              <a:t>14</a:t>
            </a:fld>
            <a:endParaRPr lang="en-US"/>
          </a:p>
        </p:txBody>
      </p:sp>
    </p:spTree>
    <p:extLst>
      <p:ext uri="{BB962C8B-B14F-4D97-AF65-F5344CB8AC3E}">
        <p14:creationId xmlns:p14="http://schemas.microsoft.com/office/powerpoint/2010/main" val="269675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i="0" kern="1200" dirty="0">
                <a:solidFill>
                  <a:schemeClr val="tx1"/>
                </a:solidFill>
                <a:effectLst/>
                <a:latin typeface="+mn-lt"/>
                <a:ea typeface="+mn-ea"/>
                <a:cs typeface="+mn-cs"/>
              </a:rPr>
              <a:t>The start point is an abstract computer-independent model (CIM). This is essentially</a:t>
            </a:r>
            <a:r>
              <a:rPr lang="en-US" sz="1200" i="0" kern="1200" baseline="0" dirty="0">
                <a:solidFill>
                  <a:schemeClr val="tx1"/>
                </a:solidFill>
                <a:effectLst/>
                <a:latin typeface="+mn-lt"/>
                <a:ea typeface="+mn-ea"/>
                <a:cs typeface="+mn-cs"/>
              </a:rPr>
              <a:t> </a:t>
            </a:r>
            <a:r>
              <a:rPr lang="en-US" sz="1200" i="0" kern="1200" dirty="0">
                <a:solidFill>
                  <a:schemeClr val="tx1"/>
                </a:solidFill>
                <a:effectLst/>
                <a:latin typeface="+mn-lt"/>
                <a:ea typeface="+mn-ea"/>
                <a:cs typeface="+mn-cs"/>
              </a:rPr>
              <a:t>a conceptual model of a business domain that captures the key requirements of a</a:t>
            </a:r>
            <a:br>
              <a:rPr lang="en-US" sz="1200" i="0" kern="1200" dirty="0">
                <a:solidFill>
                  <a:schemeClr val="tx1"/>
                </a:solidFill>
                <a:effectLst/>
                <a:latin typeface="+mn-lt"/>
                <a:ea typeface="+mn-ea"/>
                <a:cs typeface="+mn-cs"/>
              </a:rPr>
            </a:br>
            <a:r>
              <a:rPr lang="en-US" sz="1200" i="0" kern="1200" dirty="0">
                <a:solidFill>
                  <a:schemeClr val="tx1"/>
                </a:solidFill>
                <a:effectLst/>
                <a:latin typeface="+mn-lt"/>
                <a:ea typeface="+mn-ea"/>
                <a:cs typeface="+mn-cs"/>
              </a:rPr>
              <a:t>new computer system. The CIM is then used as a basis for developing a platform independent model (PIM). The PIM is based on the main analysis models expressed</a:t>
            </a:r>
            <a:r>
              <a:rPr lang="en-US" sz="1200" i="0" kern="1200" baseline="0" dirty="0">
                <a:solidFill>
                  <a:schemeClr val="tx1"/>
                </a:solidFill>
                <a:effectLst/>
                <a:latin typeface="+mn-lt"/>
                <a:ea typeface="+mn-ea"/>
                <a:cs typeface="+mn-cs"/>
              </a:rPr>
              <a:t> </a:t>
            </a:r>
            <a:r>
              <a:rPr lang="en-US" sz="1200" i="0" kern="1200" dirty="0">
                <a:solidFill>
                  <a:schemeClr val="tx1"/>
                </a:solidFill>
                <a:effectLst/>
                <a:latin typeface="+mn-lt"/>
                <a:ea typeface="+mn-ea"/>
                <a:cs typeface="+mn-cs"/>
              </a:rPr>
              <a:t>using UML notation and represents the business functionality and </a:t>
            </a:r>
            <a:r>
              <a:rPr lang="en-US" sz="1200" i="0" kern="1200" dirty="0" err="1">
                <a:solidFill>
                  <a:schemeClr val="tx1"/>
                </a:solidFill>
                <a:effectLst/>
                <a:latin typeface="+mn-lt"/>
                <a:ea typeface="+mn-ea"/>
                <a:cs typeface="+mn-cs"/>
              </a:rPr>
              <a:t>behaviour</a:t>
            </a:r>
            <a:r>
              <a:rPr lang="en-US" sz="1200" i="0" kern="1200" dirty="0">
                <a:solidFill>
                  <a:schemeClr val="tx1"/>
                </a:solidFill>
                <a:effectLst/>
                <a:latin typeface="+mn-lt"/>
                <a:ea typeface="+mn-ea"/>
                <a:cs typeface="+mn-cs"/>
              </a:rPr>
              <a:t> without</a:t>
            </a:r>
            <a:r>
              <a:rPr lang="en-US" sz="1200" i="0" kern="1200" baseline="0" dirty="0">
                <a:solidFill>
                  <a:schemeClr val="tx1"/>
                </a:solidFill>
                <a:effectLst/>
                <a:latin typeface="+mn-lt"/>
                <a:ea typeface="+mn-ea"/>
                <a:cs typeface="+mn-cs"/>
              </a:rPr>
              <a:t> </a:t>
            </a:r>
            <a:r>
              <a:rPr lang="en-US" sz="1200" i="0" kern="1200" dirty="0">
                <a:solidFill>
                  <a:schemeClr val="tx1"/>
                </a:solidFill>
                <a:effectLst/>
                <a:latin typeface="+mn-lt"/>
                <a:ea typeface="+mn-ea"/>
                <a:cs typeface="+mn-cs"/>
              </a:rPr>
              <a:t>the constraints of technology. The PIM is then converted into a platform-specific</a:t>
            </a:r>
            <a:br>
              <a:rPr lang="en-US" sz="1200" i="0" kern="1200" dirty="0">
                <a:solidFill>
                  <a:schemeClr val="tx1"/>
                </a:solidFill>
                <a:effectLst/>
                <a:latin typeface="+mn-lt"/>
                <a:ea typeface="+mn-ea"/>
                <a:cs typeface="+mn-cs"/>
              </a:rPr>
            </a:br>
            <a:r>
              <a:rPr lang="en-US" sz="1200" i="0" kern="1200" dirty="0">
                <a:solidFill>
                  <a:schemeClr val="tx1"/>
                </a:solidFill>
                <a:effectLst/>
                <a:latin typeface="+mn-lt"/>
                <a:ea typeface="+mn-ea"/>
                <a:cs typeface="+mn-cs"/>
              </a:rPr>
              <a:t>model (PSM), which takes into account the software and hardware environment that</a:t>
            </a:r>
            <a:r>
              <a:rPr lang="en-US" sz="1200" i="0" kern="1200" baseline="0" dirty="0">
                <a:solidFill>
                  <a:schemeClr val="tx1"/>
                </a:solidFill>
                <a:effectLst/>
                <a:latin typeface="+mn-lt"/>
                <a:ea typeface="+mn-ea"/>
                <a:cs typeface="+mn-cs"/>
              </a:rPr>
              <a:t> </a:t>
            </a:r>
            <a:r>
              <a:rPr lang="en-US" sz="1200" i="0" kern="1200" dirty="0">
                <a:solidFill>
                  <a:schemeClr val="tx1"/>
                </a:solidFill>
                <a:effectLst/>
                <a:latin typeface="+mn-lt"/>
                <a:ea typeface="+mn-ea"/>
                <a:cs typeface="+mn-cs"/>
              </a:rPr>
              <a:t>the solution is to be implemented in. Finally, the PSM is used to generate the actual</a:t>
            </a:r>
            <a:br>
              <a:rPr lang="en-US" sz="1200" i="0" kern="1200" dirty="0">
                <a:solidFill>
                  <a:schemeClr val="tx1"/>
                </a:solidFill>
                <a:effectLst/>
                <a:latin typeface="+mn-lt"/>
                <a:ea typeface="+mn-ea"/>
                <a:cs typeface="+mn-cs"/>
              </a:rPr>
            </a:br>
            <a:r>
              <a:rPr lang="en-US" sz="1200" i="0" kern="1200" dirty="0">
                <a:solidFill>
                  <a:schemeClr val="tx1"/>
                </a:solidFill>
                <a:effectLst/>
                <a:latin typeface="+mn-lt"/>
                <a:ea typeface="+mn-ea"/>
                <a:cs typeface="+mn-cs"/>
              </a:rPr>
              <a:t>executable program code.</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15</a:t>
            </a:fld>
            <a:endParaRPr lang="en-US"/>
          </a:p>
        </p:txBody>
      </p:sp>
    </p:spTree>
    <p:extLst>
      <p:ext uri="{BB962C8B-B14F-4D97-AF65-F5344CB8AC3E}">
        <p14:creationId xmlns:p14="http://schemas.microsoft.com/office/powerpoint/2010/main" val="149064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FF5F1D7-66E1-9743-A16C-C84344C28A66}" type="datetimeFigureOut">
              <a:rPr lang="en-US" smtClean="0"/>
              <a:pPr/>
              <a:t>4/23/25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F5F1D7-66E1-9743-A16C-C84344C28A66}" type="datetimeFigureOut">
              <a:rPr lang="en-US" smtClean="0"/>
              <a:pPr/>
              <a:t>4/23/25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F5F1D7-66E1-9743-A16C-C84344C28A66}" type="datetimeFigureOut">
              <a:rPr lang="en-US" smtClean="0"/>
              <a:pPr/>
              <a:t>4/23/25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F5F1D7-66E1-9743-A16C-C84344C28A66}" type="datetimeFigureOut">
              <a:rPr lang="en-US" smtClean="0"/>
              <a:pPr/>
              <a:t>4/23/25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F5F1D7-66E1-9743-A16C-C84344C28A66}" type="datetimeFigureOut">
              <a:rPr lang="en-US" smtClean="0"/>
              <a:pPr/>
              <a:t>4/23/25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F5F1D7-66E1-9743-A16C-C84344C28A66}" type="datetimeFigureOut">
              <a:rPr lang="en-US" smtClean="0"/>
              <a:pPr/>
              <a:t>4/23/25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F5F1D7-66E1-9743-A16C-C84344C28A66}" type="datetimeFigureOut">
              <a:rPr lang="en-US" smtClean="0"/>
              <a:pPr/>
              <a:t>4/23/25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F5F1D7-66E1-9743-A16C-C84344C28A66}" type="datetimeFigureOut">
              <a:rPr lang="en-US" smtClean="0"/>
              <a:pPr/>
              <a:t>4/23/25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F5F1D7-66E1-9743-A16C-C84344C28A66}" type="datetimeFigureOut">
              <a:rPr lang="en-US" smtClean="0"/>
              <a:pPr/>
              <a:t>4/23/25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F5F1D7-66E1-9743-A16C-C84344C28A66}" type="datetimeFigureOut">
              <a:rPr lang="en-US" smtClean="0"/>
              <a:pPr/>
              <a:t>4/23/25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F5F1D7-66E1-9743-A16C-C84344C28A66}" type="datetimeFigureOut">
              <a:rPr lang="en-US" smtClean="0"/>
              <a:pPr/>
              <a:t>4/23/25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esign">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8508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Design">
    <p:spTree>
      <p:nvGrpSpPr>
        <p:cNvPr id="1" name=""/>
        <p:cNvGrpSpPr/>
        <p:nvPr/>
      </p:nvGrpSpPr>
      <p:grpSpPr>
        <a:xfrm>
          <a:off x="0" y="0"/>
          <a:ext cx="0" cy="0"/>
          <a:chOff x="0" y="0"/>
          <a:chExt cx="0" cy="0"/>
        </a:xfrm>
      </p:grpSpPr>
      <p:sp>
        <p:nvSpPr>
          <p:cNvPr id="5" name="Picture Placeholder 4"/>
          <p:cNvSpPr>
            <a:spLocks noGrp="1"/>
          </p:cNvSpPr>
          <p:nvPr>
            <p:ph type="pic" sz="quarter" idx="13"/>
          </p:nvPr>
        </p:nvSpPr>
        <p:spPr>
          <a:xfrm>
            <a:off x="4658500" y="3429001"/>
            <a:ext cx="4485500" cy="3429000"/>
          </a:xfrm>
          <a:prstGeom prst="rect">
            <a:avLst/>
          </a:prstGeom>
          <a:solidFill>
            <a:schemeClr val="bg1">
              <a:lumMod val="95000"/>
            </a:schemeClr>
          </a:solidFill>
        </p:spPr>
        <p:txBody>
          <a:bodyPr>
            <a:normAutofit/>
          </a:bodyPr>
          <a:lstStyle>
            <a:lvl1pPr marL="0" indent="0">
              <a:buNone/>
              <a:defRPr sz="2000" b="0" i="0">
                <a:latin typeface="Lato Light" charset="0"/>
              </a:defRPr>
            </a:lvl1pPr>
          </a:lstStyle>
          <a:p>
            <a:endParaRPr lang="en-US" dirty="0"/>
          </a:p>
        </p:txBody>
      </p:sp>
      <p:sp>
        <p:nvSpPr>
          <p:cNvPr id="7" name="Picture Placeholder 4"/>
          <p:cNvSpPr>
            <a:spLocks noGrp="1"/>
          </p:cNvSpPr>
          <p:nvPr>
            <p:ph type="pic" sz="quarter" idx="12"/>
          </p:nvPr>
        </p:nvSpPr>
        <p:spPr>
          <a:xfrm>
            <a:off x="0" y="3429001"/>
            <a:ext cx="4485500" cy="3429000"/>
          </a:xfrm>
          <a:prstGeom prst="rect">
            <a:avLst/>
          </a:prstGeom>
          <a:solidFill>
            <a:schemeClr val="bg1">
              <a:lumMod val="95000"/>
            </a:schemeClr>
          </a:solidFill>
        </p:spPr>
        <p:txBody>
          <a:bodyPr>
            <a:normAutofit/>
          </a:bodyPr>
          <a:lstStyle>
            <a:lvl1pPr marL="0" indent="0">
              <a:buNone/>
              <a:defRPr sz="2000" b="0" i="0">
                <a:latin typeface="Lato Light" charset="0"/>
              </a:defRPr>
            </a:lvl1pPr>
          </a:lstStyle>
          <a:p>
            <a:endParaRPr lang="en-US" dirty="0"/>
          </a:p>
        </p:txBody>
      </p:sp>
    </p:spTree>
    <p:extLst>
      <p:ext uri="{BB962C8B-B14F-4D97-AF65-F5344CB8AC3E}">
        <p14:creationId xmlns:p14="http://schemas.microsoft.com/office/powerpoint/2010/main" val="3509666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F5F1D7-66E1-9743-A16C-C84344C28A66}" type="datetimeFigureOut">
              <a:rPr lang="en-US" smtClean="0"/>
              <a:pPr/>
              <a:t>4/23/25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333D9F-47EE-C945-BA73-E7E5401F673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61665"/>
            <a:ext cx="9143999" cy="609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grpSp>
        <p:nvGrpSpPr>
          <p:cNvPr id="3" name="Group 2"/>
          <p:cNvGrpSpPr/>
          <p:nvPr/>
        </p:nvGrpSpPr>
        <p:grpSpPr>
          <a:xfrm>
            <a:off x="597195" y="1489570"/>
            <a:ext cx="8546804" cy="3139320"/>
            <a:chOff x="597195" y="1417888"/>
            <a:chExt cx="5391623" cy="3139320"/>
          </a:xfrm>
        </p:grpSpPr>
        <p:sp>
          <p:nvSpPr>
            <p:cNvPr id="10" name="TextBox 9"/>
            <p:cNvSpPr txBox="1"/>
            <p:nvPr/>
          </p:nvSpPr>
          <p:spPr>
            <a:xfrm>
              <a:off x="597195" y="1417888"/>
              <a:ext cx="5391623" cy="2246769"/>
            </a:xfrm>
            <a:prstGeom prst="rect">
              <a:avLst/>
            </a:prstGeom>
            <a:noFill/>
          </p:spPr>
          <p:txBody>
            <a:bodyPr wrap="square" rtlCol="0">
              <a:spAutoFit/>
            </a:bodyPr>
            <a:lstStyle/>
            <a:p>
              <a:r>
                <a:rPr lang="en-US" sz="5400" b="1" dirty="0">
                  <a:solidFill>
                    <a:schemeClr val="bg1"/>
                  </a:solidFill>
                  <a:latin typeface="Lato Heavy" charset="0"/>
                  <a:ea typeface="Lato Heavy" charset="0"/>
                  <a:cs typeface="Lato Heavy" charset="0"/>
                </a:rPr>
                <a:t>IF3141</a:t>
              </a:r>
            </a:p>
            <a:p>
              <a:r>
                <a:rPr lang="en-US" sz="5400" b="1" dirty="0">
                  <a:solidFill>
                    <a:schemeClr val="bg1"/>
                  </a:solidFill>
                  <a:latin typeface="Lato Heavy" charset="0"/>
                  <a:ea typeface="Lato Heavy" charset="0"/>
                  <a:cs typeface="Lato Heavy" charset="0"/>
                </a:rPr>
                <a:t>SISTEM INFORMASI</a:t>
              </a:r>
            </a:p>
            <a:p>
              <a:r>
                <a:rPr lang="en-US" sz="3200" b="1" dirty="0">
                  <a:solidFill>
                    <a:schemeClr val="bg1"/>
                  </a:solidFill>
                  <a:latin typeface="Lato Heavy" charset="0"/>
                  <a:ea typeface="Lato Heavy" charset="0"/>
                  <a:cs typeface="Lato Heavy" charset="0"/>
                </a:rPr>
                <a:t>Programming &amp; Development Approaches</a:t>
              </a:r>
              <a:endParaRPr lang="en-US" sz="4000" b="1" dirty="0">
                <a:solidFill>
                  <a:schemeClr val="bg1"/>
                </a:solidFill>
                <a:latin typeface="Lato Heavy" charset="0"/>
                <a:ea typeface="Lato Heavy" charset="0"/>
                <a:cs typeface="Lato Heavy" charset="0"/>
              </a:endParaRPr>
            </a:p>
          </p:txBody>
        </p:sp>
        <p:sp>
          <p:nvSpPr>
            <p:cNvPr id="12" name="Rectangle 11"/>
            <p:cNvSpPr/>
            <p:nvPr/>
          </p:nvSpPr>
          <p:spPr>
            <a:xfrm>
              <a:off x="607242" y="3972433"/>
              <a:ext cx="5381576" cy="584775"/>
            </a:xfrm>
            <a:prstGeom prst="rect">
              <a:avLst/>
            </a:prstGeom>
          </p:spPr>
          <p:txBody>
            <a:bodyPr wrap="square">
              <a:spAutoFit/>
            </a:bodyPr>
            <a:lstStyle/>
            <a:p>
              <a:r>
                <a:rPr lang="en-US" sz="3200" dirty="0">
                  <a:solidFill>
                    <a:schemeClr val="accent1">
                      <a:lumMod val="40000"/>
                      <a:lumOff val="60000"/>
                    </a:schemeClr>
                  </a:solidFill>
                  <a:latin typeface="Lato" charset="0"/>
                  <a:ea typeface="Lato" charset="0"/>
                  <a:cs typeface="Lato" charset="0"/>
                </a:rPr>
                <a:t>Semester 2 2024/2025</a:t>
              </a:r>
              <a:endParaRPr lang="en-US" sz="3200" dirty="0">
                <a:solidFill>
                  <a:schemeClr val="accent1">
                    <a:lumMod val="40000"/>
                    <a:lumOff val="60000"/>
                  </a:schemeClr>
                </a:solidFill>
                <a:effectLst/>
                <a:latin typeface="Lato" charset="0"/>
                <a:ea typeface="Lato" charset="0"/>
                <a:cs typeface="Lato" charset="0"/>
              </a:endParaRPr>
            </a:p>
          </p:txBody>
        </p:sp>
      </p:grpSp>
      <p:sp>
        <p:nvSpPr>
          <p:cNvPr id="17" name="Rectangle 16"/>
          <p:cNvSpPr/>
          <p:nvPr/>
        </p:nvSpPr>
        <p:spPr>
          <a:xfrm>
            <a:off x="597195" y="6217230"/>
            <a:ext cx="3762104" cy="461665"/>
          </a:xfrm>
          <a:prstGeom prst="rect">
            <a:avLst/>
          </a:prstGeom>
        </p:spPr>
        <p:txBody>
          <a:bodyPr wrap="square">
            <a:spAutoFit/>
          </a:bodyPr>
          <a:lstStyle/>
          <a:p>
            <a:pPr>
              <a:lnSpc>
                <a:spcPct val="150000"/>
              </a:lnSpc>
            </a:pPr>
            <a:r>
              <a:rPr lang="en-US" sz="1200" dirty="0">
                <a:solidFill>
                  <a:schemeClr val="bg1">
                    <a:lumMod val="50000"/>
                  </a:schemeClr>
                </a:solidFill>
                <a:latin typeface="Lato" charset="0"/>
                <a:ea typeface="Lato" charset="0"/>
                <a:cs typeface="Lato" charset="0"/>
              </a:rPr>
              <a:t>IF3141 </a:t>
            </a:r>
            <a:r>
              <a:rPr lang="en-US" sz="1600" b="1" dirty="0">
                <a:solidFill>
                  <a:schemeClr val="bg1">
                    <a:lumMod val="50000"/>
                  </a:schemeClr>
                </a:solidFill>
                <a:latin typeface="Lato" charset="0"/>
                <a:ea typeface="Lato" charset="0"/>
                <a:cs typeface="Lato" charset="0"/>
              </a:rPr>
              <a:t>|</a:t>
            </a:r>
            <a:r>
              <a:rPr lang="en-US" sz="1200" b="1" dirty="0">
                <a:solidFill>
                  <a:schemeClr val="bg1">
                    <a:lumMod val="50000"/>
                  </a:schemeClr>
                </a:solidFill>
                <a:latin typeface="Lato" charset="0"/>
                <a:ea typeface="Lato" charset="0"/>
                <a:cs typeface="Lato" charset="0"/>
              </a:rPr>
              <a:t> </a:t>
            </a:r>
            <a:r>
              <a:rPr lang="en-US" sz="1200" dirty="0">
                <a:solidFill>
                  <a:schemeClr val="bg1">
                    <a:lumMod val="50000"/>
                  </a:schemeClr>
                </a:solidFill>
                <a:latin typeface="Lato" charset="0"/>
                <a:ea typeface="Lato" charset="0"/>
                <a:cs typeface="Lato" charset="0"/>
              </a:rPr>
              <a:t>TEKNIK INFORMATIKA ITB</a:t>
            </a:r>
            <a:endParaRPr lang="en-US" sz="1200" dirty="0">
              <a:solidFill>
                <a:schemeClr val="bg1">
                  <a:lumMod val="50000"/>
                </a:schemeClr>
              </a:solidFill>
              <a:effectLst/>
              <a:latin typeface="Lato" charset="0"/>
              <a:ea typeface="Lato" charset="0"/>
              <a:cs typeface="Lato" charset="0"/>
            </a:endParaRPr>
          </a:p>
        </p:txBody>
      </p:sp>
    </p:spTree>
    <p:extLst>
      <p:ext uri="{BB962C8B-B14F-4D97-AF65-F5344CB8AC3E}">
        <p14:creationId xmlns:p14="http://schemas.microsoft.com/office/powerpoint/2010/main" val="4065354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Approaches to Development</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1569660"/>
          </a:xfrm>
          <a:prstGeom prst="rect">
            <a:avLst/>
          </a:prstGeom>
        </p:spPr>
        <p:txBody>
          <a:bodyPr wrap="square">
            <a:spAutoFit/>
          </a:bodyPr>
          <a:lstStyle/>
          <a:p>
            <a:pPr marL="457200" indent="-457200">
              <a:buFont typeface="Arial" panose="020B0604020202020204" pitchFamily="34" charset="0"/>
              <a:buChar char="•"/>
            </a:pPr>
            <a:r>
              <a:rPr lang="en-US" sz="2400" dirty="0"/>
              <a:t>Very few systems are actually developed from the ground up</a:t>
            </a:r>
            <a:endParaRPr lang="en-ID" sz="2800" dirty="0">
              <a:latin typeface="DINNextLTPro"/>
            </a:endParaRPr>
          </a:p>
          <a:p>
            <a:pPr marL="457200" indent="-457200">
              <a:buFont typeface="Arial" panose="020B0604020202020204" pitchFamily="34" charset="0"/>
              <a:buChar char="•"/>
            </a:pPr>
            <a:r>
              <a:rPr lang="en-US" sz="2400" dirty="0"/>
              <a:t>Development teams are often merely assembling a series of ready-made components to form a solution to meet a particular set of requirements.</a:t>
            </a:r>
          </a:p>
        </p:txBody>
      </p:sp>
      <p:pic>
        <p:nvPicPr>
          <p:cNvPr id="6" name="Picture 5"/>
          <p:cNvPicPr>
            <a:picLocks noChangeAspect="1"/>
          </p:cNvPicPr>
          <p:nvPr/>
        </p:nvPicPr>
        <p:blipFill>
          <a:blip r:embed="rId3"/>
          <a:stretch>
            <a:fillRect/>
          </a:stretch>
        </p:blipFill>
        <p:spPr>
          <a:xfrm>
            <a:off x="1491270" y="2879664"/>
            <a:ext cx="6161460" cy="3978336"/>
          </a:xfrm>
          <a:prstGeom prst="rect">
            <a:avLst/>
          </a:prstGeom>
        </p:spPr>
      </p:pic>
    </p:spTree>
    <p:extLst>
      <p:ext uri="{BB962C8B-B14F-4D97-AF65-F5344CB8AC3E}">
        <p14:creationId xmlns:p14="http://schemas.microsoft.com/office/powerpoint/2010/main" val="3148407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FE6A0FF-C77D-4448-8A3D-1EF33D59B2AD}"/>
              </a:ext>
            </a:extLst>
          </p:cNvPr>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5" name="TextBox 14">
            <a:extLst>
              <a:ext uri="{FF2B5EF4-FFF2-40B4-BE49-F238E27FC236}">
                <a16:creationId xmlns:a16="http://schemas.microsoft.com/office/drawing/2014/main" id="{DA3C11B9-E234-B44D-AE70-AAD2A9D0AD9E}"/>
              </a:ext>
            </a:extLst>
          </p:cNvPr>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Build or Buy?</a:t>
            </a:r>
          </a:p>
        </p:txBody>
      </p:sp>
      <p:sp>
        <p:nvSpPr>
          <p:cNvPr id="25" name="Rectangle 24">
            <a:extLst>
              <a:ext uri="{FF2B5EF4-FFF2-40B4-BE49-F238E27FC236}">
                <a16:creationId xmlns:a16="http://schemas.microsoft.com/office/drawing/2014/main" id="{2AF393C6-1414-6247-8304-3C5C2A41F6D2}"/>
              </a:ext>
            </a:extLst>
          </p:cNvPr>
          <p:cNvSpPr/>
          <p:nvPr/>
        </p:nvSpPr>
        <p:spPr>
          <a:xfrm>
            <a:off x="128016" y="1243065"/>
            <a:ext cx="9015984" cy="4524315"/>
          </a:xfrm>
          <a:prstGeom prst="rect">
            <a:avLst/>
          </a:prstGeom>
        </p:spPr>
        <p:txBody>
          <a:bodyPr wrap="square">
            <a:spAutoFit/>
          </a:bodyPr>
          <a:lstStyle/>
          <a:p>
            <a:pPr marL="457200" indent="-457200">
              <a:buFont typeface="Arial" panose="020B0604020202020204" pitchFamily="34" charset="0"/>
              <a:buChar char="•"/>
            </a:pPr>
            <a:r>
              <a:rPr lang="en-US" sz="2400" dirty="0"/>
              <a:t>For many systems development projects, perhaps the most fundamental decision to make early on in the project is whether to procure a ready-made solution or to build a bespoke (tailor-made) solution.</a:t>
            </a:r>
          </a:p>
          <a:p>
            <a:pPr marL="457200" indent="-457200">
              <a:buFont typeface="Arial" panose="020B0604020202020204" pitchFamily="34" charset="0"/>
              <a:buChar char="•"/>
            </a:pPr>
            <a:r>
              <a:rPr lang="en-US" sz="2400" dirty="0"/>
              <a:t>Realistically, the decision to build or buy is dependent on the nature of the project being undertaken and, therefore, the type of system being sought.</a:t>
            </a:r>
          </a:p>
          <a:p>
            <a:pPr marL="457200" indent="-457200">
              <a:buFont typeface="Arial" panose="020B0604020202020204" pitchFamily="34" charset="0"/>
              <a:buChar char="•"/>
            </a:pPr>
            <a:r>
              <a:rPr lang="en-US" sz="2400" dirty="0"/>
              <a:t>Hence, the decision on which approach to take will often not be made until the system requirements have been defined and agreed.</a:t>
            </a:r>
          </a:p>
          <a:p>
            <a:pPr marL="457200" indent="-457200">
              <a:buFont typeface="Arial" panose="020B0604020202020204" pitchFamily="34" charset="0"/>
              <a:buChar char="•"/>
            </a:pPr>
            <a:r>
              <a:rPr lang="en-US" sz="2400" dirty="0"/>
              <a:t>A particular solution to a business need may be delivered through a combination of bespoke developed and ready-made components,</a:t>
            </a:r>
          </a:p>
        </p:txBody>
      </p:sp>
    </p:spTree>
    <p:extLst>
      <p:ext uri="{BB962C8B-B14F-4D97-AF65-F5344CB8AC3E}">
        <p14:creationId xmlns:p14="http://schemas.microsoft.com/office/powerpoint/2010/main" val="3537010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FE6A0FF-C77D-4448-8A3D-1EF33D59B2AD}"/>
              </a:ext>
            </a:extLst>
          </p:cNvPr>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5" name="TextBox 14">
            <a:extLst>
              <a:ext uri="{FF2B5EF4-FFF2-40B4-BE49-F238E27FC236}">
                <a16:creationId xmlns:a16="http://schemas.microsoft.com/office/drawing/2014/main" id="{DA3C11B9-E234-B44D-AE70-AAD2A9D0AD9E}"/>
              </a:ext>
            </a:extLst>
          </p:cNvPr>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Build or Buy?</a:t>
            </a:r>
          </a:p>
        </p:txBody>
      </p:sp>
      <p:sp>
        <p:nvSpPr>
          <p:cNvPr id="25" name="Rectangle 24">
            <a:extLst>
              <a:ext uri="{FF2B5EF4-FFF2-40B4-BE49-F238E27FC236}">
                <a16:creationId xmlns:a16="http://schemas.microsoft.com/office/drawing/2014/main" id="{2AF393C6-1414-6247-8304-3C5C2A41F6D2}"/>
              </a:ext>
            </a:extLst>
          </p:cNvPr>
          <p:cNvSpPr/>
          <p:nvPr/>
        </p:nvSpPr>
        <p:spPr>
          <a:xfrm>
            <a:off x="128016" y="1243065"/>
            <a:ext cx="9015984" cy="5632311"/>
          </a:xfrm>
          <a:prstGeom prst="rect">
            <a:avLst/>
          </a:prstGeom>
        </p:spPr>
        <p:txBody>
          <a:bodyPr wrap="square">
            <a:spAutoFit/>
          </a:bodyPr>
          <a:lstStyle/>
          <a:p>
            <a:pPr marL="457200" indent="-457200">
              <a:buFont typeface="Arial" panose="020B0604020202020204" pitchFamily="34" charset="0"/>
              <a:buChar char="•"/>
            </a:pPr>
            <a:r>
              <a:rPr lang="en-US" sz="2400" b="1" dirty="0"/>
              <a:t>Bespoke</a:t>
            </a:r>
          </a:p>
          <a:p>
            <a:pPr marL="914400" lvl="1" indent="-457200">
              <a:buFont typeface="Arial" panose="020B0604020202020204" pitchFamily="34" charset="0"/>
              <a:buChar char="•"/>
            </a:pPr>
            <a:r>
              <a:rPr lang="en-US" sz="2400" dirty="0"/>
              <a:t>At one time, bespoke systems development was the only option available to organizations wishing to adopt computer technology. In more recent times, it seems that only the largest and most wealthy of organizations have the luxury of dedicated in-house development teams, and even those organizations often outsource the development work to a third-party organization.</a:t>
            </a:r>
          </a:p>
          <a:p>
            <a:pPr marL="914400" lvl="1" indent="-457200">
              <a:buFont typeface="Arial" panose="020B0604020202020204" pitchFamily="34" charset="0"/>
              <a:buChar char="•"/>
            </a:pPr>
            <a:r>
              <a:rPr lang="en-US" sz="2400" dirty="0"/>
              <a:t>With the bespoke development approach, a ‘tailor-made’ solution is designed and developed to precisely meet a set of agreed requirements. </a:t>
            </a:r>
          </a:p>
          <a:p>
            <a:pPr marL="457200" indent="-457200">
              <a:buFont typeface="Arial" panose="020B0604020202020204" pitchFamily="34" charset="0"/>
              <a:buChar char="•"/>
            </a:pPr>
            <a:r>
              <a:rPr lang="en-US" sz="2400" b="1" dirty="0"/>
              <a:t>Ready-made</a:t>
            </a:r>
          </a:p>
          <a:p>
            <a:pPr marL="914400" lvl="1" indent="-457200">
              <a:buFont typeface="Arial" panose="020B0604020202020204" pitchFamily="34" charset="0"/>
              <a:buChar char="•"/>
            </a:pPr>
            <a:r>
              <a:rPr lang="en-US" sz="2400" dirty="0"/>
              <a:t>There are two broad approaches to procuring a ready-made solution: purchase a commercial off-the-shelf (COTS) solution or obtain an open source solution. </a:t>
            </a:r>
          </a:p>
        </p:txBody>
      </p:sp>
    </p:spTree>
    <p:extLst>
      <p:ext uri="{BB962C8B-B14F-4D97-AF65-F5344CB8AC3E}">
        <p14:creationId xmlns:p14="http://schemas.microsoft.com/office/powerpoint/2010/main" val="2120738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FE6A0FF-C77D-4448-8A3D-1EF33D59B2AD}"/>
              </a:ext>
            </a:extLst>
          </p:cNvPr>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5" name="TextBox 14">
            <a:extLst>
              <a:ext uri="{FF2B5EF4-FFF2-40B4-BE49-F238E27FC236}">
                <a16:creationId xmlns:a16="http://schemas.microsoft.com/office/drawing/2014/main" id="{DA3C11B9-E234-B44D-AE70-AAD2A9D0AD9E}"/>
              </a:ext>
            </a:extLst>
          </p:cNvPr>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Build or Buy?</a:t>
            </a:r>
          </a:p>
        </p:txBody>
      </p:sp>
      <p:sp>
        <p:nvSpPr>
          <p:cNvPr id="25" name="Rectangle 24">
            <a:extLst>
              <a:ext uri="{FF2B5EF4-FFF2-40B4-BE49-F238E27FC236}">
                <a16:creationId xmlns:a16="http://schemas.microsoft.com/office/drawing/2014/main" id="{2AF393C6-1414-6247-8304-3C5C2A41F6D2}"/>
              </a:ext>
            </a:extLst>
          </p:cNvPr>
          <p:cNvSpPr/>
          <p:nvPr/>
        </p:nvSpPr>
        <p:spPr>
          <a:xfrm>
            <a:off x="128016" y="1243065"/>
            <a:ext cx="9015984" cy="1938992"/>
          </a:xfrm>
          <a:prstGeom prst="rect">
            <a:avLst/>
          </a:prstGeom>
        </p:spPr>
        <p:txBody>
          <a:bodyPr wrap="square">
            <a:spAutoFit/>
          </a:bodyPr>
          <a:lstStyle/>
          <a:p>
            <a:pPr marL="457200" indent="-457200">
              <a:buFont typeface="Arial" panose="020B0604020202020204" pitchFamily="34" charset="0"/>
              <a:buChar char="•"/>
            </a:pPr>
            <a:r>
              <a:rPr lang="en-US" sz="2400" b="1" dirty="0"/>
              <a:t>COTS</a:t>
            </a:r>
          </a:p>
          <a:p>
            <a:pPr marL="914400" lvl="1" indent="-457200">
              <a:buFont typeface="Arial" panose="020B0604020202020204" pitchFamily="34" charset="0"/>
              <a:buChar char="•"/>
            </a:pPr>
            <a:r>
              <a:rPr lang="en-US" sz="2400" dirty="0"/>
              <a:t>In the context of computer systems, COTS software products are ready-made software packages that are purchased, leased or licensed, off-the-shelf, by an acquirer who had no influence on its features and other qualities. </a:t>
            </a:r>
          </a:p>
        </p:txBody>
      </p:sp>
      <p:pic>
        <p:nvPicPr>
          <p:cNvPr id="2" name="Picture 1"/>
          <p:cNvPicPr>
            <a:picLocks noChangeAspect="1"/>
          </p:cNvPicPr>
          <p:nvPr/>
        </p:nvPicPr>
        <p:blipFill>
          <a:blip r:embed="rId3"/>
          <a:stretch>
            <a:fillRect/>
          </a:stretch>
        </p:blipFill>
        <p:spPr>
          <a:xfrm>
            <a:off x="570160" y="3332003"/>
            <a:ext cx="8265518" cy="3320724"/>
          </a:xfrm>
          <a:prstGeom prst="rect">
            <a:avLst/>
          </a:prstGeom>
        </p:spPr>
      </p:pic>
    </p:spTree>
    <p:extLst>
      <p:ext uri="{BB962C8B-B14F-4D97-AF65-F5344CB8AC3E}">
        <p14:creationId xmlns:p14="http://schemas.microsoft.com/office/powerpoint/2010/main" val="3057765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FE6A0FF-C77D-4448-8A3D-1EF33D59B2AD}"/>
              </a:ext>
            </a:extLst>
          </p:cNvPr>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5" name="TextBox 14">
            <a:extLst>
              <a:ext uri="{FF2B5EF4-FFF2-40B4-BE49-F238E27FC236}">
                <a16:creationId xmlns:a16="http://schemas.microsoft.com/office/drawing/2014/main" id="{DA3C11B9-E234-B44D-AE70-AAD2A9D0AD9E}"/>
              </a:ext>
            </a:extLst>
          </p:cNvPr>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Build or Buy?</a:t>
            </a:r>
          </a:p>
        </p:txBody>
      </p:sp>
      <p:sp>
        <p:nvSpPr>
          <p:cNvPr id="25" name="Rectangle 24">
            <a:extLst>
              <a:ext uri="{FF2B5EF4-FFF2-40B4-BE49-F238E27FC236}">
                <a16:creationId xmlns:a16="http://schemas.microsoft.com/office/drawing/2014/main" id="{2AF393C6-1414-6247-8304-3C5C2A41F6D2}"/>
              </a:ext>
            </a:extLst>
          </p:cNvPr>
          <p:cNvSpPr/>
          <p:nvPr/>
        </p:nvSpPr>
        <p:spPr>
          <a:xfrm>
            <a:off x="128016" y="1243065"/>
            <a:ext cx="9015984" cy="4093428"/>
          </a:xfrm>
          <a:prstGeom prst="rect">
            <a:avLst/>
          </a:prstGeom>
        </p:spPr>
        <p:txBody>
          <a:bodyPr wrap="square">
            <a:spAutoFit/>
          </a:bodyPr>
          <a:lstStyle/>
          <a:p>
            <a:pPr marL="457200" indent="-457200">
              <a:buFont typeface="Arial" panose="020B0604020202020204" pitchFamily="34" charset="0"/>
              <a:buChar char="•"/>
            </a:pPr>
            <a:r>
              <a:rPr lang="en-US" sz="2400" b="1" dirty="0"/>
              <a:t>Open Source</a:t>
            </a:r>
          </a:p>
          <a:p>
            <a:pPr marL="914400" lvl="1" indent="-457200">
              <a:buFont typeface="Arial" panose="020B0604020202020204" pitchFamily="34" charset="0"/>
              <a:buChar char="•"/>
            </a:pPr>
            <a:r>
              <a:rPr lang="en-US" sz="2400" dirty="0"/>
              <a:t>The customer obtains a ready-made solution but also gains access to the source code to enable in-house or third-party developers to tailor the solution to meet the precise needs of the customer.  </a:t>
            </a:r>
          </a:p>
          <a:p>
            <a:pPr marL="914400" lvl="1" indent="-457200">
              <a:buFont typeface="Arial" panose="020B0604020202020204" pitchFamily="34" charset="0"/>
              <a:buChar char="•"/>
            </a:pPr>
            <a:r>
              <a:rPr lang="en-US" sz="2400" dirty="0"/>
              <a:t>The open source option clearly offers a number of benefits: zero license costs (although this doesn’t mean a zero cost solution) and the provision of a ready-made solution that can also be tailored and maintained as necessary to suit the customer organization.</a:t>
            </a:r>
          </a:p>
          <a:p>
            <a:pPr marL="914400" lvl="1" indent="-457200">
              <a:buFont typeface="Arial" panose="020B0604020202020204" pitchFamily="34" charset="0"/>
              <a:buChar char="•"/>
            </a:pPr>
            <a:endParaRPr lang="en-US" sz="2000" dirty="0"/>
          </a:p>
        </p:txBody>
      </p:sp>
    </p:spTree>
    <p:extLst>
      <p:ext uri="{BB962C8B-B14F-4D97-AF65-F5344CB8AC3E}">
        <p14:creationId xmlns:p14="http://schemas.microsoft.com/office/powerpoint/2010/main" val="2001531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FE6A0FF-C77D-4448-8A3D-1EF33D59B2AD}"/>
              </a:ext>
            </a:extLst>
          </p:cNvPr>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5" name="TextBox 14">
            <a:extLst>
              <a:ext uri="{FF2B5EF4-FFF2-40B4-BE49-F238E27FC236}">
                <a16:creationId xmlns:a16="http://schemas.microsoft.com/office/drawing/2014/main" id="{DA3C11B9-E234-B44D-AE70-AAD2A9D0AD9E}"/>
              </a:ext>
            </a:extLst>
          </p:cNvPr>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Component-based Development</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785652"/>
          </a:xfrm>
          <a:prstGeom prst="rect">
            <a:avLst/>
          </a:prstGeom>
        </p:spPr>
        <p:txBody>
          <a:bodyPr wrap="square">
            <a:spAutoFit/>
          </a:bodyPr>
          <a:lstStyle/>
          <a:p>
            <a:pPr marL="457200" indent="-457200">
              <a:buFont typeface="Arial" panose="020B0604020202020204" pitchFamily="34" charset="0"/>
              <a:buChar char="•"/>
            </a:pPr>
            <a:r>
              <a:rPr lang="en-US" sz="2400" dirty="0"/>
              <a:t>In practice, modern information systems comprise a series of separate, but integrated, building blocks referred to as components.</a:t>
            </a:r>
          </a:p>
          <a:p>
            <a:pPr marL="457200" indent="-457200">
              <a:buFont typeface="Arial" panose="020B0604020202020204" pitchFamily="34" charset="0"/>
              <a:buChar char="•"/>
            </a:pPr>
            <a:r>
              <a:rPr lang="en-US" sz="2400" dirty="0"/>
              <a:t>A component is something that can be deployed as a black box. It has an external specification, which is independent of its internal mechanisms.</a:t>
            </a:r>
          </a:p>
          <a:p>
            <a:pPr marL="457200" indent="-457200">
              <a:buFont typeface="Arial" panose="020B0604020202020204" pitchFamily="34" charset="0"/>
              <a:buChar char="•"/>
            </a:pPr>
            <a:r>
              <a:rPr lang="en-US" sz="2400" dirty="0"/>
              <a:t>With component-based development, software applications are assembled from components from a variety of sources; the components themselves may be written in several different programming languages and run on several different platforms.</a:t>
            </a:r>
          </a:p>
        </p:txBody>
      </p:sp>
    </p:spTree>
    <p:extLst>
      <p:ext uri="{BB962C8B-B14F-4D97-AF65-F5344CB8AC3E}">
        <p14:creationId xmlns:p14="http://schemas.microsoft.com/office/powerpoint/2010/main" val="1672974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FE6A0FF-C77D-4448-8A3D-1EF33D59B2AD}"/>
              </a:ext>
            </a:extLst>
          </p:cNvPr>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5" name="TextBox 14">
            <a:extLst>
              <a:ext uri="{FF2B5EF4-FFF2-40B4-BE49-F238E27FC236}">
                <a16:creationId xmlns:a16="http://schemas.microsoft.com/office/drawing/2014/main" id="{DA3C11B9-E234-B44D-AE70-AAD2A9D0AD9E}"/>
              </a:ext>
            </a:extLst>
          </p:cNvPr>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Component-based Development</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1200329"/>
          </a:xfrm>
          <a:prstGeom prst="rect">
            <a:avLst/>
          </a:prstGeom>
        </p:spPr>
        <p:txBody>
          <a:bodyPr wrap="square">
            <a:spAutoFit/>
          </a:bodyPr>
          <a:lstStyle/>
          <a:p>
            <a:pPr marL="457200" indent="-457200">
              <a:buFont typeface="Arial" panose="020B0604020202020204" pitchFamily="34" charset="0"/>
              <a:buChar char="•"/>
            </a:pPr>
            <a:r>
              <a:rPr lang="en-US" sz="2400" dirty="0"/>
              <a:t>Components can exist independently of each other but can also be assembled together to build new solutions; they provide services to other components and use services provided by other components</a:t>
            </a:r>
          </a:p>
        </p:txBody>
      </p:sp>
      <p:pic>
        <p:nvPicPr>
          <p:cNvPr id="2" name="Picture 1"/>
          <p:cNvPicPr>
            <a:picLocks noChangeAspect="1"/>
          </p:cNvPicPr>
          <p:nvPr/>
        </p:nvPicPr>
        <p:blipFill>
          <a:blip r:embed="rId3"/>
          <a:stretch>
            <a:fillRect/>
          </a:stretch>
        </p:blipFill>
        <p:spPr>
          <a:xfrm>
            <a:off x="128017" y="2658415"/>
            <a:ext cx="5842478" cy="3456968"/>
          </a:xfrm>
          <a:prstGeom prst="rect">
            <a:avLst/>
          </a:prstGeom>
        </p:spPr>
      </p:pic>
      <p:cxnSp>
        <p:nvCxnSpPr>
          <p:cNvPr id="6" name="Straight Arrow Connector 5"/>
          <p:cNvCxnSpPr/>
          <p:nvPr/>
        </p:nvCxnSpPr>
        <p:spPr>
          <a:xfrm>
            <a:off x="3388659" y="5145741"/>
            <a:ext cx="2115670" cy="0"/>
          </a:xfrm>
          <a:prstGeom prst="straightConnector1">
            <a:avLst/>
          </a:prstGeom>
          <a:ln w="381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pic>
        <p:nvPicPr>
          <p:cNvPr id="7" name="Picture 6"/>
          <p:cNvPicPr>
            <a:picLocks noChangeAspect="1"/>
          </p:cNvPicPr>
          <p:nvPr/>
        </p:nvPicPr>
        <p:blipFill>
          <a:blip r:embed="rId4"/>
          <a:stretch>
            <a:fillRect/>
          </a:stretch>
        </p:blipFill>
        <p:spPr>
          <a:xfrm>
            <a:off x="5465936" y="4675246"/>
            <a:ext cx="3678064" cy="1922777"/>
          </a:xfrm>
          <a:prstGeom prst="rect">
            <a:avLst/>
          </a:prstGeom>
        </p:spPr>
      </p:pic>
    </p:spTree>
    <p:extLst>
      <p:ext uri="{BB962C8B-B14F-4D97-AF65-F5344CB8AC3E}">
        <p14:creationId xmlns:p14="http://schemas.microsoft.com/office/powerpoint/2010/main" val="3538208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FE6A0FF-C77D-4448-8A3D-1EF33D59B2AD}"/>
              </a:ext>
            </a:extLst>
          </p:cNvPr>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5" name="TextBox 14">
            <a:extLst>
              <a:ext uri="{FF2B5EF4-FFF2-40B4-BE49-F238E27FC236}">
                <a16:creationId xmlns:a16="http://schemas.microsoft.com/office/drawing/2014/main" id="{DA3C11B9-E234-B44D-AE70-AAD2A9D0AD9E}"/>
              </a:ext>
            </a:extLst>
          </p:cNvPr>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Development Methodologies</a:t>
            </a:r>
          </a:p>
        </p:txBody>
      </p:sp>
      <p:pic>
        <p:nvPicPr>
          <p:cNvPr id="2" name="Picture 1"/>
          <p:cNvPicPr>
            <a:picLocks noChangeAspect="1"/>
          </p:cNvPicPr>
          <p:nvPr/>
        </p:nvPicPr>
        <p:blipFill>
          <a:blip r:embed="rId3"/>
          <a:stretch>
            <a:fillRect/>
          </a:stretch>
        </p:blipFill>
        <p:spPr>
          <a:xfrm>
            <a:off x="489273" y="1521028"/>
            <a:ext cx="8165455" cy="4199855"/>
          </a:xfrm>
          <a:prstGeom prst="rect">
            <a:avLst/>
          </a:prstGeom>
        </p:spPr>
      </p:pic>
      <p:sp>
        <p:nvSpPr>
          <p:cNvPr id="3" name="Rectangle 2"/>
          <p:cNvSpPr/>
          <p:nvPr/>
        </p:nvSpPr>
        <p:spPr>
          <a:xfrm>
            <a:off x="2599765" y="3030071"/>
            <a:ext cx="1739153" cy="1201270"/>
          </a:xfrm>
          <a:prstGeom prst="rect">
            <a:avLst/>
          </a:prstGeom>
          <a:noFill/>
          <a:ln w="38100">
            <a:solidFill>
              <a:schemeClr val="accent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6618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FE6A0FF-C77D-4448-8A3D-1EF33D59B2AD}"/>
              </a:ext>
            </a:extLst>
          </p:cNvPr>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5" name="TextBox 14">
            <a:extLst>
              <a:ext uri="{FF2B5EF4-FFF2-40B4-BE49-F238E27FC236}">
                <a16:creationId xmlns:a16="http://schemas.microsoft.com/office/drawing/2014/main" id="{DA3C11B9-E234-B44D-AE70-AAD2A9D0AD9E}"/>
              </a:ext>
            </a:extLst>
          </p:cNvPr>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Development Methodologies</a:t>
            </a:r>
          </a:p>
        </p:txBody>
      </p:sp>
      <p:sp>
        <p:nvSpPr>
          <p:cNvPr id="8" name="Rectangle 7">
            <a:extLst>
              <a:ext uri="{FF2B5EF4-FFF2-40B4-BE49-F238E27FC236}">
                <a16:creationId xmlns:a16="http://schemas.microsoft.com/office/drawing/2014/main" id="{2AF393C6-1414-6247-8304-3C5C2A41F6D2}"/>
              </a:ext>
            </a:extLst>
          </p:cNvPr>
          <p:cNvSpPr/>
          <p:nvPr/>
        </p:nvSpPr>
        <p:spPr>
          <a:xfrm>
            <a:off x="128016" y="1243065"/>
            <a:ext cx="9015984" cy="4893647"/>
          </a:xfrm>
          <a:prstGeom prst="rect">
            <a:avLst/>
          </a:prstGeom>
        </p:spPr>
        <p:txBody>
          <a:bodyPr wrap="square">
            <a:spAutoFit/>
          </a:bodyPr>
          <a:lstStyle/>
          <a:p>
            <a:pPr marL="457200" indent="-457200">
              <a:buFont typeface="Arial" panose="020B0604020202020204" pitchFamily="34" charset="0"/>
              <a:buChar char="•"/>
            </a:pPr>
            <a:r>
              <a:rPr lang="en-US" sz="2400" dirty="0"/>
              <a:t>Systems development processes broadly fall in to one of two categories: ‘defined’ or ‘empirical’.</a:t>
            </a:r>
          </a:p>
          <a:p>
            <a:pPr marL="457200" indent="-457200">
              <a:buFont typeface="Arial" panose="020B0604020202020204" pitchFamily="34" charset="0"/>
              <a:buChar char="•"/>
            </a:pPr>
            <a:r>
              <a:rPr lang="en-US" sz="2400" b="1" dirty="0"/>
              <a:t>Defined Process</a:t>
            </a:r>
          </a:p>
          <a:p>
            <a:pPr marL="914400" lvl="1" indent="-457200">
              <a:buFont typeface="Arial" panose="020B0604020202020204" pitchFamily="34" charset="0"/>
              <a:buChar char="•"/>
            </a:pPr>
            <a:r>
              <a:rPr lang="en-US" sz="2400" dirty="0"/>
              <a:t>The premise behind a defined process is that each piece of work can be completely understood and that, given a well-defined set of inputs, the same outputs are generated every time.</a:t>
            </a:r>
          </a:p>
          <a:p>
            <a:pPr marL="914400" lvl="1" indent="-457200">
              <a:buFont typeface="Arial" panose="020B0604020202020204" pitchFamily="34" charset="0"/>
              <a:buChar char="•"/>
            </a:pPr>
            <a:r>
              <a:rPr lang="en-US" sz="2400" dirty="0"/>
              <a:t>Useful when the underlying mechanisms by which a process operates are reasonably well understood</a:t>
            </a:r>
          </a:p>
          <a:p>
            <a:pPr marL="914400" lvl="1" indent="-457200">
              <a:buFont typeface="Arial" panose="020B0604020202020204" pitchFamily="34" charset="0"/>
              <a:buChar char="•"/>
            </a:pPr>
            <a:r>
              <a:rPr lang="en-US" sz="2400" dirty="0"/>
              <a:t>Common defined (procedural) methodology and framework: SSADM, Structured Analysis, Structured Design, Yourdon Structured Method, Information Engineering, SADT, SSM, Structured Programming, JSP, IDEF0, Structured Methods, UP</a:t>
            </a:r>
          </a:p>
        </p:txBody>
      </p:sp>
    </p:spTree>
    <p:extLst>
      <p:ext uri="{BB962C8B-B14F-4D97-AF65-F5344CB8AC3E}">
        <p14:creationId xmlns:p14="http://schemas.microsoft.com/office/powerpoint/2010/main" val="1552634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FE6A0FF-C77D-4448-8A3D-1EF33D59B2AD}"/>
              </a:ext>
            </a:extLst>
          </p:cNvPr>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5" name="TextBox 14">
            <a:extLst>
              <a:ext uri="{FF2B5EF4-FFF2-40B4-BE49-F238E27FC236}">
                <a16:creationId xmlns:a16="http://schemas.microsoft.com/office/drawing/2014/main" id="{DA3C11B9-E234-B44D-AE70-AAD2A9D0AD9E}"/>
              </a:ext>
            </a:extLst>
          </p:cNvPr>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Development Methodologies</a:t>
            </a:r>
          </a:p>
        </p:txBody>
      </p:sp>
      <p:sp>
        <p:nvSpPr>
          <p:cNvPr id="8" name="Rectangle 7">
            <a:extLst>
              <a:ext uri="{FF2B5EF4-FFF2-40B4-BE49-F238E27FC236}">
                <a16:creationId xmlns:a16="http://schemas.microsoft.com/office/drawing/2014/main" id="{2AF393C6-1414-6247-8304-3C5C2A41F6D2}"/>
              </a:ext>
            </a:extLst>
          </p:cNvPr>
          <p:cNvSpPr/>
          <p:nvPr/>
        </p:nvSpPr>
        <p:spPr>
          <a:xfrm>
            <a:off x="128016" y="1243065"/>
            <a:ext cx="9015984" cy="5632311"/>
          </a:xfrm>
          <a:prstGeom prst="rect">
            <a:avLst/>
          </a:prstGeom>
        </p:spPr>
        <p:txBody>
          <a:bodyPr wrap="square">
            <a:spAutoFit/>
          </a:bodyPr>
          <a:lstStyle/>
          <a:p>
            <a:pPr marL="457200" indent="-457200">
              <a:buFont typeface="Arial" panose="020B0604020202020204" pitchFamily="34" charset="0"/>
              <a:buChar char="•"/>
            </a:pPr>
            <a:r>
              <a:rPr lang="en-US" sz="2400" b="1" dirty="0"/>
              <a:t>Empirical Process</a:t>
            </a:r>
          </a:p>
          <a:p>
            <a:pPr marL="914400" lvl="1" indent="-457200">
              <a:buFont typeface="Arial" panose="020B0604020202020204" pitchFamily="34" charset="0"/>
              <a:buChar char="•"/>
            </a:pPr>
            <a:r>
              <a:rPr lang="en-US" sz="2400" dirty="0"/>
              <a:t>The problem with applying defined processes to the discipline of systems development is that defined processes are based on the premise that the product being built is always the same and, hence, the process is predictable and repeatable.</a:t>
            </a:r>
          </a:p>
          <a:p>
            <a:pPr marL="914400" lvl="1" indent="-457200">
              <a:buFont typeface="Arial" panose="020B0604020202020204" pitchFamily="34" charset="0"/>
              <a:buChar char="•"/>
            </a:pPr>
            <a:r>
              <a:rPr lang="en-US" sz="2400" dirty="0"/>
              <a:t> In fact, systems development more closely resembles research and development of new products, which is more of an empirical process. Hence, the recent trend towards ‘Agile’ development, which is based upon an empirical process model.</a:t>
            </a:r>
          </a:p>
          <a:p>
            <a:pPr marL="914400" lvl="1" indent="-457200">
              <a:buFont typeface="Arial" panose="020B0604020202020204" pitchFamily="34" charset="0"/>
              <a:buChar char="•"/>
            </a:pPr>
            <a:r>
              <a:rPr lang="en-US" sz="2400" dirty="0"/>
              <a:t>A process that cannot be repeated due to the inherent complexity needs to adopt this mechanism.</a:t>
            </a:r>
          </a:p>
          <a:p>
            <a:pPr marL="914400" lvl="1" indent="-457200">
              <a:buFont typeface="Arial" panose="020B0604020202020204" pitchFamily="34" charset="0"/>
              <a:buChar char="•"/>
            </a:pPr>
            <a:r>
              <a:rPr lang="en-US" sz="2400" dirty="0"/>
              <a:t>Common empirical approach: RAD, Agile (XP, DSDM, Scrum, Adaptive software development, Crystal clear, Lean systems development, Test-driven development, Feature-driven development, Kanban, Agile UP) </a:t>
            </a:r>
          </a:p>
        </p:txBody>
      </p:sp>
    </p:spTree>
    <p:extLst>
      <p:ext uri="{BB962C8B-B14F-4D97-AF65-F5344CB8AC3E}">
        <p14:creationId xmlns:p14="http://schemas.microsoft.com/office/powerpoint/2010/main" val="923781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FE6A0FF-C77D-4448-8A3D-1EF33D59B2AD}"/>
              </a:ext>
            </a:extLst>
          </p:cNvPr>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5" name="TextBox 14">
            <a:extLst>
              <a:ext uri="{FF2B5EF4-FFF2-40B4-BE49-F238E27FC236}">
                <a16:creationId xmlns:a16="http://schemas.microsoft.com/office/drawing/2014/main" id="{DA3C11B9-E234-B44D-AE70-AAD2A9D0AD9E}"/>
              </a:ext>
            </a:extLst>
          </p:cNvPr>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Software Engineering Paradigms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785652"/>
          </a:xfrm>
          <a:prstGeom prst="rect">
            <a:avLst/>
          </a:prstGeom>
        </p:spPr>
        <p:txBody>
          <a:bodyPr wrap="square">
            <a:spAutoFit/>
          </a:bodyPr>
          <a:lstStyle/>
          <a:p>
            <a:pPr marL="457200" indent="-457200">
              <a:buFont typeface="Arial" panose="020B0604020202020204" pitchFamily="34" charset="0"/>
              <a:buChar char="•"/>
            </a:pPr>
            <a:r>
              <a:rPr lang="en-US" sz="2400" dirty="0"/>
              <a:t>A number of different paradigms (world views underlying the theories and methodology of software engineering and programming) have evolved since the early 1960s, each proposing a radically different approach to building software. </a:t>
            </a:r>
          </a:p>
          <a:p>
            <a:pPr marL="457200" indent="-457200">
              <a:buFont typeface="Arial" panose="020B0604020202020204" pitchFamily="34" charset="0"/>
              <a:buChar char="•"/>
            </a:pPr>
            <a:r>
              <a:rPr lang="en-US" sz="2400" dirty="0"/>
              <a:t>Three most prevalent paradigms that underpin modern software development:</a:t>
            </a:r>
          </a:p>
          <a:p>
            <a:pPr marL="914400" lvl="1" indent="-457200">
              <a:buFont typeface="Arial" panose="020B0604020202020204" pitchFamily="34" charset="0"/>
              <a:buChar char="•"/>
            </a:pPr>
            <a:r>
              <a:rPr lang="en-US" sz="2400" dirty="0"/>
              <a:t>Structured programming</a:t>
            </a:r>
          </a:p>
          <a:p>
            <a:pPr marL="914400" lvl="1" indent="-457200">
              <a:buFont typeface="Arial" panose="020B0604020202020204" pitchFamily="34" charset="0"/>
              <a:buChar char="•"/>
            </a:pPr>
            <a:r>
              <a:rPr lang="en-US" sz="2400" dirty="0"/>
              <a:t>Object-oriented programming</a:t>
            </a:r>
          </a:p>
          <a:p>
            <a:pPr marL="914400" lvl="1" indent="-457200">
              <a:buFont typeface="Arial" panose="020B0604020202020204" pitchFamily="34" charset="0"/>
              <a:buChar char="•"/>
            </a:pPr>
            <a:r>
              <a:rPr lang="en-US" sz="2400" dirty="0"/>
              <a:t>Service-oriented development</a:t>
            </a:r>
          </a:p>
          <a:p>
            <a:pPr lvl="1"/>
            <a:r>
              <a:rPr lang="en-US" sz="2400" dirty="0"/>
              <a:t>Please explore it independently!</a:t>
            </a:r>
          </a:p>
        </p:txBody>
      </p:sp>
    </p:spTree>
    <p:extLst>
      <p:ext uri="{BB962C8B-B14F-4D97-AF65-F5344CB8AC3E}">
        <p14:creationId xmlns:p14="http://schemas.microsoft.com/office/powerpoint/2010/main" val="2203442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FE6A0FF-C77D-4448-8A3D-1EF33D59B2AD}"/>
              </a:ext>
            </a:extLst>
          </p:cNvPr>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5" name="TextBox 14">
            <a:extLst>
              <a:ext uri="{FF2B5EF4-FFF2-40B4-BE49-F238E27FC236}">
                <a16:creationId xmlns:a16="http://schemas.microsoft.com/office/drawing/2014/main" id="{DA3C11B9-E234-B44D-AE70-AAD2A9D0AD9E}"/>
              </a:ext>
            </a:extLst>
          </p:cNvPr>
          <p:cNvSpPr txBox="1"/>
          <p:nvPr/>
        </p:nvSpPr>
        <p:spPr>
          <a:xfrm>
            <a:off x="0" y="295761"/>
            <a:ext cx="914400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The Influence of Technological Advances</a:t>
            </a:r>
          </a:p>
        </p:txBody>
      </p:sp>
      <p:sp>
        <p:nvSpPr>
          <p:cNvPr id="4" name="Rectangle 3">
            <a:extLst>
              <a:ext uri="{FF2B5EF4-FFF2-40B4-BE49-F238E27FC236}">
                <a16:creationId xmlns:a16="http://schemas.microsoft.com/office/drawing/2014/main" id="{2AF393C6-1414-6247-8304-3C5C2A41F6D2}"/>
              </a:ext>
            </a:extLst>
          </p:cNvPr>
          <p:cNvSpPr/>
          <p:nvPr/>
        </p:nvSpPr>
        <p:spPr>
          <a:xfrm>
            <a:off x="128016" y="1243065"/>
            <a:ext cx="9015984" cy="3785652"/>
          </a:xfrm>
          <a:prstGeom prst="rect">
            <a:avLst/>
          </a:prstGeom>
        </p:spPr>
        <p:txBody>
          <a:bodyPr wrap="square">
            <a:spAutoFit/>
          </a:bodyPr>
          <a:lstStyle/>
          <a:p>
            <a:pPr marL="457200" indent="-457200">
              <a:buFont typeface="Arial" panose="020B0604020202020204" pitchFamily="34" charset="0"/>
              <a:buChar char="•"/>
            </a:pPr>
            <a:r>
              <a:rPr lang="en-US" sz="2400" dirty="0"/>
              <a:t>Advances in technology provide opportunities for software developers that enable them to deliver significant business benefits. </a:t>
            </a:r>
          </a:p>
          <a:p>
            <a:pPr marL="457200" indent="-457200">
              <a:buFont typeface="Arial" panose="020B0604020202020204" pitchFamily="34" charset="0"/>
              <a:buChar char="•"/>
            </a:pPr>
            <a:r>
              <a:rPr lang="en-US" sz="2400" dirty="0"/>
              <a:t>Sometimes these benefits manifest themselves in cheaper and quicker solution development, whilst others are more far-reaching and can actually revolutionize the provision of IT solutions for the entire IT industry. </a:t>
            </a:r>
          </a:p>
          <a:p>
            <a:pPr marL="457200" indent="-457200">
              <a:buFont typeface="Arial" panose="020B0604020202020204" pitchFamily="34" charset="0"/>
              <a:buChar char="•"/>
            </a:pPr>
            <a:r>
              <a:rPr lang="en-US" sz="2400" dirty="0"/>
              <a:t>Two such technological advances are:</a:t>
            </a:r>
          </a:p>
          <a:p>
            <a:pPr marL="914400" lvl="1" indent="-457200">
              <a:buFont typeface="Arial" panose="020B0604020202020204" pitchFamily="34" charset="0"/>
              <a:buChar char="•"/>
            </a:pPr>
            <a:r>
              <a:rPr lang="en-US" sz="2400" dirty="0"/>
              <a:t>Cloud-based</a:t>
            </a:r>
          </a:p>
          <a:p>
            <a:pPr marL="914400" lvl="1" indent="-457200">
              <a:buFont typeface="Arial" panose="020B0604020202020204" pitchFamily="34" charset="0"/>
              <a:buChar char="•"/>
            </a:pPr>
            <a:r>
              <a:rPr lang="en-US" sz="2400" dirty="0"/>
              <a:t>Model Driven Architecture (MDA)</a:t>
            </a:r>
          </a:p>
        </p:txBody>
      </p:sp>
    </p:spTree>
    <p:extLst>
      <p:ext uri="{BB962C8B-B14F-4D97-AF65-F5344CB8AC3E}">
        <p14:creationId xmlns:p14="http://schemas.microsoft.com/office/powerpoint/2010/main" val="1676735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FE6A0FF-C77D-4448-8A3D-1EF33D59B2AD}"/>
              </a:ext>
            </a:extLst>
          </p:cNvPr>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5" name="TextBox 14">
            <a:extLst>
              <a:ext uri="{FF2B5EF4-FFF2-40B4-BE49-F238E27FC236}">
                <a16:creationId xmlns:a16="http://schemas.microsoft.com/office/drawing/2014/main" id="{DA3C11B9-E234-B44D-AE70-AAD2A9D0AD9E}"/>
              </a:ext>
            </a:extLst>
          </p:cNvPr>
          <p:cNvSpPr txBox="1"/>
          <p:nvPr/>
        </p:nvSpPr>
        <p:spPr>
          <a:xfrm>
            <a:off x="0" y="295761"/>
            <a:ext cx="914400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The Influence of Technological Advances</a:t>
            </a:r>
          </a:p>
        </p:txBody>
      </p:sp>
      <p:sp>
        <p:nvSpPr>
          <p:cNvPr id="4" name="Rectangle 3">
            <a:extLst>
              <a:ext uri="{FF2B5EF4-FFF2-40B4-BE49-F238E27FC236}">
                <a16:creationId xmlns:a16="http://schemas.microsoft.com/office/drawing/2014/main" id="{2AF393C6-1414-6247-8304-3C5C2A41F6D2}"/>
              </a:ext>
            </a:extLst>
          </p:cNvPr>
          <p:cNvSpPr/>
          <p:nvPr/>
        </p:nvSpPr>
        <p:spPr>
          <a:xfrm>
            <a:off x="128016" y="1243065"/>
            <a:ext cx="9015984" cy="5632311"/>
          </a:xfrm>
          <a:prstGeom prst="rect">
            <a:avLst/>
          </a:prstGeom>
        </p:spPr>
        <p:txBody>
          <a:bodyPr wrap="square">
            <a:spAutoFit/>
          </a:bodyPr>
          <a:lstStyle/>
          <a:p>
            <a:pPr marL="457200" indent="-457200">
              <a:buFont typeface="Arial" panose="020B0604020202020204" pitchFamily="34" charset="0"/>
              <a:buChar char="•"/>
            </a:pPr>
            <a:r>
              <a:rPr lang="en-US" sz="2400" b="1" dirty="0"/>
              <a:t>Cloud-based</a:t>
            </a:r>
          </a:p>
          <a:p>
            <a:pPr marL="914400" lvl="1" indent="-457200">
              <a:buFont typeface="Arial" panose="020B0604020202020204" pitchFamily="34" charset="0"/>
              <a:buChar char="•"/>
            </a:pPr>
            <a:r>
              <a:rPr lang="en-US" sz="2400" dirty="0"/>
              <a:t>‘a model for enabling convenient, on-demand network access to a shared pool of configurable computing resources […] that can be rapidly provisioned and released with minimal management effort or service provider interaction.’ (NIST)</a:t>
            </a:r>
          </a:p>
          <a:p>
            <a:pPr marL="914400" lvl="1" indent="-457200">
              <a:buFont typeface="Arial" panose="020B0604020202020204" pitchFamily="34" charset="0"/>
              <a:buChar char="•"/>
            </a:pPr>
            <a:r>
              <a:rPr lang="en-US" sz="2400" dirty="0"/>
              <a:t>Cloud computing consists of three separate types of service:</a:t>
            </a:r>
          </a:p>
          <a:p>
            <a:pPr marL="1371600" lvl="2" indent="-457200">
              <a:buFont typeface="Arial" panose="020B0604020202020204" pitchFamily="34" charset="0"/>
              <a:buChar char="•"/>
            </a:pPr>
            <a:r>
              <a:rPr lang="en-US" sz="2400" dirty="0"/>
              <a:t>Software as a service (SaaS) – the provision of applications in the cloud.</a:t>
            </a:r>
          </a:p>
          <a:p>
            <a:pPr marL="1371600" lvl="2" indent="-457200">
              <a:buFont typeface="Arial" panose="020B0604020202020204" pitchFamily="34" charset="0"/>
              <a:buChar char="•"/>
            </a:pPr>
            <a:r>
              <a:rPr lang="en-US" sz="2400" dirty="0"/>
              <a:t>Platform as a service (PaaS) – the provision of services that enable the customer to deploy applications in the cloud using tools provided by the supplier.</a:t>
            </a:r>
          </a:p>
          <a:p>
            <a:pPr marL="1371600" lvl="2" indent="-457200">
              <a:buFont typeface="Arial" panose="020B0604020202020204" pitchFamily="34" charset="0"/>
              <a:buChar char="•"/>
            </a:pPr>
            <a:r>
              <a:rPr lang="en-US" sz="2400" dirty="0"/>
              <a:t>Infrastructure as a service (IaaS) – the provision of computing power, storage and network capacity that enable the customer to run software (including operating systems and applications) in the cloud.</a:t>
            </a:r>
          </a:p>
        </p:txBody>
      </p:sp>
    </p:spTree>
    <p:extLst>
      <p:ext uri="{BB962C8B-B14F-4D97-AF65-F5344CB8AC3E}">
        <p14:creationId xmlns:p14="http://schemas.microsoft.com/office/powerpoint/2010/main" val="949796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FE6A0FF-C77D-4448-8A3D-1EF33D59B2AD}"/>
              </a:ext>
            </a:extLst>
          </p:cNvPr>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5" name="TextBox 14">
            <a:extLst>
              <a:ext uri="{FF2B5EF4-FFF2-40B4-BE49-F238E27FC236}">
                <a16:creationId xmlns:a16="http://schemas.microsoft.com/office/drawing/2014/main" id="{DA3C11B9-E234-B44D-AE70-AAD2A9D0AD9E}"/>
              </a:ext>
            </a:extLst>
          </p:cNvPr>
          <p:cNvSpPr txBox="1"/>
          <p:nvPr/>
        </p:nvSpPr>
        <p:spPr>
          <a:xfrm>
            <a:off x="0" y="295761"/>
            <a:ext cx="914400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The Influence of Technological Advances</a:t>
            </a:r>
          </a:p>
        </p:txBody>
      </p:sp>
      <p:sp>
        <p:nvSpPr>
          <p:cNvPr id="4" name="Rectangle 3">
            <a:extLst>
              <a:ext uri="{FF2B5EF4-FFF2-40B4-BE49-F238E27FC236}">
                <a16:creationId xmlns:a16="http://schemas.microsoft.com/office/drawing/2014/main" id="{2AF393C6-1414-6247-8304-3C5C2A41F6D2}"/>
              </a:ext>
            </a:extLst>
          </p:cNvPr>
          <p:cNvSpPr/>
          <p:nvPr/>
        </p:nvSpPr>
        <p:spPr>
          <a:xfrm>
            <a:off x="128016" y="1243065"/>
            <a:ext cx="9015984" cy="2677656"/>
          </a:xfrm>
          <a:prstGeom prst="rect">
            <a:avLst/>
          </a:prstGeom>
        </p:spPr>
        <p:txBody>
          <a:bodyPr wrap="square">
            <a:spAutoFit/>
          </a:bodyPr>
          <a:lstStyle/>
          <a:p>
            <a:pPr marL="457200" indent="-457200">
              <a:buFont typeface="Arial" panose="020B0604020202020204" pitchFamily="34" charset="0"/>
              <a:buChar char="•"/>
            </a:pPr>
            <a:r>
              <a:rPr lang="en-US" sz="2400" b="1" dirty="0"/>
              <a:t>Model Driven Architecture (MDA)</a:t>
            </a:r>
          </a:p>
          <a:p>
            <a:pPr marL="914400" lvl="1" indent="-457200">
              <a:buFont typeface="Arial" panose="020B0604020202020204" pitchFamily="34" charset="0"/>
              <a:buChar char="•"/>
            </a:pPr>
            <a:r>
              <a:rPr lang="en-US" sz="2400" dirty="0"/>
              <a:t>Model Driven Architecture refers to an approach to the production of executable software directly from a set of design models, without the intervention of a human programmer.</a:t>
            </a:r>
          </a:p>
          <a:p>
            <a:pPr marL="914400" lvl="1" indent="-457200">
              <a:buFont typeface="Arial" panose="020B0604020202020204" pitchFamily="34" charset="0"/>
              <a:buChar char="•"/>
            </a:pPr>
            <a:r>
              <a:rPr lang="en-US" sz="2400" dirty="0"/>
              <a:t>A major advantage of this approach, from the perspective of the development team, is that the model and the physical system it represents are kept synchronized.</a:t>
            </a:r>
          </a:p>
        </p:txBody>
      </p:sp>
      <p:pic>
        <p:nvPicPr>
          <p:cNvPr id="2" name="Picture 1"/>
          <p:cNvPicPr>
            <a:picLocks noChangeAspect="1"/>
          </p:cNvPicPr>
          <p:nvPr/>
        </p:nvPicPr>
        <p:blipFill>
          <a:blip r:embed="rId3"/>
          <a:stretch>
            <a:fillRect/>
          </a:stretch>
        </p:blipFill>
        <p:spPr>
          <a:xfrm>
            <a:off x="289011" y="3938519"/>
            <a:ext cx="8690373" cy="2647561"/>
          </a:xfrm>
          <a:prstGeom prst="rect">
            <a:avLst/>
          </a:prstGeom>
        </p:spPr>
      </p:pic>
    </p:spTree>
    <p:extLst>
      <p:ext uri="{BB962C8B-B14F-4D97-AF65-F5344CB8AC3E}">
        <p14:creationId xmlns:p14="http://schemas.microsoft.com/office/powerpoint/2010/main" val="516669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3146</TotalTime>
  <Words>1437</Words>
  <Application>Microsoft Macintosh PowerPoint</Application>
  <PresentationFormat>On-screen Show (4:3)</PresentationFormat>
  <Paragraphs>89</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DINNextLTPro</vt:lpstr>
      <vt:lpstr>Lato</vt:lpstr>
      <vt:lpstr>Lato Heavy</vt:lpstr>
      <vt:lpstr>Lato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ITB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IF4043 Sistem Informasi Lanjut</dc:title>
  <dc:creator>W G</dc:creator>
  <cp:lastModifiedBy>Dicky Prima Satya, S.T, M.T.</cp:lastModifiedBy>
  <cp:revision>66</cp:revision>
  <dcterms:created xsi:type="dcterms:W3CDTF">2016-08-24T04:55:45Z</dcterms:created>
  <dcterms:modified xsi:type="dcterms:W3CDTF">2025-04-23T02:24:38Z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2023-10-24T02:16:01Z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e66ca9cd-5f99-4b37-a798-e916e16350fd</vt:lpwstr>
  </property>
  <property fmtid="{D5CDD505-2E9C-101B-9397-08002B2CF9AE}" pid="8" name="MSIP_Label_38b525e5-f3da-4501-8f1e-526b6769fc56_ContentBits">
    <vt:lpwstr>0</vt:lpwstr>
  </property>
</Properties>
</file>