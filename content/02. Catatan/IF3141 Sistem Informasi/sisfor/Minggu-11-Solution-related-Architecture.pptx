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embeddedFontLst>
    <p:embeddedFont>
      <p:font typeface="Lato" panose="020F0502020204030203" pitchFamily="34" charset="0"/>
      <p:regular r:id="rId35"/>
      <p:bold r:id="rId36"/>
      <p:italic r:id="rId37"/>
      <p:boldItalic r:id="rId38"/>
    </p:embeddedFont>
    <p:embeddedFont>
      <p:font typeface="Lato Black" panose="020F0502020204030203" pitchFamily="34" charset="0"/>
      <p:bold r:id="rId39"/>
      <p:italic r:id="rId40"/>
      <p:boldItalic r:id="rId41"/>
    </p:embeddedFont>
    <p:embeddedFont>
      <p:font typeface="Lato Light" panose="020F0502020204030203"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I34y/NcE5aloWix/3V+96a2LDm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40"/>
  </p:normalViewPr>
  <p:slideViewPr>
    <p:cSldViewPr snapToGrid="0">
      <p:cViewPr varScale="1">
        <p:scale>
          <a:sx n="116" d="100"/>
          <a:sy n="116" d="100"/>
        </p:scale>
        <p:origin x="176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01" name="Google Shape;10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17" name="Google Shape;11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25" name="Google Shape;12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33" name="Google Shape;13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41" name="Google Shape;14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49" name="Google Shape;14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57" name="Google Shape;15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65" name="Google Shape;16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73" name="Google Shape;17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81" name="Google Shape;18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89" name="Google Shape;18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97" name="Google Shape;19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05" name="Google Shape;20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14" name="Google Shape;21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22" name="Google Shape;22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30" name="Google Shape;23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38" name="Google Shape;23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46" name="Google Shape;24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54" name="Google Shape;2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64" name="Google Shape;26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73" name="Google Shape;273;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81" name="Google Shape;281;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89" name="Google Shape;28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97" name="Google Shape;297;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11" name="Google Shape;31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19" name="Google Shape;31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27" name="Google Shape;327;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35" name="Google Shape;33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43" name="Google Shape;343;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51" name="Google Shape;35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sign">
  <p:cSld name="Design">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Design">
  <p:cSld name="3_Design">
    <p:spTree>
      <p:nvGrpSpPr>
        <p:cNvPr id="1" name="Shape 16"/>
        <p:cNvGrpSpPr/>
        <p:nvPr/>
      </p:nvGrpSpPr>
      <p:grpSpPr>
        <a:xfrm>
          <a:off x="0" y="0"/>
          <a:ext cx="0" cy="0"/>
          <a:chOff x="0" y="0"/>
          <a:chExt cx="0" cy="0"/>
        </a:xfrm>
      </p:grpSpPr>
      <p:sp>
        <p:nvSpPr>
          <p:cNvPr id="17" name="Google Shape;17;p35"/>
          <p:cNvSpPr>
            <a:spLocks noGrp="1"/>
          </p:cNvSpPr>
          <p:nvPr>
            <p:ph type="pic" idx="2"/>
          </p:nvPr>
        </p:nvSpPr>
        <p:spPr>
          <a:xfrm>
            <a:off x="4658500" y="3429001"/>
            <a:ext cx="4485500" cy="3429000"/>
          </a:xfrm>
          <a:prstGeom prst="rect">
            <a:avLst/>
          </a:prstGeom>
          <a:solidFill>
            <a:srgbClr val="F2F2F2"/>
          </a:solidFill>
          <a:ln>
            <a:noFill/>
          </a:ln>
        </p:spPr>
      </p:sp>
      <p:sp>
        <p:nvSpPr>
          <p:cNvPr id="18" name="Google Shape;18;p35"/>
          <p:cNvSpPr>
            <a:spLocks noGrp="1"/>
          </p:cNvSpPr>
          <p:nvPr>
            <p:ph type="pic" idx="3"/>
          </p:nvPr>
        </p:nvSpPr>
        <p:spPr>
          <a:xfrm>
            <a:off x="0" y="3429001"/>
            <a:ext cx="4485500" cy="3429000"/>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5" name="Google Shape;65;p4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4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44"/>
          <p:cNvSpPr>
            <a:spLocks noGrp="1"/>
          </p:cNvSpPr>
          <p:nvPr>
            <p:ph type="pic" idx="2"/>
          </p:nvPr>
        </p:nvSpPr>
        <p:spPr>
          <a:xfrm>
            <a:off x="1792288" y="612775"/>
            <a:ext cx="5486400" cy="4114800"/>
          </a:xfrm>
          <a:prstGeom prst="rect">
            <a:avLst/>
          </a:prstGeom>
          <a:noFill/>
          <a:ln>
            <a:noFill/>
          </a:ln>
        </p:spPr>
      </p:sp>
      <p:sp>
        <p:nvSpPr>
          <p:cNvPr id="72" name="Google Shape;72;p4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p:nvPr/>
        </p:nvSpPr>
        <p:spPr>
          <a:xfrm>
            <a:off x="0" y="461665"/>
            <a:ext cx="9143999" cy="609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ato Light"/>
              <a:ea typeface="Lato Light"/>
              <a:cs typeface="Lato Light"/>
              <a:sym typeface="Lato Light"/>
            </a:endParaRPr>
          </a:p>
        </p:txBody>
      </p:sp>
      <p:grpSp>
        <p:nvGrpSpPr>
          <p:cNvPr id="94" name="Google Shape;94;p1"/>
          <p:cNvGrpSpPr/>
          <p:nvPr/>
        </p:nvGrpSpPr>
        <p:grpSpPr>
          <a:xfrm>
            <a:off x="597195" y="1489570"/>
            <a:ext cx="8546804" cy="3139320"/>
            <a:chOff x="597195" y="1417888"/>
            <a:chExt cx="5391623" cy="3139320"/>
          </a:xfrm>
        </p:grpSpPr>
        <p:sp>
          <p:nvSpPr>
            <p:cNvPr id="95" name="Google Shape;95;p1"/>
            <p:cNvSpPr txBox="1"/>
            <p:nvPr/>
          </p:nvSpPr>
          <p:spPr>
            <a:xfrm>
              <a:off x="597195" y="1417888"/>
              <a:ext cx="5391623"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chemeClr val="lt1"/>
                  </a:solidFill>
                  <a:latin typeface="Lato Black"/>
                  <a:ea typeface="Lato Black"/>
                  <a:cs typeface="Lato Black"/>
                  <a:sym typeface="Lato Black"/>
                </a:rPr>
                <a:t>IF3141</a:t>
              </a:r>
              <a:endParaRPr/>
            </a:p>
            <a:p>
              <a:pPr marL="0" marR="0" lvl="0" indent="0" algn="l" rtl="0">
                <a:spcBef>
                  <a:spcPts val="0"/>
                </a:spcBef>
                <a:spcAft>
                  <a:spcPts val="0"/>
                </a:spcAft>
                <a:buNone/>
              </a:pPr>
              <a:r>
                <a:rPr lang="en-US" sz="5400" b="1">
                  <a:solidFill>
                    <a:schemeClr val="lt1"/>
                  </a:solidFill>
                  <a:latin typeface="Lato Black"/>
                  <a:ea typeface="Lato Black"/>
                  <a:cs typeface="Lato Black"/>
                  <a:sym typeface="Lato Black"/>
                </a:rPr>
                <a:t>SISTEM INFORMASI</a:t>
              </a:r>
              <a:endParaRPr/>
            </a:p>
            <a:p>
              <a:pPr marL="0" marR="0" lvl="0" indent="0" algn="l" rtl="0">
                <a:spcBef>
                  <a:spcPts val="0"/>
                </a:spcBef>
                <a:spcAft>
                  <a:spcPts val="0"/>
                </a:spcAft>
                <a:buNone/>
              </a:pPr>
              <a:r>
                <a:rPr lang="en-US" sz="3200" b="1">
                  <a:solidFill>
                    <a:schemeClr val="lt1"/>
                  </a:solidFill>
                  <a:latin typeface="Lato Black"/>
                  <a:ea typeface="Lato Black"/>
                  <a:cs typeface="Lato Black"/>
                  <a:sym typeface="Lato Black"/>
                </a:rPr>
                <a:t>Solution-related Achitecture</a:t>
              </a:r>
              <a:endParaRPr sz="4000" b="1">
                <a:solidFill>
                  <a:schemeClr val="lt1"/>
                </a:solidFill>
                <a:latin typeface="Lato Black"/>
                <a:ea typeface="Lato Black"/>
                <a:cs typeface="Lato Black"/>
                <a:sym typeface="Lato Black"/>
              </a:endParaRPr>
            </a:p>
          </p:txBody>
        </p:sp>
        <p:sp>
          <p:nvSpPr>
            <p:cNvPr id="96" name="Google Shape;96;p1"/>
            <p:cNvSpPr/>
            <p:nvPr/>
          </p:nvSpPr>
          <p:spPr>
            <a:xfrm>
              <a:off x="607242" y="3972433"/>
              <a:ext cx="53815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rgbClr val="B7CCE4"/>
                  </a:solidFill>
                  <a:latin typeface="Lato"/>
                  <a:ea typeface="Lato"/>
                  <a:cs typeface="Lato"/>
                  <a:sym typeface="Lato"/>
                </a:rPr>
                <a:t>Semester </a:t>
              </a:r>
              <a:r>
                <a:rPr lang="en-US" sz="3200">
                  <a:solidFill>
                    <a:srgbClr val="B7CCE4"/>
                  </a:solidFill>
                  <a:latin typeface="Lato"/>
                  <a:ea typeface="Lato"/>
                  <a:cs typeface="Lato"/>
                  <a:sym typeface="Lato"/>
                </a:rPr>
                <a:t>I 2024/2025</a:t>
              </a:r>
              <a:endParaRPr sz="3200" dirty="0">
                <a:solidFill>
                  <a:srgbClr val="B7CCE4"/>
                </a:solidFill>
                <a:latin typeface="Lato"/>
                <a:ea typeface="Lato"/>
                <a:cs typeface="Lato"/>
                <a:sym typeface="Lato"/>
              </a:endParaRPr>
            </a:p>
          </p:txBody>
        </p:sp>
      </p:grpSp>
      <p:sp>
        <p:nvSpPr>
          <p:cNvPr id="97" name="Google Shape;97;p1"/>
          <p:cNvSpPr/>
          <p:nvPr/>
        </p:nvSpPr>
        <p:spPr>
          <a:xfrm>
            <a:off x="597195" y="6217230"/>
            <a:ext cx="3762104" cy="46166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rgbClr val="7F7F7F"/>
                </a:solidFill>
                <a:latin typeface="Lato"/>
                <a:ea typeface="Lato"/>
                <a:cs typeface="Lato"/>
                <a:sym typeface="Lato"/>
              </a:rPr>
              <a:t>IF3141 </a:t>
            </a:r>
            <a:r>
              <a:rPr lang="en-US" sz="1600" b="1">
                <a:solidFill>
                  <a:srgbClr val="7F7F7F"/>
                </a:solidFill>
                <a:latin typeface="Lato"/>
                <a:ea typeface="Lato"/>
                <a:cs typeface="Lato"/>
                <a:sym typeface="Lato"/>
              </a:rPr>
              <a:t>|</a:t>
            </a:r>
            <a:r>
              <a:rPr lang="en-US" sz="1200" b="1">
                <a:solidFill>
                  <a:srgbClr val="7F7F7F"/>
                </a:solidFill>
                <a:latin typeface="Lato"/>
                <a:ea typeface="Lato"/>
                <a:cs typeface="Lato"/>
                <a:sym typeface="Lato"/>
              </a:rPr>
              <a:t> </a:t>
            </a:r>
            <a:r>
              <a:rPr lang="en-US" sz="1200">
                <a:solidFill>
                  <a:srgbClr val="7F7F7F"/>
                </a:solidFill>
                <a:latin typeface="Lato"/>
                <a:ea typeface="Lato"/>
                <a:cs typeface="Lato"/>
                <a:sym typeface="Lato"/>
              </a:rPr>
              <a:t>TEKNIK INFORMATIKA ITB</a:t>
            </a:r>
            <a:endParaRPr sz="1200">
              <a:solidFill>
                <a:srgbClr val="7F7F7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04" name="Google Shape;104;p2"/>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What is Architecture?</a:t>
            </a:r>
            <a:endParaRPr sz="3600" b="1">
              <a:solidFill>
                <a:schemeClr val="lt1"/>
              </a:solidFill>
              <a:latin typeface="Lato"/>
              <a:ea typeface="Lato"/>
              <a:cs typeface="Lato"/>
              <a:sym typeface="Lato"/>
            </a:endParaRPr>
          </a:p>
        </p:txBody>
      </p:sp>
      <p:sp>
        <p:nvSpPr>
          <p:cNvPr id="105" name="Google Shape;105;p2"/>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Anything that we can classify as a system has an architecture, including buildings, living organisms (including humans), organisations, complex enterprise IT systems, software applications and individual components of those. </a:t>
            </a: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ISO/IEC 42010:20111 ‘Systems and software engineering – Architecture description’ standard: </a:t>
            </a:r>
            <a:endParaRPr sz="2400">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 fundamental organization of a system embodied in its </a:t>
            </a:r>
            <a:r>
              <a:rPr lang="en-US" sz="2400" b="1" i="0" u="none" strike="noStrike" cap="none">
                <a:solidFill>
                  <a:schemeClr val="dk1"/>
                </a:solidFill>
                <a:latin typeface="Calibri"/>
                <a:ea typeface="Calibri"/>
                <a:cs typeface="Calibri"/>
                <a:sym typeface="Calibri"/>
              </a:rPr>
              <a:t>components</a:t>
            </a:r>
            <a:r>
              <a:rPr lang="en-US" sz="2400" b="0" i="0" u="none" strike="noStrike" cap="none">
                <a:solidFill>
                  <a:schemeClr val="dk1"/>
                </a:solidFill>
                <a:latin typeface="Calibri"/>
                <a:ea typeface="Calibri"/>
                <a:cs typeface="Calibri"/>
                <a:sym typeface="Calibri"/>
              </a:rPr>
              <a:t>, their </a:t>
            </a:r>
            <a:r>
              <a:rPr lang="en-US" sz="2400" b="1" i="0" u="none" strike="noStrike" cap="none">
                <a:solidFill>
                  <a:schemeClr val="dk1"/>
                </a:solidFill>
                <a:latin typeface="Calibri"/>
                <a:ea typeface="Calibri"/>
                <a:cs typeface="Calibri"/>
                <a:sym typeface="Calibri"/>
              </a:rPr>
              <a:t>relationships to each other</a:t>
            </a:r>
            <a:r>
              <a:rPr lang="en-US" sz="2400" b="0" i="0" u="none" strike="noStrike" cap="none">
                <a:solidFill>
                  <a:schemeClr val="dk1"/>
                </a:solidFill>
                <a:latin typeface="Calibri"/>
                <a:ea typeface="Calibri"/>
                <a:cs typeface="Calibri"/>
                <a:sym typeface="Calibri"/>
              </a:rPr>
              <a:t>, and to the </a:t>
            </a:r>
            <a:r>
              <a:rPr lang="en-US" sz="2400" b="1" i="0" u="none" strike="noStrike" cap="none">
                <a:solidFill>
                  <a:schemeClr val="dk1"/>
                </a:solidFill>
                <a:latin typeface="Calibri"/>
                <a:ea typeface="Calibri"/>
                <a:cs typeface="Calibri"/>
                <a:sym typeface="Calibri"/>
              </a:rPr>
              <a:t>environment</a:t>
            </a:r>
            <a:r>
              <a:rPr lang="en-US" sz="2400" b="0" i="0" u="none" strike="noStrike" cap="none">
                <a:solidFill>
                  <a:schemeClr val="dk1"/>
                </a:solidFill>
                <a:latin typeface="Calibri"/>
                <a:ea typeface="Calibri"/>
                <a:cs typeface="Calibri"/>
                <a:sym typeface="Calibri"/>
              </a:rPr>
              <a:t>, and the </a:t>
            </a:r>
            <a:r>
              <a:rPr lang="en-US" sz="2400" b="1" i="0" u="none" strike="noStrike" cap="none">
                <a:solidFill>
                  <a:schemeClr val="dk1"/>
                </a:solidFill>
                <a:latin typeface="Calibri"/>
                <a:ea typeface="Calibri"/>
                <a:cs typeface="Calibri"/>
                <a:sym typeface="Calibri"/>
              </a:rPr>
              <a:t>principles</a:t>
            </a:r>
            <a:r>
              <a:rPr lang="en-US" sz="2400" b="0" i="0" u="none" strike="noStrike" cap="none">
                <a:solidFill>
                  <a:schemeClr val="dk1"/>
                </a:solidFill>
                <a:latin typeface="Calibri"/>
                <a:ea typeface="Calibri"/>
                <a:cs typeface="Calibri"/>
                <a:sym typeface="Calibri"/>
              </a:rPr>
              <a:t> guiding its design and evolution.’</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objective of anyone working on architecture is to determine the appropriate way in which to represent this architecture description; and this is often in the form of documentation containing an appropriate set of models.</a:t>
            </a:r>
            <a:endParaRPr sz="2400">
              <a:solidFill>
                <a:schemeClr val="dk1"/>
              </a:solidFill>
              <a:latin typeface="Calibri"/>
              <a:ea typeface="Calibri"/>
              <a:cs typeface="Calibri"/>
              <a:sym typeface="Calibri"/>
            </a:endParaRPr>
          </a:p>
          <a:p>
            <a:pPr marL="457200" marR="0" lvl="0" indent="-3048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12" name="Google Shape;112;p3"/>
          <p:cNvSpPr txBox="1"/>
          <p:nvPr/>
        </p:nvSpPr>
        <p:spPr>
          <a:xfrm>
            <a:off x="570160" y="295761"/>
            <a:ext cx="806584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Lato"/>
                <a:ea typeface="Lato"/>
                <a:cs typeface="Lato"/>
                <a:sym typeface="Lato"/>
              </a:rPr>
              <a:t>Architecture is more than just structure</a:t>
            </a:r>
            <a:endParaRPr sz="3200" b="1">
              <a:solidFill>
                <a:schemeClr val="lt1"/>
              </a:solidFill>
              <a:latin typeface="Lato"/>
              <a:ea typeface="Lato"/>
              <a:cs typeface="Lato"/>
              <a:sym typeface="Lato"/>
            </a:endParaRPr>
          </a:p>
        </p:txBody>
      </p:sp>
      <p:sp>
        <p:nvSpPr>
          <p:cNvPr id="113" name="Google Shape;113;p3"/>
          <p:cNvSpPr/>
          <p:nvPr/>
        </p:nvSpPr>
        <p:spPr>
          <a:xfrm>
            <a:off x="128016" y="1243065"/>
            <a:ext cx="9015984" cy="378565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is worth re-reading the ISO 42010 definition again, particularly the last part; </a:t>
            </a:r>
            <a:r>
              <a:rPr lang="en-US" sz="2400" b="1">
                <a:solidFill>
                  <a:schemeClr val="dk1"/>
                </a:solidFill>
                <a:latin typeface="Calibri"/>
                <a:ea typeface="Calibri"/>
                <a:cs typeface="Calibri"/>
                <a:sym typeface="Calibri"/>
              </a:rPr>
              <a:t>‘… and the principles guiding its design and evolution’</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This emphasises that an architecture includes aspects such as requirements and constraints (in particular architecture principles) that inform what that architecture needs to be to satisfy key concerns of major stakeholders.</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While the ISO 42010 standard is specifically aimed at systems and software engineering, the definitions contained are used consistently to refer to related types of architecture.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0" name="Google Shape;120;p4"/>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Patterns</a:t>
            </a:r>
            <a:endParaRPr/>
          </a:p>
        </p:txBody>
      </p:sp>
      <p:sp>
        <p:nvSpPr>
          <p:cNvPr id="121" name="Google Shape;121;p4"/>
          <p:cNvSpPr/>
          <p:nvPr/>
        </p:nvSpPr>
        <p:spPr>
          <a:xfrm>
            <a:off x="128016" y="1243065"/>
            <a:ext cx="9015984" cy="489364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Architecture structures are typically models and there are some fundamental patterns that apply in various contexts</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Four patterns: modular architecture, loosely coupled architecture, tiered/layered architecture, hierarchical architecture</a:t>
            </a:r>
            <a:endParaRPr/>
          </a:p>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Modular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Structured programming languages and tools introduced the ability to write software library modules containing routines that dealt with such issues that could be shared and invoked by multiple executables, although these would often be statically linked into a single executable during compilation and linking; this meant that a change to one of these modules would require that all executables that used it would need to be recompiled.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8" name="Google Shape;128;p5"/>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Patterns</a:t>
            </a:r>
            <a:endParaRPr/>
          </a:p>
        </p:txBody>
      </p:sp>
      <p:sp>
        <p:nvSpPr>
          <p:cNvPr id="129" name="Google Shape;129;p5"/>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Loosely coupled architecture</a:t>
            </a:r>
            <a:endParaRPr/>
          </a:p>
          <a:p>
            <a:pPr marL="914400" marR="0" lvl="1" indent="-457200" algn="l" rtl="0">
              <a:spcBef>
                <a:spcPts val="0"/>
              </a:spcBef>
              <a:spcAft>
                <a:spcPts val="0"/>
              </a:spcAft>
              <a:buClr>
                <a:schemeClr val="dk1"/>
              </a:buClr>
              <a:buSzPts val="2400"/>
              <a:buFont typeface="Arial"/>
              <a:buChar char="•"/>
            </a:pPr>
            <a:r>
              <a:rPr lang="en-US" sz="2400" b="1" i="0" u="none" strike="noStrike" cap="none">
                <a:solidFill>
                  <a:schemeClr val="dk1"/>
                </a:solidFill>
                <a:latin typeface="Calibri"/>
                <a:ea typeface="Calibri"/>
                <a:cs typeface="Calibri"/>
                <a:sym typeface="Calibri"/>
              </a:rPr>
              <a:t>Coupling is a term used to refer to the level of dependency </a:t>
            </a:r>
            <a:r>
              <a:rPr lang="en-US" sz="2400" b="0" i="0" u="none" strike="noStrike" cap="none">
                <a:solidFill>
                  <a:schemeClr val="dk1"/>
                </a:solidFill>
                <a:latin typeface="Calibri"/>
                <a:ea typeface="Calibri"/>
                <a:cs typeface="Calibri"/>
                <a:sym typeface="Calibri"/>
              </a:rPr>
              <a:t>between two software components, although the term applies equally to hardware components. The earlier modules described above tended to have a high level of dependency, in other words they were tightly coupled. </a:t>
            </a:r>
            <a:endParaRPr sz="2400" b="0" i="0" u="none" strike="noStrike" cap="none">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‘Coupling and cohesion’ are often used in the same phrase. As we have seen, </a:t>
            </a:r>
            <a:r>
              <a:rPr lang="en-US" sz="2400" b="1" i="0" u="none" strike="noStrike" cap="none">
                <a:solidFill>
                  <a:schemeClr val="dk1"/>
                </a:solidFill>
                <a:latin typeface="Calibri"/>
                <a:ea typeface="Calibri"/>
                <a:cs typeface="Calibri"/>
                <a:sym typeface="Calibri"/>
              </a:rPr>
              <a:t>coupling relates to how dependent modules are on each other.</a:t>
            </a:r>
            <a:r>
              <a:rPr lang="en-US" sz="2400" b="0" i="0" u="none" strike="noStrike" cap="none">
                <a:solidFill>
                  <a:schemeClr val="dk1"/>
                </a:solidFill>
                <a:latin typeface="Calibri"/>
                <a:ea typeface="Calibri"/>
                <a:cs typeface="Calibri"/>
                <a:sym typeface="Calibri"/>
              </a:rPr>
              <a:t> </a:t>
            </a:r>
            <a:r>
              <a:rPr lang="en-US" sz="2400" b="1" i="0" u="none" strike="noStrike" cap="none">
                <a:solidFill>
                  <a:schemeClr val="dk1"/>
                </a:solidFill>
                <a:latin typeface="Calibri"/>
                <a:ea typeface="Calibri"/>
                <a:cs typeface="Calibri"/>
                <a:sym typeface="Calibri"/>
              </a:rPr>
              <a:t>Cohesion</a:t>
            </a:r>
            <a:r>
              <a:rPr lang="en-US" sz="2400" b="0" i="0" u="none" strike="noStrike" cap="none">
                <a:solidFill>
                  <a:schemeClr val="dk1"/>
                </a:solidFill>
                <a:latin typeface="Calibri"/>
                <a:ea typeface="Calibri"/>
                <a:cs typeface="Calibri"/>
                <a:sym typeface="Calibri"/>
              </a:rPr>
              <a:t> looks at how closely modular </a:t>
            </a:r>
            <a:r>
              <a:rPr lang="en-US" sz="2400" b="1" i="0" u="none" strike="noStrike" cap="none">
                <a:solidFill>
                  <a:schemeClr val="dk1"/>
                </a:solidFill>
                <a:latin typeface="Calibri"/>
                <a:ea typeface="Calibri"/>
                <a:cs typeface="Calibri"/>
                <a:sym typeface="Calibri"/>
              </a:rPr>
              <a:t>elements need to operate or be changed together</a:t>
            </a:r>
            <a:r>
              <a:rPr lang="en-US" sz="2400" b="0" i="0" u="none" strike="noStrike" cap="none">
                <a:solidFill>
                  <a:schemeClr val="dk1"/>
                </a:solidFill>
                <a:latin typeface="Calibri"/>
                <a:ea typeface="Calibri"/>
                <a:cs typeface="Calibri"/>
                <a:sym typeface="Calibri"/>
              </a:rPr>
              <a:t>; where this is the case, then there is high cohesion (and probably tight coupling). It is less problematic if these modules are co-located within the same coarser-grained component, which means that they will be deployed and maintained together.</a:t>
            </a:r>
            <a:endParaRPr sz="2400" b="0" i="0" u="none" strike="noStrike" cap="none">
              <a:solidFill>
                <a:schemeClr val="dk1"/>
              </a:solidFill>
              <a:latin typeface="Calibri"/>
              <a:ea typeface="Calibri"/>
              <a:cs typeface="Calibri"/>
              <a:sym typeface="Calibri"/>
            </a:endParaRPr>
          </a:p>
          <a:p>
            <a:pPr marL="914400" marR="0" lvl="1" indent="-304800" algn="l" rtl="0">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36" name="Google Shape;136;p6"/>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Patterns</a:t>
            </a:r>
            <a:endParaRPr/>
          </a:p>
        </p:txBody>
      </p:sp>
      <p:pic>
        <p:nvPicPr>
          <p:cNvPr id="137" name="Google Shape;137;p6"/>
          <p:cNvPicPr preferRelativeResize="0"/>
          <p:nvPr/>
        </p:nvPicPr>
        <p:blipFill rotWithShape="1">
          <a:blip r:embed="rId3">
            <a:alphaModFix/>
          </a:blip>
          <a:srcRect/>
          <a:stretch/>
        </p:blipFill>
        <p:spPr>
          <a:xfrm>
            <a:off x="348127" y="1704730"/>
            <a:ext cx="8444714" cy="41581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44" name="Google Shape;144;p7"/>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Patterns</a:t>
            </a:r>
            <a:endParaRPr/>
          </a:p>
        </p:txBody>
      </p:sp>
      <p:sp>
        <p:nvSpPr>
          <p:cNvPr id="145" name="Google Shape;145;p7"/>
          <p:cNvSpPr/>
          <p:nvPr/>
        </p:nvSpPr>
        <p:spPr>
          <a:xfrm>
            <a:off x="128016" y="1243065"/>
            <a:ext cx="9015984" cy="526297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Tiered/layered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There are different kinds of functional elements in any solution or software architecture based upon its responsibilities; for example, those that represent and manipulate data as compared with those that handle the system’s interface. These can be organised into distinct layers or tiers of modules with similar responsibilities.</a:t>
            </a:r>
            <a:endParaRPr sz="24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Hierarchical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It is preferable in layered architectures the higher layer is dependent on the services provided by the layer below, but not vice versa. This provides flexibility in that components at one layer can be servicing multiple clients at the layer above; for example, application components sharing common infrastructure services (and their underlying components).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52" name="Google Shape;152;p8"/>
          <p:cNvSpPr txBox="1"/>
          <p:nvPr/>
        </p:nvSpPr>
        <p:spPr>
          <a:xfrm>
            <a:off x="570160" y="295761"/>
            <a:ext cx="806584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Lato"/>
                <a:ea typeface="Lato"/>
                <a:cs typeface="Lato"/>
                <a:sym typeface="Lato"/>
              </a:rPr>
              <a:t>Communication and Interoperation Patterns</a:t>
            </a:r>
            <a:endParaRPr/>
          </a:p>
        </p:txBody>
      </p:sp>
      <p:sp>
        <p:nvSpPr>
          <p:cNvPr id="153" name="Google Shape;153;p8"/>
          <p:cNvSpPr/>
          <p:nvPr/>
        </p:nvSpPr>
        <p:spPr>
          <a:xfrm>
            <a:off x="128016" y="1243065"/>
            <a:ext cx="9015984" cy="2677656"/>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Point-to-Point</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Point-to-Point tends to be tightly coupled, as the components are specifically linked logically or physically and they need to share common protocols, data formats and so forth. Problems arise when multiple point-to-points are required to connect a number of nodes, as the number of links required potentially increase exponentially when new components are added.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60" name="Google Shape;160;p9"/>
          <p:cNvSpPr txBox="1"/>
          <p:nvPr/>
        </p:nvSpPr>
        <p:spPr>
          <a:xfrm>
            <a:off x="570160" y="295761"/>
            <a:ext cx="806584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Lato"/>
                <a:ea typeface="Lato"/>
                <a:cs typeface="Lato"/>
                <a:sym typeface="Lato"/>
              </a:rPr>
              <a:t>Communication and Interoperation Patterns</a:t>
            </a:r>
            <a:endParaRPr/>
          </a:p>
        </p:txBody>
      </p:sp>
      <p:sp>
        <p:nvSpPr>
          <p:cNvPr id="161" name="Google Shape;161;p9"/>
          <p:cNvSpPr/>
          <p:nvPr/>
        </p:nvSpPr>
        <p:spPr>
          <a:xfrm>
            <a:off x="128016" y="1243065"/>
            <a:ext cx="9015984" cy="520142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Hub-and-Spoke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Where a significant number of components need to interoperate, this can be set up as a </a:t>
            </a:r>
            <a:r>
              <a:rPr lang="en-US" sz="2200" b="1" i="0" u="none" strike="noStrike" cap="none">
                <a:solidFill>
                  <a:schemeClr val="dk1"/>
                </a:solidFill>
                <a:latin typeface="Calibri"/>
                <a:ea typeface="Calibri"/>
                <a:cs typeface="Calibri"/>
                <a:sym typeface="Calibri"/>
              </a:rPr>
              <a:t>set of point-to-point connections between each component and a single hub component</a:t>
            </a:r>
            <a:r>
              <a:rPr lang="en-US" sz="2200" b="0" i="0" u="none" strike="noStrike" cap="none">
                <a:solidFill>
                  <a:schemeClr val="dk1"/>
                </a:solidFill>
                <a:latin typeface="Calibri"/>
                <a:ea typeface="Calibri"/>
                <a:cs typeface="Calibri"/>
                <a:sym typeface="Calibri"/>
              </a:rPr>
              <a:t>. This component primarily exists to provide the means of connecting any component with any other. In doing so, the hub is potentially de-coupling each component pair to some extent and it can achieve this, first, by acting as an introduction broker or discovery agent, dynamically linking client to server component pairs on demand.</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The hub can also offer other brokering services such as determining whether the client has security access to the server or by performing translations of communication protocols or data structures. It can even take over some of the logic processing and manage complex distributed transactions, at which point it has become a processing server component in its own right.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68" name="Google Shape;168;p10"/>
          <p:cNvSpPr txBox="1"/>
          <p:nvPr/>
        </p:nvSpPr>
        <p:spPr>
          <a:xfrm>
            <a:off x="570160" y="295761"/>
            <a:ext cx="806584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Lato"/>
                <a:ea typeface="Lato"/>
                <a:cs typeface="Lato"/>
                <a:sym typeface="Lato"/>
              </a:rPr>
              <a:t>Communication and Interoperation Patterns</a:t>
            </a:r>
            <a:endParaRPr/>
          </a:p>
        </p:txBody>
      </p:sp>
      <p:sp>
        <p:nvSpPr>
          <p:cNvPr id="169" name="Google Shape;169;p10"/>
          <p:cNvSpPr/>
          <p:nvPr/>
        </p:nvSpPr>
        <p:spPr>
          <a:xfrm>
            <a:off x="128016" y="1243065"/>
            <a:ext cx="9015984" cy="418576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Service-oriented Architecture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The </a:t>
            </a:r>
            <a:r>
              <a:rPr lang="en-US" sz="2200" b="1" i="0" u="none" strike="noStrike" cap="none">
                <a:solidFill>
                  <a:schemeClr val="dk1"/>
                </a:solidFill>
                <a:latin typeface="Calibri"/>
                <a:ea typeface="Calibri"/>
                <a:cs typeface="Calibri"/>
                <a:sym typeface="Calibri"/>
              </a:rPr>
              <a:t>service-oriented model is fundamentally about how components can be defined by the services they require</a:t>
            </a:r>
            <a:r>
              <a:rPr lang="en-US" sz="2200" b="0" i="0" u="none" strike="noStrike" cap="none">
                <a:solidFill>
                  <a:schemeClr val="dk1"/>
                </a:solidFill>
                <a:latin typeface="Calibri"/>
                <a:ea typeface="Calibri"/>
                <a:cs typeface="Calibri"/>
                <a:sym typeface="Calibri"/>
              </a:rPr>
              <a:t> as a service consumer (or client) and provided as a service provider (server). These components are typically as de-coupled as possible in all aspects.</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This model also applies to how we organise our business functions and it is the model that allows organisations to outsource certain functions, where they are defined, and interoperate according to the services they provide rather than according to how they perform the service. If done properly, it should not be evident to a service consumer whether the service is provided by an internal or an outsourced provider.</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76" name="Google Shape;176;p11"/>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of Architectures</a:t>
            </a:r>
            <a:endParaRPr/>
          </a:p>
        </p:txBody>
      </p:sp>
      <p:sp>
        <p:nvSpPr>
          <p:cNvPr id="177" name="Google Shape;177;p11"/>
          <p:cNvSpPr/>
          <p:nvPr/>
        </p:nvSpPr>
        <p:spPr>
          <a:xfrm>
            <a:off x="128016" y="1243065"/>
            <a:ext cx="9015984" cy="230832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Many related architecture disciplines have evolved over the last 20 years, each focusing on different forms of systems. </a:t>
            </a: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Three levels of granularity:</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Enterprise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Solution Architecture;</a:t>
            </a:r>
            <a:endParaRPr sz="2400" b="0" i="0" u="none" strike="noStrike" cap="none">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Software Architecture.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84" name="Google Shape;184;p12"/>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185" name="Google Shape;185;p12"/>
          <p:cNvSpPr/>
          <p:nvPr/>
        </p:nvSpPr>
        <p:spPr>
          <a:xfrm>
            <a:off x="128016" y="1243065"/>
            <a:ext cx="9015984" cy="5632311"/>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 many organisations, a significant development has been the adoption of enterprise architecture (EA) as typically the highest level and most holistic form of architecture developed and evolved about the organisation (the enterprise) over a strategic timeframe.</a:t>
            </a:r>
            <a:endParaRPr/>
          </a:p>
          <a:p>
            <a:pPr marL="457200" marR="0" lvl="0" indent="-4572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Organisations are fundamentally systems with similar features: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context or environment within which they exist;</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mission, the reason why they exist;</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set of products and/or services that they provide to a customer base; </a:t>
            </a:r>
            <a:endParaRPr sz="2400" b="0" i="0" u="none" strike="noStrike" cap="none">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an organisational structure with individuals fulfilling roles;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set of processes that they execute to conduct their operating model;</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information and data that they process and maintain about their organization (and all the above) for either their own purposes or to meet legal and compliance requirements.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92" name="Google Shape;192;p13"/>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193" name="Google Shape;193;p13"/>
          <p:cNvSpPr/>
          <p:nvPr/>
        </p:nvSpPr>
        <p:spPr>
          <a:xfrm>
            <a:off x="128016" y="1243065"/>
            <a:ext cx="9015984" cy="526297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Strategy versus Tactics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Most important of all, any organisation should have: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vision of what their future context or environment is likely to be and what they want to be in the future to remain relevant to that future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 need therefore to evolve through changes to meet the challenges presented by their constantly changing context or environment</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strategy to achieve that over a period of time.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Enterprise architecture is primarily concerned with these highest-level, long-term, strategic issues. The individual changes conducted to support this strategy can usually be seen as shorter-term, tactical changes, which include some business as usual activities intended to support the strategy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00" name="Google Shape;200;p14"/>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01" name="Google Shape;201;p14"/>
          <p:cNvSpPr/>
          <p:nvPr/>
        </p:nvSpPr>
        <p:spPr>
          <a:xfrm>
            <a:off x="128016" y="1243065"/>
            <a:ext cx="9015984" cy="489364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Architecture domains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Enterprise architecture is usually broken down into distinct architecture domains. EA frameworks relevant to most business or government enterprises typically use the following four domains:</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Business architecture;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Data and/or information architecture;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Application(s) architecture;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Infrastructure or technology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These domains each contain a subset of the overall EA; they are interdependent and there will be overlaps of interest between them</a:t>
            </a:r>
            <a:endParaRPr/>
          </a:p>
          <a:p>
            <a:pPr marL="914400" marR="0" lvl="1" indent="-304800" algn="l" rtl="0">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08" name="Google Shape;208;p15"/>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09" name="Google Shape;209;p15"/>
          <p:cNvSpPr/>
          <p:nvPr/>
        </p:nvSpPr>
        <p:spPr>
          <a:xfrm>
            <a:off x="128016" y="1243065"/>
            <a:ext cx="9015984" cy="46166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Architecture domains</a:t>
            </a:r>
            <a:endParaRPr/>
          </a:p>
        </p:txBody>
      </p:sp>
      <p:pic>
        <p:nvPicPr>
          <p:cNvPr id="210" name="Google Shape;210;p15"/>
          <p:cNvPicPr preferRelativeResize="0"/>
          <p:nvPr/>
        </p:nvPicPr>
        <p:blipFill rotWithShape="1">
          <a:blip r:embed="rId3">
            <a:alphaModFix/>
          </a:blip>
          <a:srcRect/>
          <a:stretch/>
        </p:blipFill>
        <p:spPr>
          <a:xfrm>
            <a:off x="949839" y="1704730"/>
            <a:ext cx="7244323" cy="491745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17" name="Google Shape;217;p16"/>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18" name="Google Shape;218;p16"/>
          <p:cNvSpPr/>
          <p:nvPr/>
        </p:nvSpPr>
        <p:spPr>
          <a:xfrm>
            <a:off x="128016" y="1243065"/>
            <a:ext cx="9015984" cy="5570756"/>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EA processes, content models, organisation and frameworks</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Enterprise architecture function needs to determine:</a:t>
            </a:r>
            <a:endParaRPr/>
          </a:p>
          <a:p>
            <a:pPr marL="1371600" marR="0" lvl="2" indent="-457200" algn="l" rtl="0">
              <a:spcBef>
                <a:spcPts val="0"/>
              </a:spcBef>
              <a:spcAft>
                <a:spcPts val="0"/>
              </a:spcAft>
              <a:buClr>
                <a:schemeClr val="dk1"/>
              </a:buClr>
              <a:buSzPts val="2200"/>
              <a:buFont typeface="Arial"/>
              <a:buChar char="•"/>
            </a:pPr>
            <a:r>
              <a:rPr lang="en-US" sz="2200" b="1" i="0" u="none" strike="noStrike" cap="none">
                <a:solidFill>
                  <a:schemeClr val="dk1"/>
                </a:solidFill>
                <a:latin typeface="Calibri"/>
                <a:ea typeface="Calibri"/>
                <a:cs typeface="Calibri"/>
                <a:sym typeface="Calibri"/>
              </a:rPr>
              <a:t>Organisation</a:t>
            </a:r>
            <a:r>
              <a:rPr lang="en-US" sz="2200" b="0" i="0" u="none" strike="noStrike" cap="none">
                <a:solidFill>
                  <a:schemeClr val="dk1"/>
                </a:solidFill>
                <a:latin typeface="Calibri"/>
                <a:ea typeface="Calibri"/>
                <a:cs typeface="Calibri"/>
                <a:sym typeface="Calibri"/>
              </a:rPr>
              <a:t>: How it is to be organised internally into roles and responsibilities as well as how it will fit within the organisation as a whole.</a:t>
            </a:r>
            <a:endParaRPr/>
          </a:p>
          <a:p>
            <a:pPr marL="1371600" marR="0" lvl="2" indent="-457200" algn="l" rtl="0">
              <a:spcBef>
                <a:spcPts val="0"/>
              </a:spcBef>
              <a:spcAft>
                <a:spcPts val="0"/>
              </a:spcAft>
              <a:buClr>
                <a:schemeClr val="dk1"/>
              </a:buClr>
              <a:buSzPts val="2200"/>
              <a:buFont typeface="Arial"/>
              <a:buChar char="•"/>
            </a:pPr>
            <a:r>
              <a:rPr lang="en-US" sz="2200" b="1" i="0" u="none" strike="noStrike" cap="none">
                <a:solidFill>
                  <a:schemeClr val="dk1"/>
                </a:solidFill>
                <a:latin typeface="Calibri"/>
                <a:ea typeface="Calibri"/>
                <a:cs typeface="Calibri"/>
                <a:sym typeface="Calibri"/>
              </a:rPr>
              <a:t>Process</a:t>
            </a:r>
            <a:r>
              <a:rPr lang="en-US" sz="2200" b="0" i="0" u="none" strike="noStrike" cap="none">
                <a:solidFill>
                  <a:schemeClr val="dk1"/>
                </a:solidFill>
                <a:latin typeface="Calibri"/>
                <a:ea typeface="Calibri"/>
                <a:cs typeface="Calibri"/>
                <a:sym typeface="Calibri"/>
              </a:rPr>
              <a:t>: What activities the EA function is going to perform and when.</a:t>
            </a:r>
            <a:endParaRPr/>
          </a:p>
          <a:p>
            <a:pPr marL="1371600" marR="0" lvl="2" indent="-457200" algn="l" rtl="0">
              <a:spcBef>
                <a:spcPts val="0"/>
              </a:spcBef>
              <a:spcAft>
                <a:spcPts val="0"/>
              </a:spcAft>
              <a:buClr>
                <a:schemeClr val="dk1"/>
              </a:buClr>
              <a:buSzPts val="2200"/>
              <a:buFont typeface="Arial"/>
              <a:buChar char="•"/>
            </a:pPr>
            <a:r>
              <a:rPr lang="en-US" sz="2200" b="1" i="0" u="none" strike="noStrike" cap="none">
                <a:solidFill>
                  <a:schemeClr val="dk1"/>
                </a:solidFill>
                <a:latin typeface="Calibri"/>
                <a:ea typeface="Calibri"/>
                <a:cs typeface="Calibri"/>
                <a:sym typeface="Calibri"/>
              </a:rPr>
              <a:t>Content</a:t>
            </a:r>
            <a:r>
              <a:rPr lang="en-US" sz="2200" b="0" i="0" u="none" strike="noStrike" cap="none">
                <a:solidFill>
                  <a:schemeClr val="dk1"/>
                </a:solidFill>
                <a:latin typeface="Calibri"/>
                <a:ea typeface="Calibri"/>
                <a:cs typeface="Calibri"/>
                <a:sym typeface="Calibri"/>
              </a:rPr>
              <a:t>: What information about the enterprise will be recorded, how it is classified, organised and cross-referenced.</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There are many frameworks available that organisations may adopt and/or adapt to fit their needs: TOGAF, Zachman Framework for EA, FEAF, DODAF, and MODAF</a:t>
            </a:r>
            <a:endParaRPr/>
          </a:p>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EA governance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An important function of EA is to put in place principles and policies that constrain any change in activities to ensure that the strategic objectives are met.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25" name="Google Shape;225;p17"/>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26" name="Google Shape;226;p17"/>
          <p:cNvSpPr/>
          <p:nvPr/>
        </p:nvSpPr>
        <p:spPr>
          <a:xfrm>
            <a:off x="128016" y="1243065"/>
            <a:ext cx="9015984" cy="378565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Architecture Principles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Architecture principles are high-level constraints that are not directly actionable but that represent underlying rules and guidelines that drive the architecture.</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‘Principles are general rules and guidelines, intended to be enduring and seldom amended, that inform and support the way in which an organization sets about fulfilling its mission’ (TOGAF 9.1)</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Architecture principles fill the gap between high-level strategic intentions and concrete design’ </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33" name="Google Shape;233;p18"/>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34" name="Google Shape;234;p18"/>
          <p:cNvSpPr/>
          <p:nvPr/>
        </p:nvSpPr>
        <p:spPr>
          <a:xfrm>
            <a:off x="128016" y="1243065"/>
            <a:ext cx="9015984" cy="526297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Architecture Principles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Principles can be defined that relate to any domain or aspect; for example: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‘business units are autonomous’, is clearly a business domain principle relating to the organisational structure;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‘routine tasks are automated’, relates to business and application domains;</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‘primary business processes are not disturbed by implementation of change’ relates to all domains;</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‘applications have a common look and feel’, relates to application design;</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‘only in response to Business needs are changes to IT systems made’, is actually an application and technology domain-focused principle.</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41" name="Google Shape;241;p19"/>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Enterprise Architecture</a:t>
            </a:r>
            <a:endParaRPr/>
          </a:p>
        </p:txBody>
      </p:sp>
      <p:sp>
        <p:nvSpPr>
          <p:cNvPr id="242" name="Google Shape;242;p19"/>
          <p:cNvSpPr/>
          <p:nvPr/>
        </p:nvSpPr>
        <p:spPr>
          <a:xfrm>
            <a:off x="128016" y="1243065"/>
            <a:ext cx="9015984" cy="5262979"/>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Policies</a:t>
            </a:r>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Policies are needed as a more actionable implementation of the architecture principles. These may include:</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policies that mandate that certain legislation, standards and industry regulations be complied with</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policies on how the change activities will be run</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policies on supplier engagement</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technical policy that limits the choice of technologies to be used to help with standardization</a:t>
            </a:r>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development standards</a:t>
            </a:r>
            <a:endParaRPr sz="24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Governance activities</a:t>
            </a:r>
            <a:endParaRPr sz="2400" b="1">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It is the role of a specific authority (perhaps the EA function) to ensure that the policies are complied with through governance activities</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49" name="Google Shape;249;p20"/>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Solution Architecture</a:t>
            </a:r>
            <a:endParaRPr/>
          </a:p>
        </p:txBody>
      </p:sp>
      <p:sp>
        <p:nvSpPr>
          <p:cNvPr id="250" name="Google Shape;250;p20"/>
          <p:cNvSpPr/>
          <p:nvPr/>
        </p:nvSpPr>
        <p:spPr>
          <a:xfrm>
            <a:off x="128016" y="1243065"/>
            <a:ext cx="9015984" cy="5509200"/>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If EA is for long-term, strategic architecture then solution architecture is a shorter-term, tactical form of architecture. EA guides evolutionary changes to the whole enterprise over a period of time, whereas many of those individual changes will require the oversight of a solution architecture.</a:t>
            </a:r>
            <a:endParaRPr/>
          </a:p>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Holistic solution</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Solution architecture should be distinguished from the conventional design activities. Solution architecture will be a high-level description of the building blocks of the total, holistic solution architecture and how they interface and interoperate to meet the requirements.</a:t>
            </a:r>
            <a:endParaRPr sz="2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Driving and controlling design</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This outlines the work for more detailed design and implementation which then needs to be overseen or governed by the solution architect; if any need to change any of the requirements or building blocks is identified, then they are best placed to analyse the impact across the architecture and resolve any issues.</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57" name="Google Shape;257;p21"/>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Solution Architecture</a:t>
            </a:r>
            <a:endParaRPr/>
          </a:p>
        </p:txBody>
      </p:sp>
      <p:sp>
        <p:nvSpPr>
          <p:cNvPr id="258" name="Google Shape;258;p21"/>
          <p:cNvSpPr/>
          <p:nvPr/>
        </p:nvSpPr>
        <p:spPr>
          <a:xfrm>
            <a:off x="0" y="1243065"/>
            <a:ext cx="3765176" cy="5170646"/>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Architecture domains within Solution Architecture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In most organisations, any solution should be regarded as a business solution.</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There is a consideration how domains describe layers of a hierarchical architecture where each layer provides services to the layer above</a:t>
            </a:r>
            <a:endParaRPr sz="2200" b="0" i="0" u="none" strike="noStrike" cap="none">
              <a:solidFill>
                <a:schemeClr val="dk1"/>
              </a:solidFill>
              <a:latin typeface="Calibri"/>
              <a:ea typeface="Calibri"/>
              <a:cs typeface="Calibri"/>
              <a:sym typeface="Calibri"/>
            </a:endParaRPr>
          </a:p>
        </p:txBody>
      </p:sp>
      <p:pic>
        <p:nvPicPr>
          <p:cNvPr id="259" name="Google Shape;259;p21"/>
          <p:cNvPicPr preferRelativeResize="0"/>
          <p:nvPr/>
        </p:nvPicPr>
        <p:blipFill rotWithShape="1">
          <a:blip r:embed="rId3">
            <a:alphaModFix/>
          </a:blip>
          <a:srcRect l="15564" t="7765"/>
          <a:stretch/>
        </p:blipFill>
        <p:spPr>
          <a:xfrm>
            <a:off x="3622862" y="1491526"/>
            <a:ext cx="5521138" cy="4765839"/>
          </a:xfrm>
          <a:prstGeom prst="rect">
            <a:avLst/>
          </a:prstGeom>
          <a:noFill/>
          <a:ln>
            <a:noFill/>
          </a:ln>
        </p:spPr>
      </p:pic>
      <p:pic>
        <p:nvPicPr>
          <p:cNvPr id="260" name="Google Shape;260;p21"/>
          <p:cNvPicPr preferRelativeResize="0"/>
          <p:nvPr/>
        </p:nvPicPr>
        <p:blipFill rotWithShape="1">
          <a:blip r:embed="rId3">
            <a:alphaModFix/>
          </a:blip>
          <a:srcRect r="39241" b="93840"/>
          <a:stretch/>
        </p:blipFill>
        <p:spPr>
          <a:xfrm>
            <a:off x="4257549" y="6291239"/>
            <a:ext cx="4394077" cy="35204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67" name="Google Shape;267;p22"/>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Solution Architecture</a:t>
            </a:r>
            <a:endParaRPr/>
          </a:p>
        </p:txBody>
      </p:sp>
      <p:sp>
        <p:nvSpPr>
          <p:cNvPr id="268" name="Google Shape;268;p22"/>
          <p:cNvSpPr/>
          <p:nvPr/>
        </p:nvSpPr>
        <p:spPr>
          <a:xfrm>
            <a:off x="128016" y="1243065"/>
            <a:ext cx="9015984" cy="1107996"/>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Solution scope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Any solution needs its scope to be defined and there are three dimensions of scope to be considered: focus, breadth, depth.</a:t>
            </a:r>
            <a:endParaRPr sz="2200" b="0" i="0" u="none" strike="noStrike" cap="none">
              <a:solidFill>
                <a:schemeClr val="dk1"/>
              </a:solidFill>
              <a:latin typeface="Calibri"/>
              <a:ea typeface="Calibri"/>
              <a:cs typeface="Calibri"/>
              <a:sym typeface="Calibri"/>
            </a:endParaRPr>
          </a:p>
        </p:txBody>
      </p:sp>
      <p:pic>
        <p:nvPicPr>
          <p:cNvPr id="269" name="Google Shape;269;p22"/>
          <p:cNvPicPr preferRelativeResize="0"/>
          <p:nvPr/>
        </p:nvPicPr>
        <p:blipFill rotWithShape="1">
          <a:blip r:embed="rId3">
            <a:alphaModFix/>
          </a:blip>
          <a:srcRect/>
          <a:stretch/>
        </p:blipFill>
        <p:spPr>
          <a:xfrm>
            <a:off x="2401942" y="2461547"/>
            <a:ext cx="4340115" cy="4270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3"/>
          <p:cNvSpPr/>
          <p:nvPr/>
        </p:nvSpPr>
        <p:spPr>
          <a:xfrm>
            <a:off x="128015" y="1293818"/>
            <a:ext cx="9015985" cy="5509200"/>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Focus</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Solution may be focused on changing aspects of infrastructure arch, whose reqs are driven by app and data arch reliance on infrastructure services, thus, business arch may not figure in this solution.</a:t>
            </a:r>
            <a:endParaRPr sz="2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Breadth</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Within each of the domains that are in focus, a solution is concerned with sets of architecture elements. Examples include business processes and people’s roles within the business arch as well as new app software and infrastructure components and changes to the services being offered and depended on at each layer. The broader context of a solution arch is EA. </a:t>
            </a:r>
            <a:endParaRPr/>
          </a:p>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Depth</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There comes a point where the arch description stops and detailed design takes over; this is the depth. There are various ways of defining arch levels; the perspectives of the Zachman Framework are worth considering as a classification.</a:t>
            </a:r>
            <a:endParaRPr sz="2200" b="0" i="0" u="none" strike="noStrike" cap="none">
              <a:solidFill>
                <a:schemeClr val="dk1"/>
              </a:solidFill>
              <a:latin typeface="Calibri"/>
              <a:ea typeface="Calibri"/>
              <a:cs typeface="Calibri"/>
              <a:sym typeface="Calibri"/>
            </a:endParaRPr>
          </a:p>
        </p:txBody>
      </p:sp>
      <p:sp>
        <p:nvSpPr>
          <p:cNvPr id="276" name="Google Shape;276;p2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77" name="Google Shape;277;p23"/>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Solution Architecture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4"/>
          <p:cNvSpPr/>
          <p:nvPr/>
        </p:nvSpPr>
        <p:spPr>
          <a:xfrm>
            <a:off x="128015" y="1293818"/>
            <a:ext cx="9015985" cy="483209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Architecture contract</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Roles and responsibilities should be defined before work begins. This is typically done in the form of an architecture contract. This can be considered as the architecture’s terms of reference. The deliverables can be defined using the three dimensions of scope discussed above.</a:t>
            </a:r>
            <a:endParaRPr sz="2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Solution architecture governance</a:t>
            </a:r>
            <a:endParaRPr/>
          </a:p>
          <a:p>
            <a:pPr marL="914400" marR="0" lvl="1"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In terms of compliance, two issues are involved:</a:t>
            </a:r>
            <a:endParaRPr/>
          </a:p>
          <a:p>
            <a:pPr marL="1371600" marR="0" lvl="2"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Compliance: the solution architect needs to be aware of the constraints placed on the solution by the EA function (if one exists) as well as any placed by the solution specific requirements.</a:t>
            </a:r>
            <a:endParaRPr/>
          </a:p>
          <a:p>
            <a:pPr marL="1371600" marR="0" lvl="2" indent="-4572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Enforcement: the solution architect in turn creates constraints on the underlying detailed architectures and designs, for example the software architecture and design, where these need to comply with issues apparent in the holistic solution architecture.</a:t>
            </a:r>
            <a:endParaRPr sz="2200" b="0" i="0" u="none" strike="noStrike" cap="none">
              <a:solidFill>
                <a:schemeClr val="dk1"/>
              </a:solidFill>
              <a:latin typeface="Calibri"/>
              <a:ea typeface="Calibri"/>
              <a:cs typeface="Calibri"/>
              <a:sym typeface="Calibri"/>
            </a:endParaRPr>
          </a:p>
        </p:txBody>
      </p:sp>
      <p:sp>
        <p:nvSpPr>
          <p:cNvPr id="284" name="Google Shape;284;p2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85" name="Google Shape;285;p24"/>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Solution Architecture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92" name="Google Shape;292;p25"/>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Software Architecture</a:t>
            </a:r>
            <a:endParaRPr/>
          </a:p>
        </p:txBody>
      </p:sp>
      <p:sp>
        <p:nvSpPr>
          <p:cNvPr id="293" name="Google Shape;293;p25"/>
          <p:cNvSpPr/>
          <p:nvPr/>
        </p:nvSpPr>
        <p:spPr>
          <a:xfrm>
            <a:off x="128016" y="1207207"/>
            <a:ext cx="9015984" cy="575542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Software architecture is fundamentally concerned with the purpose and structure of software applications, including software components, that may be considered to deliver platform services within the Infrastructure architecture. </a:t>
            </a:r>
            <a:endParaRPr sz="23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If operating within a described solution architecture, then its purpose is typically to break down the solution architecture functional building blocks or components into more granular, decomposed and eventually more physically implementable software components where appropriate.</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The software architect incorporates more implementation-specific factors such as: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choice of development languages and tools;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structural constraints presented by platform technologies chosen</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identifying and employing appropriate logical and physical design patterns that encourage robust software design and implementation.</a:t>
            </a:r>
            <a:endParaRPr sz="23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00" name="Google Shape;300;p26"/>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Software Architecture</a:t>
            </a:r>
            <a:endParaRPr/>
          </a:p>
        </p:txBody>
      </p:sp>
      <p:sp>
        <p:nvSpPr>
          <p:cNvPr id="301" name="Google Shape;301;p26"/>
          <p:cNvSpPr/>
          <p:nvPr/>
        </p:nvSpPr>
        <p:spPr>
          <a:xfrm>
            <a:off x="128016" y="1207207"/>
            <a:ext cx="9015984" cy="1862048"/>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b="1">
                <a:solidFill>
                  <a:schemeClr val="dk1"/>
                </a:solidFill>
                <a:latin typeface="Calibri"/>
                <a:ea typeface="Calibri"/>
                <a:cs typeface="Calibri"/>
                <a:sym typeface="Calibri"/>
              </a:rPr>
              <a:t>Tiered software architecture</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Two-tier, client-server</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Hierarchical client-server</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Three-tiered software architecture</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N-tiered software architecture</a:t>
            </a:r>
            <a:endParaRPr sz="2300" b="0" i="0" u="none" strike="noStrike" cap="none">
              <a:solidFill>
                <a:schemeClr val="dk1"/>
              </a:solidFill>
              <a:latin typeface="Calibri"/>
              <a:ea typeface="Calibri"/>
              <a:cs typeface="Calibri"/>
              <a:sym typeface="Calibri"/>
            </a:endParaRPr>
          </a:p>
        </p:txBody>
      </p:sp>
      <p:pic>
        <p:nvPicPr>
          <p:cNvPr id="302" name="Google Shape;302;p26"/>
          <p:cNvPicPr preferRelativeResize="0"/>
          <p:nvPr/>
        </p:nvPicPr>
        <p:blipFill rotWithShape="1">
          <a:blip r:embed="rId3">
            <a:alphaModFix/>
          </a:blip>
          <a:srcRect/>
          <a:stretch/>
        </p:blipFill>
        <p:spPr>
          <a:xfrm>
            <a:off x="194215" y="3317156"/>
            <a:ext cx="2531969" cy="1619283"/>
          </a:xfrm>
          <a:prstGeom prst="rect">
            <a:avLst/>
          </a:prstGeom>
          <a:noFill/>
          <a:ln>
            <a:noFill/>
          </a:ln>
        </p:spPr>
      </p:pic>
      <p:pic>
        <p:nvPicPr>
          <p:cNvPr id="303" name="Google Shape;303;p26"/>
          <p:cNvPicPr preferRelativeResize="0"/>
          <p:nvPr/>
        </p:nvPicPr>
        <p:blipFill rotWithShape="1">
          <a:blip r:embed="rId4">
            <a:alphaModFix/>
          </a:blip>
          <a:srcRect/>
          <a:stretch/>
        </p:blipFill>
        <p:spPr>
          <a:xfrm>
            <a:off x="5531969" y="1344181"/>
            <a:ext cx="3519508" cy="3116392"/>
          </a:xfrm>
          <a:prstGeom prst="rect">
            <a:avLst/>
          </a:prstGeom>
          <a:noFill/>
          <a:ln>
            <a:noFill/>
          </a:ln>
        </p:spPr>
      </p:pic>
      <p:pic>
        <p:nvPicPr>
          <p:cNvPr id="304" name="Google Shape;304;p26"/>
          <p:cNvPicPr preferRelativeResize="0"/>
          <p:nvPr/>
        </p:nvPicPr>
        <p:blipFill rotWithShape="1">
          <a:blip r:embed="rId5">
            <a:alphaModFix/>
          </a:blip>
          <a:srcRect/>
          <a:stretch/>
        </p:blipFill>
        <p:spPr>
          <a:xfrm>
            <a:off x="5891977" y="4611395"/>
            <a:ext cx="3108960" cy="241942"/>
          </a:xfrm>
          <a:prstGeom prst="rect">
            <a:avLst/>
          </a:prstGeom>
          <a:noFill/>
          <a:ln>
            <a:noFill/>
          </a:ln>
        </p:spPr>
      </p:pic>
      <p:pic>
        <p:nvPicPr>
          <p:cNvPr id="305" name="Google Shape;305;p26"/>
          <p:cNvPicPr preferRelativeResize="0"/>
          <p:nvPr/>
        </p:nvPicPr>
        <p:blipFill rotWithShape="1">
          <a:blip r:embed="rId6">
            <a:alphaModFix/>
          </a:blip>
          <a:srcRect/>
          <a:stretch/>
        </p:blipFill>
        <p:spPr>
          <a:xfrm>
            <a:off x="1531003" y="6460810"/>
            <a:ext cx="5760720" cy="335345"/>
          </a:xfrm>
          <a:prstGeom prst="rect">
            <a:avLst/>
          </a:prstGeom>
          <a:noFill/>
          <a:ln>
            <a:noFill/>
          </a:ln>
        </p:spPr>
      </p:pic>
      <p:pic>
        <p:nvPicPr>
          <p:cNvPr id="306" name="Google Shape;306;p26"/>
          <p:cNvPicPr preferRelativeResize="0"/>
          <p:nvPr/>
        </p:nvPicPr>
        <p:blipFill rotWithShape="1">
          <a:blip r:embed="rId7">
            <a:alphaModFix/>
          </a:blip>
          <a:srcRect/>
          <a:stretch/>
        </p:blipFill>
        <p:spPr>
          <a:xfrm>
            <a:off x="2996150" y="3801596"/>
            <a:ext cx="2625861" cy="2596439"/>
          </a:xfrm>
          <a:prstGeom prst="rect">
            <a:avLst/>
          </a:prstGeom>
          <a:noFill/>
          <a:ln>
            <a:noFill/>
          </a:ln>
        </p:spPr>
      </p:pic>
      <p:pic>
        <p:nvPicPr>
          <p:cNvPr id="307" name="Google Shape;307;p26"/>
          <p:cNvPicPr preferRelativeResize="0"/>
          <p:nvPr/>
        </p:nvPicPr>
        <p:blipFill rotWithShape="1">
          <a:blip r:embed="rId8">
            <a:alphaModFix/>
          </a:blip>
          <a:srcRect/>
          <a:stretch/>
        </p:blipFill>
        <p:spPr>
          <a:xfrm>
            <a:off x="128016" y="4983363"/>
            <a:ext cx="2651760" cy="31568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14" name="Google Shape;314;p27"/>
          <p:cNvSpPr txBox="1"/>
          <p:nvPr/>
        </p:nvSpPr>
        <p:spPr>
          <a:xfrm>
            <a:off x="570160" y="295761"/>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Types – Software Architecture</a:t>
            </a:r>
            <a:endParaRPr/>
          </a:p>
        </p:txBody>
      </p:sp>
      <p:sp>
        <p:nvSpPr>
          <p:cNvPr id="315" name="Google Shape;315;p27"/>
          <p:cNvSpPr/>
          <p:nvPr/>
        </p:nvSpPr>
        <p:spPr>
          <a:xfrm>
            <a:off x="128016" y="1207207"/>
            <a:ext cx="9015984" cy="256993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b="1">
                <a:solidFill>
                  <a:schemeClr val="dk1"/>
                </a:solidFill>
                <a:latin typeface="Calibri"/>
                <a:ea typeface="Calibri"/>
                <a:cs typeface="Calibri"/>
                <a:sym typeface="Calibri"/>
              </a:rPr>
              <a:t>Component-based software architecture</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Characteristics:</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Systems as assemblies of components</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Functionality provided through component interactions</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Component specification can typically be done at a ‘black-box’ level </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Testing components</a:t>
            </a:r>
            <a:endParaRPr sz="23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22" name="Google Shape;322;p28"/>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Stakeholders and Roles in Architecture</a:t>
            </a:r>
            <a:endParaRPr sz="3600" b="1">
              <a:solidFill>
                <a:schemeClr val="lt1"/>
              </a:solidFill>
              <a:latin typeface="Lato"/>
              <a:ea typeface="Lato"/>
              <a:cs typeface="Lato"/>
              <a:sym typeface="Lato"/>
            </a:endParaRPr>
          </a:p>
        </p:txBody>
      </p:sp>
      <p:sp>
        <p:nvSpPr>
          <p:cNvPr id="323" name="Google Shape;323;p28"/>
          <p:cNvSpPr/>
          <p:nvPr/>
        </p:nvSpPr>
        <p:spPr>
          <a:xfrm>
            <a:off x="128016" y="1207207"/>
            <a:ext cx="9015984" cy="292387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Organisation owners/board</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External legal, standard and compliance regimes</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Senior business management</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Project, programme and portfolio management</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Operations managers</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Process workers and application users</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Suppliers</a:t>
            </a:r>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Solutions developers</a:t>
            </a:r>
            <a:endParaRPr sz="23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30" name="Google Shape;330;p29"/>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Management</a:t>
            </a:r>
            <a:endParaRPr sz="3600" b="1">
              <a:solidFill>
                <a:schemeClr val="lt1"/>
              </a:solidFill>
              <a:latin typeface="Lato"/>
              <a:ea typeface="Lato"/>
              <a:cs typeface="Lato"/>
              <a:sym typeface="Lato"/>
            </a:endParaRPr>
          </a:p>
        </p:txBody>
      </p:sp>
      <p:sp>
        <p:nvSpPr>
          <p:cNvPr id="331" name="Google Shape;331;p29"/>
          <p:cNvSpPr/>
          <p:nvPr/>
        </p:nvSpPr>
        <p:spPr>
          <a:xfrm>
            <a:off x="128016" y="1207207"/>
            <a:ext cx="9015984" cy="575542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b="1">
                <a:solidFill>
                  <a:schemeClr val="dk1"/>
                </a:solidFill>
                <a:latin typeface="Calibri"/>
                <a:ea typeface="Calibri"/>
                <a:cs typeface="Calibri"/>
                <a:sym typeface="Calibri"/>
              </a:rPr>
              <a:t>Architecture Planning</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Strategic</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EA should be a business-as-usual function, constantly helping organisations to manage strategic change. As well as maintaining the EA content, this function should be prioritising and planning tactical change activities, often communicated in the form of a ‘road-map’. </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Tactic</a:t>
            </a:r>
            <a:endParaRPr sz="2300" b="0" i="0" u="none" strike="noStrike" cap="none">
              <a:solidFill>
                <a:schemeClr val="dk1"/>
              </a:solidFill>
              <a:latin typeface="Calibri"/>
              <a:ea typeface="Calibri"/>
              <a:cs typeface="Calibri"/>
              <a:sym typeface="Calibri"/>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Enterprise and solution architects may be involved in a number of projects, such as a programme that delivers a number of changes as outlined in the EA road-map. Where there are a number of separate deliverables to be assembled to deliver a holistic solution, the programme plan can be regarded as a more detailed tactical road-map reflecting inter-project dependencies and synchronisation issues that need to be managed as risks. </a:t>
            </a:r>
            <a:endParaRPr sz="23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38" name="Google Shape;338;p30"/>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Management</a:t>
            </a:r>
            <a:endParaRPr sz="3600" b="1">
              <a:solidFill>
                <a:schemeClr val="lt1"/>
              </a:solidFill>
              <a:latin typeface="Lato"/>
              <a:ea typeface="Lato"/>
              <a:cs typeface="Lato"/>
              <a:sym typeface="Lato"/>
            </a:endParaRPr>
          </a:p>
        </p:txBody>
      </p:sp>
      <p:sp>
        <p:nvSpPr>
          <p:cNvPr id="339" name="Google Shape;339;p30"/>
          <p:cNvSpPr/>
          <p:nvPr/>
        </p:nvSpPr>
        <p:spPr>
          <a:xfrm>
            <a:off x="128016" y="1207207"/>
            <a:ext cx="9015984" cy="469359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b="1">
                <a:solidFill>
                  <a:schemeClr val="dk1"/>
                </a:solidFill>
                <a:latin typeface="Calibri"/>
                <a:ea typeface="Calibri"/>
                <a:cs typeface="Calibri"/>
                <a:sym typeface="Calibri"/>
              </a:rPr>
              <a:t>Architecture Governance</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Governance has been mentioned throughout this chapter. It is a key function of an architect, as it is a crucial part of architecture management. Architecture without governance is like requirements without testing. </a:t>
            </a:r>
            <a:endParaRPr sz="2300" b="0" i="0" u="none" strike="noStrike" cap="none">
              <a:solidFill>
                <a:schemeClr val="dk1"/>
              </a:solidFill>
              <a:latin typeface="Calibri"/>
              <a:ea typeface="Calibri"/>
              <a:cs typeface="Calibri"/>
              <a:sym typeface="Calibri"/>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Governance therefore needs to oversee all these aspects, particularly through validation and verification of both the final structure and the adherence to principles and other constraints imposed on its development.</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Governance therefore requires:</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Something to govern</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Defined governance roles with the authority to govern</a:t>
            </a:r>
            <a:endParaRPr/>
          </a:p>
          <a:p>
            <a:pPr marL="1371600" marR="0" lvl="2"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Governance processes</a:t>
            </a:r>
            <a:endParaRPr sz="23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46" name="Google Shape;346;p31"/>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Management</a:t>
            </a:r>
            <a:endParaRPr sz="3600" b="1">
              <a:solidFill>
                <a:schemeClr val="lt1"/>
              </a:solidFill>
              <a:latin typeface="Lato"/>
              <a:ea typeface="Lato"/>
              <a:cs typeface="Lato"/>
              <a:sym typeface="Lato"/>
            </a:endParaRPr>
          </a:p>
        </p:txBody>
      </p:sp>
      <p:sp>
        <p:nvSpPr>
          <p:cNvPr id="347" name="Google Shape;347;p31"/>
          <p:cNvSpPr/>
          <p:nvPr/>
        </p:nvSpPr>
        <p:spPr>
          <a:xfrm>
            <a:off x="128016" y="1207207"/>
            <a:ext cx="9015984" cy="469359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Something to govern, including:</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an architecture contract that defines roles, responsibilities and authorities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the target system organisation or structures (components and their relationships) as described at an abstract level in the architecture description;</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requirements that include applicable legislation, standards, principles and policies should form part of an architecture description.</a:t>
            </a:r>
            <a:endParaRPr sz="23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Defined governance roles with the authority to govern</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Typically, there are levels of governance from corporate, through enterprise architecture to solutions and Specific architecture levels.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54" name="Google Shape;354;p32"/>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Lato"/>
                <a:ea typeface="Lato"/>
                <a:cs typeface="Lato"/>
                <a:sym typeface="Lato"/>
              </a:rPr>
              <a:t>Architecture Management</a:t>
            </a:r>
            <a:endParaRPr sz="3600" b="1">
              <a:solidFill>
                <a:schemeClr val="lt1"/>
              </a:solidFill>
              <a:latin typeface="Lato"/>
              <a:ea typeface="Lato"/>
              <a:cs typeface="Lato"/>
              <a:sym typeface="Lato"/>
            </a:endParaRPr>
          </a:p>
        </p:txBody>
      </p:sp>
      <p:sp>
        <p:nvSpPr>
          <p:cNvPr id="355" name="Google Shape;355;p32"/>
          <p:cNvSpPr/>
          <p:nvPr/>
        </p:nvSpPr>
        <p:spPr>
          <a:xfrm>
            <a:off x="128016" y="1207207"/>
            <a:ext cx="9015984" cy="363176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300"/>
              <a:buFont typeface="Arial"/>
              <a:buChar char="•"/>
            </a:pPr>
            <a:r>
              <a:rPr lang="en-US" sz="2300">
                <a:solidFill>
                  <a:schemeClr val="dk1"/>
                </a:solidFill>
                <a:latin typeface="Calibri"/>
                <a:ea typeface="Calibri"/>
                <a:cs typeface="Calibri"/>
                <a:sym typeface="Calibri"/>
              </a:rPr>
              <a:t>Governance processes, including:</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establishing the architecture contract at the outset to outlines roles, responsibilities and authority, including governance roles;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defining what will be reviewed through the process (see ‘something to govern’ above), when and by whom;</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conducting reviews;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reporting and acting on the outcomes of the reviews, which may include granting dispensations to those concerned allowing them to vary from the original description for valid reasons;</a:t>
            </a:r>
            <a:endParaRPr/>
          </a:p>
          <a:p>
            <a:pPr marL="914400" marR="0" lvl="1" indent="-457200" algn="l" rtl="0">
              <a:spcBef>
                <a:spcPts val="0"/>
              </a:spcBef>
              <a:spcAft>
                <a:spcPts val="0"/>
              </a:spcAft>
              <a:buClr>
                <a:schemeClr val="dk1"/>
              </a:buClr>
              <a:buSzPts val="2300"/>
              <a:buFont typeface="Arial"/>
              <a:buChar char="•"/>
            </a:pPr>
            <a:r>
              <a:rPr lang="en-US" sz="2300" b="0" i="0" u="none" strike="noStrike" cap="none">
                <a:solidFill>
                  <a:schemeClr val="dk1"/>
                </a:solidFill>
                <a:latin typeface="Calibri"/>
                <a:ea typeface="Calibri"/>
                <a:cs typeface="Calibri"/>
                <a:sym typeface="Calibri"/>
              </a:rPr>
              <a:t>taking action to correct any discrepancies or non-conformities.</a:t>
            </a:r>
            <a:endParaRPr sz="23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2880</Words>
  <Application>Microsoft Macintosh PowerPoint</Application>
  <PresentationFormat>On-screen Show (4:3)</PresentationFormat>
  <Paragraphs>220</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Lato Light</vt:lpstr>
      <vt:lpstr>Calibri</vt:lpstr>
      <vt:lpstr>Lato Black</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 G</dc:creator>
  <cp:lastModifiedBy>Ir. Windy Gambetta, M.B.A.</cp:lastModifiedBy>
  <cp:revision>1</cp:revision>
  <dcterms:created xsi:type="dcterms:W3CDTF">2016-08-24T04:55:45Z</dcterms:created>
  <dcterms:modified xsi:type="dcterms:W3CDTF">2025-05-07T01:01:31Z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2025-05-07T01:01:30Z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d98de463-858c-4e67-9db5-217390ce6b23</vt:lpwstr>
  </property>
  <property fmtid="{D5CDD505-2E9C-101B-9397-08002B2CF9AE}" pid="8" name="MSIP_Label_38b525e5-f3da-4501-8f1e-526b6769fc56_ContentBits">
    <vt:lpwstr>0</vt:lpwstr>
  </property>
  <property fmtid="{D5CDD505-2E9C-101B-9397-08002B2CF9AE}" pid="9" name="MSIP_Label_38b525e5-f3da-4501-8f1e-526b6769fc56_Tag">
    <vt:lpwstr>50, 3, 0, 1</vt:lpwstr>
  </property>
</Properties>
</file>